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063240" y="384048"/>
            <a:ext cx="65836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1C3A8C"/>
                </a:solidFill>
                <a:latin typeface="Arial"/>
              </a:rPr>
              <a:t>SMART INDIA HACKATHON 2026</a:t>
            </a:r>
          </a:p>
        </p:txBody>
      </p:sp>
      <p:sp>
        <p:nvSpPr>
          <p:cNvPr id="40" name="CustomTitleBox"/>
          <p:cNvSpPr txBox="1"/>
          <p:nvPr/>
        </p:nvSpPr>
        <p:spPr>
          <a:xfrm>
            <a:off x="731520" y="1691640"/>
            <a:ext cx="6217920" cy="29854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1700" b="1" dirty="0">
                <a:solidFill>
                  <a:srgbClr val="0F1E41"/>
                </a:solidFill>
                <a:latin typeface="Arial"/>
              </a:rPr>
              <a:t>•  Problem Statement ID  –  </a:t>
            </a:r>
            <a:r>
              <a:rPr sz="1700" b="1" dirty="0">
                <a:solidFill>
                  <a:srgbClr val="1C3A8C"/>
                </a:solidFill>
                <a:latin typeface="Arial"/>
              </a:rPr>
              <a:t>SIH</a:t>
            </a:r>
            <a:r>
              <a:rPr lang="en-IN" sz="1700" b="1" dirty="0">
                <a:solidFill>
                  <a:srgbClr val="1C3A8C"/>
                </a:solidFill>
                <a:latin typeface="Arial"/>
              </a:rPr>
              <a:t>26006</a:t>
            </a:r>
            <a:endParaRPr sz="1700" b="1" dirty="0">
              <a:solidFill>
                <a:srgbClr val="1C3A8C"/>
              </a:solidFill>
              <a:latin typeface="Arial"/>
            </a:endParaRP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1700" b="1" dirty="0">
                <a:solidFill>
                  <a:srgbClr val="0F1E41"/>
                </a:solidFill>
                <a:latin typeface="Arial"/>
              </a:rPr>
              <a:t>•  Problem Statement Title  –  </a:t>
            </a:r>
            <a:r>
              <a:rPr sz="1700" b="0" dirty="0" err="1">
                <a:solidFill>
                  <a:srgbClr val="0F172A"/>
                </a:solidFill>
                <a:latin typeface="Arial"/>
              </a:rPr>
              <a:t>FreightForecast</a:t>
            </a:r>
            <a:r>
              <a:rPr sz="1700" b="0" dirty="0">
                <a:solidFill>
                  <a:srgbClr val="0F172A"/>
                </a:solidFill>
                <a:latin typeface="Arial"/>
              </a:rPr>
              <a:t> Pro : AI Freight Forecasting &amp; Vessel Chartering Optimizer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1700" b="1" dirty="0">
                <a:solidFill>
                  <a:srgbClr val="0F1E41"/>
                </a:solidFill>
                <a:latin typeface="Arial"/>
              </a:rPr>
              <a:t>•  Theme  –  </a:t>
            </a:r>
            <a:r>
              <a:rPr sz="1700" b="0" dirty="0">
                <a:solidFill>
                  <a:srgbClr val="0F172A"/>
                </a:solidFill>
                <a:latin typeface="Arial"/>
              </a:rPr>
              <a:t>Smart Logistics / Maritime &amp; Port Supply Chain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1700" b="1" dirty="0">
                <a:solidFill>
                  <a:srgbClr val="0F1E41"/>
                </a:solidFill>
                <a:latin typeface="Arial"/>
              </a:rPr>
              <a:t>•  PS Category  –  </a:t>
            </a:r>
            <a:r>
              <a:rPr sz="1700" b="0" dirty="0">
                <a:solidFill>
                  <a:srgbClr val="0F172A"/>
                </a:solidFill>
                <a:latin typeface="Arial"/>
              </a:rPr>
              <a:t>Software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1700" b="1" dirty="0">
                <a:solidFill>
                  <a:srgbClr val="0F1E41"/>
                </a:solidFill>
                <a:latin typeface="Arial"/>
              </a:rPr>
              <a:t>•  Team ID  –  </a:t>
            </a:r>
            <a:endParaRPr sz="1700" b="0" dirty="0">
              <a:solidFill>
                <a:srgbClr val="0F172A"/>
              </a:solidFill>
              <a:latin typeface="Arial"/>
            </a:endParaRP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1700" b="1" dirty="0">
                <a:solidFill>
                  <a:srgbClr val="0F1E41"/>
                </a:solidFill>
                <a:latin typeface="Arial"/>
              </a:rPr>
              <a:t>•  Team Name  –  </a:t>
            </a:r>
            <a:r>
              <a:rPr sz="1700" b="1" dirty="0">
                <a:solidFill>
                  <a:srgbClr val="00B0F0"/>
                </a:solidFill>
                <a:latin typeface="Arial"/>
              </a:rPr>
              <a:t>FUTURISTICS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015" y="-12001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17135" y="82296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FUTURISTICS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9052" y="166002"/>
            <a:ext cx="767389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E41"/>
                </a:solidFill>
                <a:latin typeface="Arial"/>
              </a:rPr>
              <a:t>FreightForecast</a:t>
            </a:r>
            <a:r>
              <a:rPr sz="2000" b="1" dirty="0">
                <a:solidFill>
                  <a:srgbClr val="0F1E41"/>
                </a:solidFill>
                <a:latin typeface="Arial"/>
              </a:rPr>
              <a:t> Pro: Predictive Chartering &amp; Route Optimizer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408" y="923544"/>
            <a:ext cx="4379976" cy="58430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5760" y="932688"/>
            <a:ext cx="4206240" cy="347472"/>
          </a:xfrm>
          <a:prstGeom prst="round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CORE INTELLIGENCE HUB &amp; DECISION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19656" y="1325880"/>
            <a:ext cx="1298448" cy="54864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Global Feeds
(BDI, Fuel, AIS)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2148840"/>
            <a:ext cx="1243584" cy="548640"/>
          </a:xfrm>
          <a:prstGeom prst="roundRect">
            <a:avLst/>
          </a:prstGeom>
          <a:solidFill>
            <a:srgbClr val="16653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Holt-Winters
90-Day AI Forecast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19656" y="2971800"/>
            <a:ext cx="1298448" cy="54864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$/MT Landed
Cost Solver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2148840"/>
            <a:ext cx="1243584" cy="54864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Port Draft &amp;
Berth Validation</a:t>
            </a:r>
          </a:p>
        </p:txBody>
      </p:sp>
      <p:sp>
        <p:nvSpPr>
          <p:cNvPr id="21" name="Oval 20"/>
          <p:cNvSpPr/>
          <p:nvPr/>
        </p:nvSpPr>
        <p:spPr>
          <a:xfrm>
            <a:off x="2011680" y="1965960"/>
            <a:ext cx="914400" cy="914400"/>
          </a:xfrm>
          <a:prstGeom prst="ellipse">
            <a:avLst/>
          </a:prstGeom>
          <a:solidFill>
            <a:srgbClr val="0F1E41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VOYAGE
SOLVER
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035" y="3743015"/>
            <a:ext cx="28600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C3A8C"/>
                </a:solidFill>
              </a:rPr>
              <a:t>END-TO-END WORKFLOW PIPELINE: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528" y="4123944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E41"/>
                </a:solidFill>
              </a:rPr>
              <a:t>✔  1. Ingest Baltic Indices (BDI/BCI/BPI/BSI)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4528" y="4526280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C3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E41"/>
                </a:solidFill>
              </a:rPr>
              <a:t>✔  2. Stream Satellite AIS Telematics &amp; Speed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4528" y="4928616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E41"/>
                </a:solidFill>
              </a:rPr>
              <a:t>✔  3. 90-Day Seasonal Holt-Winters Forecast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4528" y="5330952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C3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E41"/>
                </a:solidFill>
              </a:rPr>
              <a:t>✔  4. Astronomical Tidal Draft &amp; Berth Clearance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4528" y="5733288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E41"/>
                </a:solidFill>
              </a:rPr>
              <a:t>✔  5. Optimize Landed $/MT &amp; Issue Contract Advisory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4528" y="6227064"/>
            <a:ext cx="402336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563EB"/>
                </a:solidFill>
              </a:rPr>
              <a:t>LIVE FEEDS: </a:t>
            </a:r>
            <a:r>
              <a:rPr sz="1400" b="1">
                <a:solidFill>
                  <a:srgbClr val="166534"/>
                </a:solidFill>
              </a:rPr>
              <a:t>BDI 1,918 (+0.5%)  •  Cape $25.5K/d  •  VLSFO $610/MT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18304" y="1041600"/>
            <a:ext cx="7040880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FEATURE MATRIX: LEGACY BUYING vs. FREIGHTFORECAST PRO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1490472"/>
            <a:ext cx="70408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1545336"/>
            <a:ext cx="6858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1C3A8C"/>
                </a:solidFill>
              </a:rPr>
              <a:t>Core Dimension              |  Legacy Spot Buying Desks                |  </a:t>
            </a:r>
            <a:r>
              <a:rPr sz="1200" b="1" dirty="0" err="1">
                <a:solidFill>
                  <a:srgbClr val="1C3A8C"/>
                </a:solidFill>
              </a:rPr>
              <a:t>FreightForecast</a:t>
            </a:r>
            <a:r>
              <a:rPr sz="1200" b="1" dirty="0">
                <a:solidFill>
                  <a:srgbClr val="1C3A8C"/>
                </a:solidFill>
              </a:rPr>
              <a:t> Pro AI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1920240"/>
            <a:ext cx="694944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0" y="1938528"/>
            <a:ext cx="6858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</a:rPr>
              <a:t>Freight Volatility Exposure</a:t>
            </a:r>
            <a:r>
              <a:rPr sz="1050" b="0">
                <a:solidFill>
                  <a:srgbClr val="DC2626"/>
                </a:solidFill>
              </a:rPr>
              <a:t>  |  ❌ Unhedged spot swings (±35% variance)</a:t>
            </a:r>
            <a:r>
              <a:rPr sz="1050" b="1">
                <a:solidFill>
                  <a:srgbClr val="166534"/>
                </a:solidFill>
              </a:rPr>
              <a:t>  |  ✔ Predictive 90-day Holt-Winters hedging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331720"/>
            <a:ext cx="6858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</a:rPr>
              <a:t>Demurrage Risk Management </a:t>
            </a:r>
            <a:r>
              <a:rPr sz="1050" b="0">
                <a:solidFill>
                  <a:srgbClr val="DC2626"/>
                </a:solidFill>
              </a:rPr>
              <a:t>  |  ❌ Reactive $15K–$30K/day anchorage bleed</a:t>
            </a:r>
            <a:r>
              <a:rPr sz="1050" b="1">
                <a:solidFill>
                  <a:srgbClr val="166534"/>
                </a:solidFill>
              </a:rPr>
              <a:t>  |  ✔ Live AIS congestion &amp; idle-vessel alerts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2706624"/>
            <a:ext cx="694944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0" y="2724912"/>
            <a:ext cx="6858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dirty="0">
                <a:solidFill>
                  <a:srgbClr val="0F172A"/>
                </a:solidFill>
              </a:rPr>
              <a:t>Riverine Berth Draft Clearance</a:t>
            </a:r>
            <a:r>
              <a:rPr sz="1050" b="0" dirty="0">
                <a:solidFill>
                  <a:srgbClr val="DC2626"/>
                </a:solidFill>
              </a:rPr>
              <a:t>  |  ❌ Manual estimates / dead-freight</a:t>
            </a:r>
            <a:r>
              <a:rPr sz="1050" b="1" dirty="0">
                <a:solidFill>
                  <a:srgbClr val="166534"/>
                </a:solidFill>
              </a:rPr>
              <a:t>  |  ✔ Dynamic astronomical tidal tables &amp; UKC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118104"/>
            <a:ext cx="6858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</a:rPr>
              <a:t>Procurement Optimization  </a:t>
            </a:r>
            <a:r>
              <a:rPr sz="1050" b="0">
                <a:solidFill>
                  <a:srgbClr val="DC2626"/>
                </a:solidFill>
              </a:rPr>
              <a:t>  |  ❌ Disjointed static spreadsheets &amp; hearsay</a:t>
            </a:r>
            <a:r>
              <a:rPr sz="1050" b="1">
                <a:solidFill>
                  <a:srgbClr val="166534"/>
                </a:solidFill>
              </a:rPr>
              <a:t>  |  ✔ Automated $/MT total landed cost solver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36592" y="3639312"/>
            <a:ext cx="7040880" cy="329184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OUR 4-PILLAR NOVEL PREDICTIVE SOLUTION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36592" y="4041648"/>
            <a:ext cx="34290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09744" y="4087368"/>
            <a:ext cx="3282696" cy="689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[92.4% ACC] </a:t>
            </a:r>
            <a:r>
              <a:rPr sz="1100" b="1">
                <a:solidFill>
                  <a:srgbClr val="0F172A"/>
                </a:solidFill>
                <a:latin typeface="Arial"/>
              </a:rPr>
              <a:t>90-Day Predictive AI Engine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Triple Exponential Smoothing (α=0.28, β=0.05, γ=0.62) forecasts seasonal freight rates with 92.4% directional accuracy.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48472" y="4041648"/>
            <a:ext cx="34290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21624" y="4087368"/>
            <a:ext cx="3282696" cy="859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[100% COMPLIANT] </a:t>
            </a:r>
            <a:r>
              <a:rPr sz="1100" b="1">
                <a:solidFill>
                  <a:srgbClr val="0F172A"/>
                </a:solidFill>
                <a:latin typeface="Arial"/>
              </a:rPr>
              <a:t>Automated Berth &amp; Draft Engine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Validates physical vessel LOA (≤229m), beam (≤32.2m) &amp; dynamic astronomical tides (+2.4m UKC) for 100% compliance.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36592" y="5138928"/>
            <a:ext cx="34290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09744" y="5184648"/>
            <a:ext cx="3282696" cy="689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[$/MT SOLVER] </a:t>
            </a:r>
            <a:r>
              <a:rPr sz="1100" b="1">
                <a:solidFill>
                  <a:srgbClr val="0F172A"/>
                </a:solidFill>
                <a:latin typeface="Arial"/>
              </a:rPr>
              <a:t>Landed Cost $/MT Solver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Minimizes [(Hire×Days) + Bunker + Canal + Dues] / MT across routes: Newcastle➔Paradip ($19.61) vs Hay Point ($23.24).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48472" y="5138928"/>
            <a:ext cx="34290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21624" y="5184648"/>
            <a:ext cx="3282696" cy="689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[STRATEGIC COA] </a:t>
            </a:r>
            <a:r>
              <a:rPr sz="1100" b="1">
                <a:solidFill>
                  <a:srgbClr val="0F172A"/>
                </a:solidFill>
                <a:latin typeface="Arial"/>
              </a:rPr>
              <a:t>Contract Timing Advisory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Evaluates forward volatility bounds to trigger optimal Spot vs. COA fixture timing before seasonal rate surges.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41164" y="6263640"/>
            <a:ext cx="169164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2563EB"/>
                </a:solidFill>
              </a:rPr>
              <a:t>🌐 Live Web App (PWA Ready)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24244" y="6263640"/>
            <a:ext cx="169164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</a:rPr>
              <a:t>🗺️ AIS Fleet Telematics Stream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6263640"/>
            <a:ext cx="169164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2563EB"/>
                </a:solidFill>
              </a:rPr>
              <a:t>⚡ </a:t>
            </a:r>
            <a:r>
              <a:rPr sz="1200" b="1" dirty="0" err="1">
                <a:solidFill>
                  <a:srgbClr val="2563EB"/>
                </a:solidFill>
              </a:rPr>
              <a:t>FastAPI</a:t>
            </a:r>
            <a:r>
              <a:rPr sz="1200" b="1" dirty="0">
                <a:solidFill>
                  <a:srgbClr val="2563EB"/>
                </a:solidFill>
              </a:rPr>
              <a:t> REST Core (&lt;35ms)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04120" y="6263640"/>
            <a:ext cx="169164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563EB"/>
                </a:solidFill>
              </a:rPr>
              <a:t>📊 Multi-Corridor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" y="100584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FUTURISTICS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685" y="234815"/>
            <a:ext cx="603242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F1E41"/>
                </a:solidFill>
                <a:latin typeface="Arial"/>
              </a:rPr>
              <a:t>TECHNICAL APPROACH &amp; SYSTEM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7096" y="1060704"/>
            <a:ext cx="11430000" cy="329184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</a:rPr>
              <a:t>4-ZONE ENTERPRISE MARITIME ARCHITECTURE (END-TO-END FLOW)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412748"/>
            <a:ext cx="276148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3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5760" y="1412748"/>
            <a:ext cx="2761488" cy="292608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ZONE 1: Telemetry &amp;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" y="1741932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Baltic Exchange BDI/BCI/BPI/BSI feeds, Satellite AIS vessel tracking, Major Port circulars.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55264" y="1412748"/>
            <a:ext cx="276148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255264" y="1412748"/>
            <a:ext cx="276148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ZONE 2: Presentation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1741932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React 19 / Next.js SPA, Chart.js multi-horizon curves, Leaflet.js interactive GIS map.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412748"/>
            <a:ext cx="276148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44768" y="1412748"/>
            <a:ext cx="2761488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ZONE 3: High-Speed Core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1741932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Python FastAPI asynchronous framework, Uvicorn ASGI, Redis In-Memory sub-35ms Cache.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4272" y="1412748"/>
            <a:ext cx="276148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34272" y="1412748"/>
            <a:ext cx="2761488" cy="292608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ZONE 4: AI &amp; Math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1741932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Statsmodels Holt-Winters, 10,000 Monte Carlo runs, Landed $/MT solver, UKC tidal check.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0416" y="2551176"/>
            <a:ext cx="5349240" cy="40782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95656" y="2587752"/>
            <a:ext cx="5349240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IMPLEMENTATION PROCESS &amp; PIPELINE STAGES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096" y="2971800"/>
            <a:ext cx="51663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32816" y="3026664"/>
            <a:ext cx="507492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5968" y="3072384"/>
            <a:ext cx="4928616" cy="497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dirty="0">
                <a:solidFill>
                  <a:srgbClr val="2563EB"/>
                </a:solidFill>
                <a:latin typeface="Arial"/>
              </a:rPr>
              <a:t>[STAGE 1] </a:t>
            </a:r>
            <a:r>
              <a:rPr sz="1050" b="1" dirty="0">
                <a:solidFill>
                  <a:srgbClr val="0F172A"/>
                </a:solidFill>
                <a:latin typeface="Arial"/>
              </a:rPr>
              <a:t>Data Harmonization &amp; ETL</a:t>
            </a:r>
            <a:r>
              <a:rPr lang="en-GB" sz="1050" b="1" dirty="0">
                <a:solidFill>
                  <a:srgbClr val="0F172A"/>
                </a:solidFill>
                <a:latin typeface="Arial"/>
              </a:rPr>
              <a:t>(Extract ,Transform , Load)</a:t>
            </a:r>
            <a:endParaRPr sz="1050" b="1" dirty="0">
              <a:solidFill>
                <a:srgbClr val="0F172A"/>
              </a:solidFill>
              <a:latin typeface="Arial"/>
            </a:endParaRP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Aggregates 1,825 daily Baltic records with live Port Trust draft circulars into schema-validated PostgreSQL tables.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816" y="3977640"/>
            <a:ext cx="507492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5968" y="4023360"/>
            <a:ext cx="4751832" cy="497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dirty="0">
                <a:solidFill>
                  <a:srgbClr val="0D9488"/>
                </a:solidFill>
                <a:latin typeface="Arial"/>
              </a:rPr>
              <a:t>[STAGE 2] </a:t>
            </a:r>
            <a:r>
              <a:rPr sz="1050" b="1" dirty="0">
                <a:solidFill>
                  <a:srgbClr val="0F172A"/>
                </a:solidFill>
                <a:latin typeface="Arial"/>
              </a:rPr>
              <a:t>Triple Seasonal Decomposition</a:t>
            </a: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Holt-Winters isolates monsoon &amp; commodity cycles: Level ℓ(t), Trend b(t), Seasonal s(t) with </a:t>
            </a:r>
            <a:r>
              <a:rPr lang="en-GB" sz="1050" dirty="0">
                <a:solidFill>
                  <a:srgbClr val="475569"/>
                </a:solidFill>
                <a:latin typeface="Arial"/>
              </a:rPr>
              <a:t>(Mean </a:t>
            </a:r>
            <a:r>
              <a:rPr lang="en-GB" sz="1050" dirty="0" err="1">
                <a:solidFill>
                  <a:srgbClr val="475569"/>
                </a:solidFill>
                <a:latin typeface="Arial"/>
              </a:rPr>
              <a:t>abosolute</a:t>
            </a:r>
            <a:r>
              <a:rPr lang="en-GB" sz="1050" dirty="0">
                <a:solidFill>
                  <a:srgbClr val="475569"/>
                </a:solidFill>
                <a:latin typeface="Arial"/>
              </a:rPr>
              <a:t> Percentage)</a:t>
            </a:r>
            <a:r>
              <a:rPr sz="1050" dirty="0">
                <a:solidFill>
                  <a:srgbClr val="475569"/>
                </a:solidFill>
                <a:latin typeface="Arial"/>
              </a:rPr>
              <a:t>MAPE 1.7%.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816" y="4928616"/>
            <a:ext cx="507492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5968" y="4974336"/>
            <a:ext cx="4928616" cy="497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dirty="0">
                <a:solidFill>
                  <a:srgbClr val="166534"/>
                </a:solidFill>
                <a:latin typeface="Arial"/>
              </a:rPr>
              <a:t>[STAGE 3] </a:t>
            </a:r>
            <a:r>
              <a:rPr sz="1050" b="1" dirty="0">
                <a:solidFill>
                  <a:srgbClr val="0F172A"/>
                </a:solidFill>
                <a:latin typeface="Arial"/>
              </a:rPr>
              <a:t>Physical Berth Draught Safety</a:t>
            </a: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Validates dynamic Under-Keel Clearance: UKC = (Charted Depth + Astronomical Tide) - Arrival Draft ≥ 1.5m.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816" y="5879592"/>
            <a:ext cx="507492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5968" y="5925312"/>
            <a:ext cx="4928616" cy="497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dirty="0">
                <a:solidFill>
                  <a:srgbClr val="D97706"/>
                </a:solidFill>
                <a:latin typeface="Arial"/>
              </a:rPr>
              <a:t>[STAGE 4] </a:t>
            </a:r>
            <a:r>
              <a:rPr sz="1050" b="1" dirty="0">
                <a:solidFill>
                  <a:srgbClr val="0F172A"/>
                </a:solidFill>
                <a:latin typeface="Arial"/>
              </a:rPr>
              <a:t>Decision Advisory &amp; Contract Hedging</a:t>
            </a: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Mixed Integer Solver ranks $/MT landed cost across corridors; recommends optimal Spot vs COA</a:t>
            </a:r>
            <a:r>
              <a:rPr lang="en-GB" sz="1050" dirty="0">
                <a:solidFill>
                  <a:srgbClr val="475569"/>
                </a:solidFill>
                <a:latin typeface="Arial"/>
              </a:rPr>
              <a:t>(Contract of Affreightment)</a:t>
            </a:r>
            <a:r>
              <a:rPr sz="1050" dirty="0">
                <a:solidFill>
                  <a:srgbClr val="475569"/>
                </a:solidFill>
                <a:latin typeface="Arial"/>
              </a:rPr>
              <a:t> forward fixtures.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97880" y="2679192"/>
            <a:ext cx="5998464" cy="40782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884164" y="2587752"/>
            <a:ext cx="589788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MATHEMATICAL FORMULATION &amp; LIVE PROTOTYPE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25896" y="2971800"/>
            <a:ext cx="5641848" cy="3401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dirty="0"/>
          </a:p>
        </p:txBody>
      </p:sp>
      <p:sp>
        <p:nvSpPr>
          <p:cNvPr id="43" name="Rounded Rectangle 42"/>
          <p:cNvSpPr/>
          <p:nvPr/>
        </p:nvSpPr>
        <p:spPr>
          <a:xfrm>
            <a:off x="6096000" y="2971800"/>
            <a:ext cx="5623560" cy="51206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2563EB"/>
                </a:solidFill>
              </a:rPr>
              <a:t>Holt-Winters: Y(</a:t>
            </a:r>
            <a:r>
              <a:rPr sz="1000" b="1" dirty="0" err="1">
                <a:solidFill>
                  <a:srgbClr val="2563EB"/>
                </a:solidFill>
              </a:rPr>
              <a:t>t+h</a:t>
            </a:r>
            <a:r>
              <a:rPr sz="1000" b="1" dirty="0">
                <a:solidFill>
                  <a:srgbClr val="2563EB"/>
                </a:solidFill>
              </a:rPr>
              <a:t>) = [ℓ(t) + </a:t>
            </a:r>
            <a:r>
              <a:rPr sz="1000" b="1" dirty="0" err="1">
                <a:solidFill>
                  <a:srgbClr val="2563EB"/>
                </a:solidFill>
              </a:rPr>
              <a:t>h·b</a:t>
            </a:r>
            <a:r>
              <a:rPr sz="1000" b="1" dirty="0">
                <a:solidFill>
                  <a:srgbClr val="2563EB"/>
                </a:solidFill>
              </a:rPr>
              <a:t>(t)] × s(</a:t>
            </a:r>
            <a:r>
              <a:rPr sz="1000" b="1" dirty="0" err="1">
                <a:solidFill>
                  <a:srgbClr val="2563EB"/>
                </a:solidFill>
              </a:rPr>
              <a:t>t+h-m</a:t>
            </a:r>
            <a:r>
              <a:rPr sz="1000" b="1" dirty="0">
                <a:solidFill>
                  <a:srgbClr val="2563EB"/>
                </a:solidFill>
              </a:rPr>
              <a:t>)  |  Min $/MT = [(</a:t>
            </a:r>
            <a:r>
              <a:rPr sz="1000" b="1" dirty="0" err="1">
                <a:solidFill>
                  <a:srgbClr val="2563EB"/>
                </a:solidFill>
              </a:rPr>
              <a:t>Hire×Days</a:t>
            </a:r>
            <a:r>
              <a:rPr sz="1000" b="1" dirty="0">
                <a:solidFill>
                  <a:srgbClr val="2563EB"/>
                </a:solidFill>
              </a:rPr>
              <a:t>)+</a:t>
            </a:r>
            <a:r>
              <a:rPr sz="1000" b="1" dirty="0" err="1">
                <a:solidFill>
                  <a:srgbClr val="2563EB"/>
                </a:solidFill>
              </a:rPr>
              <a:t>Fuel+Dues</a:t>
            </a:r>
            <a:r>
              <a:rPr sz="1000" b="1" dirty="0">
                <a:solidFill>
                  <a:srgbClr val="2563EB"/>
                </a:solidFill>
              </a:rPr>
              <a:t>] ÷ Cargo MT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4166" y="6373368"/>
            <a:ext cx="22563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66534"/>
                </a:solidFill>
              </a:rPr>
              <a:t>Live Multi-Route Draught Matrix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6000" y="6373368"/>
            <a:ext cx="20585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</a:rPr>
              <a:t>Suez vs Cape Canal Optimizer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1D4B13-F312-15A5-90F0-569A4F353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192" y="3586127"/>
            <a:ext cx="3197352" cy="2805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D0292D-0E85-1041-A161-04B761612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8260" y="3569956"/>
            <a:ext cx="3091676" cy="2821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FUTURISTICS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151" y="193228"/>
            <a:ext cx="67698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F1E41"/>
                </a:solidFill>
                <a:latin typeface="Arial"/>
              </a:rPr>
              <a:t>FEASIBILITY, RISK ANALYSIS &amp; MITIGATION MATRIX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932688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5760" y="932688"/>
            <a:ext cx="365760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TECHNICAL FEASIBILITY  [SUB-35ms]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298448"/>
            <a:ext cx="3474720" cy="150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0F172A"/>
                </a:solidFill>
              </a:rPr>
              <a:t>•  Sub-35ms query latency powered by Redis in-memory caching.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0F172A"/>
                </a:solidFill>
              </a:rPr>
              <a:t>•  100% cloud-native SaaS architecture; zero on-vessel sensors required.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0F172A"/>
                </a:solidFill>
              </a:rPr>
              <a:t>•  Python FastAPI async backend with OpenAPI 3.0 specs &amp; JWT security.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0F172A"/>
                </a:solidFill>
              </a:rPr>
              <a:t>•  High-availability Docker deployment with 99.9% uptime SLA.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932688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06240" y="932688"/>
            <a:ext cx="3657600" cy="310896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OPERATIONAL FEASIBILITY  [100% BIMCO]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298448"/>
            <a:ext cx="3474720" cy="150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100% compliant with BIMCO GENCON 1994 &amp; NYPE 2015 charter contracts.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Integrates official Port Trust circulars from Paradip, Haldia &amp; Vizag.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Zero operational disruption; integrates directly into SAP/Oracle ERP.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Graceful offline fallback uses 5-year seasonal baselines during outages.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1024128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955280" y="1024128"/>
            <a:ext cx="3657600" cy="3108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ECONOMIC VIABILITY  [₹28.4 Cr ROI]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411636"/>
            <a:ext cx="3474720" cy="150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Saves ₹18.4 Cr annually on 10 MT imported coal (14.2% freight cut).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Eliminates ₹6.2 Cr in demurrage penalties ($22,500/day avoided bleed).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Saves ₹3.8 Cr through VLSFO bunker and speed route optimization.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Complete SaaS setup and licensing pays back in under 22 days.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035808"/>
            <a:ext cx="6858000" cy="310896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OPERATIONAL RISKS  ──►  ENGINEERED MITIGATION STRATEGIES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401568"/>
            <a:ext cx="30632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6" name="TextBox 25"/>
          <p:cNvSpPr txBox="1"/>
          <p:nvPr/>
        </p:nvSpPr>
        <p:spPr>
          <a:xfrm>
            <a:off x="438912" y="3447288"/>
            <a:ext cx="2916936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DC2626"/>
                </a:solidFill>
                <a:latin typeface="Arial"/>
              </a:rPr>
              <a:t>[RISK] </a:t>
            </a:r>
            <a:r>
              <a:rPr sz="1100" b="1">
                <a:solidFill>
                  <a:srgbClr val="0F172A"/>
                </a:solidFill>
                <a:latin typeface="Arial"/>
              </a:rPr>
              <a:t>01. Red Sea Chokepoint Disruption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Sudden Houthi strikes cause Cape diversions.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493008" y="3566160"/>
            <a:ext cx="438912" cy="3474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8" name="Rounded Rectangle 27"/>
          <p:cNvSpPr/>
          <p:nvPr/>
        </p:nvSpPr>
        <p:spPr>
          <a:xfrm>
            <a:off x="4005072" y="3401568"/>
            <a:ext cx="321868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9" name="TextBox 28"/>
          <p:cNvSpPr txBox="1"/>
          <p:nvPr/>
        </p:nvSpPr>
        <p:spPr>
          <a:xfrm>
            <a:off x="4078224" y="3447288"/>
            <a:ext cx="3072384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[SOLVED BY] </a:t>
            </a:r>
            <a:r>
              <a:rPr sz="1100" b="1">
                <a:solidFill>
                  <a:srgbClr val="0F172A"/>
                </a:solidFill>
                <a:latin typeface="Arial"/>
              </a:rPr>
              <a:t>01. Monte Carlo Bounds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10,000 runs insulate against black swans.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169664"/>
            <a:ext cx="30632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1" name="TextBox 30"/>
          <p:cNvSpPr txBox="1"/>
          <p:nvPr/>
        </p:nvSpPr>
        <p:spPr>
          <a:xfrm>
            <a:off x="438912" y="4215384"/>
            <a:ext cx="2916936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DC2626"/>
                </a:solidFill>
                <a:latin typeface="Arial"/>
              </a:rPr>
              <a:t>[RISK] </a:t>
            </a:r>
            <a:r>
              <a:rPr sz="1100" b="1">
                <a:solidFill>
                  <a:srgbClr val="0F172A"/>
                </a:solidFill>
                <a:latin typeface="Arial"/>
              </a:rPr>
              <a:t>02. Riverine Siltation (Haldia)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Shifting sandbars risk ship groundings.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493008" y="4334256"/>
            <a:ext cx="438912" cy="3474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3" name="Rounded Rectangle 32"/>
          <p:cNvSpPr/>
          <p:nvPr/>
        </p:nvSpPr>
        <p:spPr>
          <a:xfrm>
            <a:off x="4005072" y="4169664"/>
            <a:ext cx="321868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4" name="TextBox 33"/>
          <p:cNvSpPr txBox="1"/>
          <p:nvPr/>
        </p:nvSpPr>
        <p:spPr>
          <a:xfrm>
            <a:off x="4078224" y="4215384"/>
            <a:ext cx="3072384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[SOLVED BY] </a:t>
            </a:r>
            <a:r>
              <a:rPr sz="1100" b="1">
                <a:solidFill>
                  <a:srgbClr val="0F172A"/>
                </a:solidFill>
                <a:latin typeface="Arial"/>
              </a:rPr>
              <a:t>02. Astronomical Tide Models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Hourly tide tables ensure zero grounding.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937760"/>
            <a:ext cx="30632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6" name="TextBox 35"/>
          <p:cNvSpPr txBox="1"/>
          <p:nvPr/>
        </p:nvSpPr>
        <p:spPr>
          <a:xfrm>
            <a:off x="438912" y="4983480"/>
            <a:ext cx="2916936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DC2626"/>
                </a:solidFill>
                <a:latin typeface="Arial"/>
              </a:rPr>
              <a:t>[RISK] </a:t>
            </a:r>
            <a:r>
              <a:rPr sz="1100" b="1">
                <a:solidFill>
                  <a:srgbClr val="0F172A"/>
                </a:solidFill>
                <a:latin typeface="Arial"/>
              </a:rPr>
              <a:t>03. Broker Feed Outage Latency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Lag in international broker quotes.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493008" y="5102352"/>
            <a:ext cx="438912" cy="3474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8" name="Rounded Rectangle 37"/>
          <p:cNvSpPr/>
          <p:nvPr/>
        </p:nvSpPr>
        <p:spPr>
          <a:xfrm>
            <a:off x="4005072" y="4937760"/>
            <a:ext cx="321868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9" name="TextBox 38"/>
          <p:cNvSpPr txBox="1"/>
          <p:nvPr/>
        </p:nvSpPr>
        <p:spPr>
          <a:xfrm>
            <a:off x="4078224" y="4983480"/>
            <a:ext cx="3072384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[SOLVED BY] </a:t>
            </a:r>
            <a:r>
              <a:rPr sz="1100" b="1">
                <a:solidFill>
                  <a:srgbClr val="0F172A"/>
                </a:solidFill>
                <a:latin typeface="Arial"/>
              </a:rPr>
              <a:t>03. Redis In-Memory Cache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Fallback to 5-yr seasonal baseline.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705856"/>
            <a:ext cx="30632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1" name="TextBox 40"/>
          <p:cNvSpPr txBox="1"/>
          <p:nvPr/>
        </p:nvSpPr>
        <p:spPr>
          <a:xfrm>
            <a:off x="438912" y="5751576"/>
            <a:ext cx="2916936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DC2626"/>
                </a:solidFill>
                <a:latin typeface="Arial"/>
              </a:rPr>
              <a:t>[RISK] </a:t>
            </a:r>
            <a:r>
              <a:rPr sz="1100" b="1">
                <a:solidFill>
                  <a:srgbClr val="0F172A"/>
                </a:solidFill>
                <a:latin typeface="Arial"/>
              </a:rPr>
              <a:t>04. Bay of Bengal Cyclones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Monsoon storms degrade vessel ETA.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493008" y="5870448"/>
            <a:ext cx="438912" cy="3474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3" name="Rounded Rectangle 42"/>
          <p:cNvSpPr/>
          <p:nvPr/>
        </p:nvSpPr>
        <p:spPr>
          <a:xfrm>
            <a:off x="4005072" y="5705856"/>
            <a:ext cx="321868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4" name="TextBox 43"/>
          <p:cNvSpPr txBox="1"/>
          <p:nvPr/>
        </p:nvSpPr>
        <p:spPr>
          <a:xfrm>
            <a:off x="4078224" y="5751576"/>
            <a:ext cx="3072384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[SOLVED BY] </a:t>
            </a:r>
            <a:r>
              <a:rPr sz="1100" b="1">
                <a:solidFill>
                  <a:srgbClr val="0F172A"/>
                </a:solidFill>
                <a:latin typeface="Arial"/>
              </a:rPr>
              <a:t>04. Weather Speed Curves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Copernicus ocean weather adjust speed.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3145536"/>
            <a:ext cx="4389120" cy="31089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LIVE RISK ALERTS &amp; CONGESTION CONSOLE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5422" y="6367013"/>
            <a:ext cx="428033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 dirty="0">
                <a:solidFill>
                  <a:srgbClr val="DC2626"/>
                </a:solidFill>
              </a:rPr>
              <a:t>Live Prototype: Real-Time Surcharge &amp; Weather Risk Detection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A22A1-3076-6853-BC27-037CF9136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135" y="3503919"/>
            <a:ext cx="4633801" cy="272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FUTURISTICS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7444" y="250227"/>
            <a:ext cx="69820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E41"/>
                </a:solidFill>
                <a:latin typeface="Arial"/>
              </a:rPr>
              <a:t>IMPACT, QUANTIFIABLE ROI &amp; ECOSYSTEM BENEFITS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1115568"/>
            <a:ext cx="2399296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0624" y="1051560"/>
            <a:ext cx="2761488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1124712"/>
            <a:ext cx="2435872" cy="81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dirty="0">
                <a:solidFill>
                  <a:srgbClr val="2563EB"/>
                </a:solidFill>
              </a:rPr>
              <a:t>14.2% – 18.5%</a:t>
            </a:r>
          </a:p>
          <a:p>
            <a:pPr algn="ctr"/>
            <a:r>
              <a:rPr sz="1100" b="1" dirty="0">
                <a:solidFill>
                  <a:srgbClr val="0F172A"/>
                </a:solidFill>
              </a:rPr>
              <a:t>Net Freight Cost Reduction</a:t>
            </a:r>
          </a:p>
          <a:p>
            <a:pPr algn="ctr"/>
            <a:r>
              <a:rPr sz="1200" dirty="0">
                <a:solidFill>
                  <a:srgbClr val="475569"/>
                </a:solidFill>
              </a:rPr>
              <a:t>Timed COA commitments vs volatile spot buying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051560"/>
            <a:ext cx="2651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91840" y="1051560"/>
            <a:ext cx="2761488" cy="5486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46704" y="1124712"/>
            <a:ext cx="2582176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DC2626"/>
                </a:solidFill>
              </a:rPr>
              <a:t>$15K – $30K / Day</a:t>
            </a:r>
          </a:p>
          <a:p>
            <a:pPr algn="ctr"/>
            <a:r>
              <a:rPr sz="1200" b="1" dirty="0">
                <a:solidFill>
                  <a:srgbClr val="0F172A"/>
                </a:solidFill>
              </a:rPr>
              <a:t>Demurrage Penalties Saved</a:t>
            </a:r>
          </a:p>
          <a:p>
            <a:pPr algn="ctr"/>
            <a:r>
              <a:rPr sz="1200" dirty="0">
                <a:solidFill>
                  <a:srgbClr val="475569"/>
                </a:solidFill>
              </a:rPr>
              <a:t>Proactive congestion alerts &amp; idle-vessel mitigation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051560"/>
            <a:ext cx="26370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63056" y="1051560"/>
            <a:ext cx="2761488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1124712"/>
            <a:ext cx="2582176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0D9488"/>
                </a:solidFill>
              </a:rPr>
              <a:t>100% Compliance</a:t>
            </a:r>
          </a:p>
          <a:p>
            <a:pPr algn="ctr"/>
            <a:r>
              <a:rPr sz="1200" b="1" dirty="0">
                <a:solidFill>
                  <a:srgbClr val="0F172A"/>
                </a:solidFill>
              </a:rPr>
              <a:t>Zero Dead-Freight Incurred</a:t>
            </a:r>
          </a:p>
          <a:p>
            <a:pPr algn="ctr"/>
            <a:r>
              <a:rPr sz="1200" dirty="0">
                <a:solidFill>
                  <a:srgbClr val="475569"/>
                </a:solidFill>
              </a:rPr>
              <a:t>Automated physical draught &amp; berth LOA verification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4272" y="1051560"/>
            <a:ext cx="26370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034272" y="1051560"/>
            <a:ext cx="2761488" cy="54864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89136" y="1170432"/>
            <a:ext cx="2551176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166534"/>
                </a:solidFill>
              </a:rPr>
              <a:t>11.8% Decarbonization</a:t>
            </a:r>
          </a:p>
          <a:p>
            <a:pPr algn="ctr"/>
            <a:r>
              <a:rPr sz="1200" b="1" dirty="0">
                <a:solidFill>
                  <a:srgbClr val="0F172A"/>
                </a:solidFill>
              </a:rPr>
              <a:t>IMO Carbon Intensity Reduction</a:t>
            </a:r>
          </a:p>
          <a:p>
            <a:pPr algn="ctr"/>
            <a:r>
              <a:rPr sz="1200" dirty="0">
                <a:solidFill>
                  <a:srgbClr val="475569"/>
                </a:solidFill>
              </a:rPr>
              <a:t>Optimized routing &amp; parcel sizing cuts VLSFO fuel burn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9476" y="2350008"/>
            <a:ext cx="356616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29184" y="2368296"/>
            <a:ext cx="3566160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TARGET AUDIENCE &amp; BENEFICIARIES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825497"/>
            <a:ext cx="3383280" cy="3922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12064" y="288036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TextBox 30"/>
          <p:cNvSpPr txBox="1"/>
          <p:nvPr/>
        </p:nvSpPr>
        <p:spPr>
          <a:xfrm>
            <a:off x="585216" y="2926081"/>
            <a:ext cx="3200400" cy="75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Arial"/>
              </a:rPr>
              <a:t>[PSU BENEFIT] </a:t>
            </a:r>
            <a:r>
              <a:rPr sz="1200" b="1">
                <a:solidFill>
                  <a:srgbClr val="0F172A"/>
                </a:solidFill>
                <a:latin typeface="Arial"/>
              </a:rPr>
              <a:t>Power &amp; Steel PSUs (SAIL, NTPC)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Locks bottom-cycle forward contracts saving ₹15–₹50+ Cr annually.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" y="384048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3" name="TextBox 32"/>
          <p:cNvSpPr txBox="1"/>
          <p:nvPr/>
        </p:nvSpPr>
        <p:spPr>
          <a:xfrm>
            <a:off x="585216" y="3886201"/>
            <a:ext cx="3200400" cy="75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[PORT OPS] </a:t>
            </a:r>
            <a:r>
              <a:rPr sz="1200" b="1">
                <a:solidFill>
                  <a:srgbClr val="0F172A"/>
                </a:solidFill>
                <a:latin typeface="Arial"/>
              </a:rPr>
              <a:t>Major Port Trusts (Paradip, Haldia)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Eliminates vessel bunching and queue delays through berth forecasting.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" y="480060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5" name="TextBox 34"/>
          <p:cNvSpPr txBox="1"/>
          <p:nvPr/>
        </p:nvSpPr>
        <p:spPr>
          <a:xfrm>
            <a:off x="585216" y="4846321"/>
            <a:ext cx="3200400" cy="75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Arial"/>
              </a:rPr>
              <a:t>[DESK TOOL] </a:t>
            </a:r>
            <a:r>
              <a:rPr sz="1200" b="1">
                <a:solidFill>
                  <a:srgbClr val="0F172A"/>
                </a:solidFill>
                <a:latin typeface="Arial"/>
              </a:rPr>
              <a:t>Chartering &amp; Logistics Planners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Replaces manual Excel sheets with automated multi-corridor decision tools.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" y="576072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7" name="TextBox 36"/>
          <p:cNvSpPr txBox="1"/>
          <p:nvPr/>
        </p:nvSpPr>
        <p:spPr>
          <a:xfrm>
            <a:off x="585216" y="5806441"/>
            <a:ext cx="3200400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Arial"/>
              </a:rPr>
              <a:t>[NATIONAL] </a:t>
            </a:r>
            <a:r>
              <a:rPr sz="1200" b="1">
                <a:solidFill>
                  <a:srgbClr val="0F172A"/>
                </a:solidFill>
                <a:latin typeface="Arial"/>
              </a:rPr>
              <a:t>National Supply Chain Security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Secures uninterrupted inflows of critical coking coal for steel manufacturing.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9372" y="2386584"/>
            <a:ext cx="356616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05656" y="2386584"/>
            <a:ext cx="356616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MULTI-DIMENSIONAL BENEFITS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97096" y="2825497"/>
            <a:ext cx="3383280" cy="3922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215384" y="288036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2" name="TextBox 41"/>
          <p:cNvSpPr txBox="1"/>
          <p:nvPr/>
        </p:nvSpPr>
        <p:spPr>
          <a:xfrm>
            <a:off x="4288536" y="2926081"/>
            <a:ext cx="3200400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Arial"/>
              </a:rPr>
              <a:t>[ECONOMIC] </a:t>
            </a:r>
            <a:r>
              <a:rPr sz="1200" b="1">
                <a:solidFill>
                  <a:srgbClr val="0F172A"/>
                </a:solidFill>
                <a:latin typeface="Arial"/>
              </a:rPr>
              <a:t>Macroeconomic Liquidity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Lower raw material costs enhance Indian steel &amp; power global competitiveness.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15384" y="384048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4" name="TextBox 43"/>
          <p:cNvSpPr txBox="1"/>
          <p:nvPr/>
        </p:nvSpPr>
        <p:spPr>
          <a:xfrm>
            <a:off x="4361688" y="3886201"/>
            <a:ext cx="3200400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[AUDIT PROOF] </a:t>
            </a:r>
            <a:r>
              <a:rPr sz="1200" b="1">
                <a:solidFill>
                  <a:srgbClr val="0F172A"/>
                </a:solidFill>
                <a:latin typeface="Arial"/>
              </a:rPr>
              <a:t>Deterministic Audit Proof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Mathematical decision logs eliminate broker asymmetry and audit scrutiny.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15384" y="480060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6" name="TextBox 45"/>
          <p:cNvSpPr txBox="1"/>
          <p:nvPr/>
        </p:nvSpPr>
        <p:spPr>
          <a:xfrm>
            <a:off x="4288536" y="4846321"/>
            <a:ext cx="3200400" cy="75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Arial"/>
              </a:rPr>
              <a:t>[ESG DECARB] </a:t>
            </a:r>
            <a:r>
              <a:rPr sz="1200" b="1">
                <a:solidFill>
                  <a:srgbClr val="0F172A"/>
                </a:solidFill>
                <a:latin typeface="Arial"/>
              </a:rPr>
              <a:t>Environmental Decarbonization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Optimized routing and parcel consolidation reduce CO2 per ton-mile (IMO 2030).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15384" y="576072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TextBox 47"/>
          <p:cNvSpPr txBox="1"/>
          <p:nvPr/>
        </p:nvSpPr>
        <p:spPr>
          <a:xfrm>
            <a:off x="4288536" y="5806441"/>
            <a:ext cx="3200400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Arial"/>
              </a:rPr>
              <a:t>[INDIGENOUS] </a:t>
            </a:r>
            <a:r>
              <a:rPr sz="1200" b="1">
                <a:solidFill>
                  <a:srgbClr val="0F172A"/>
                </a:solidFill>
                <a:latin typeface="Arial"/>
              </a:rPr>
              <a:t>Maritime India 2030 Vision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Indigenous software advances national strategic sovereignty over maritime data.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34563" y="2368296"/>
            <a:ext cx="402336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808976" y="2386584"/>
            <a:ext cx="402336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LIVE CONTRACT STRATEGY &amp; HEDGING 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0416" y="2825497"/>
            <a:ext cx="3840480" cy="3922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34563" y="6336793"/>
            <a:ext cx="37721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</a:rPr>
              <a:t>Live Prototype: Simulated ₹24.8 Cr Forward Hedge Saving on Capesize Coal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0BA99-8451-A5EE-A89C-D483645E2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2781796"/>
            <a:ext cx="4297680" cy="349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FUTURISTICS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96394"/>
            <a:ext cx="69942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0F1E41"/>
                </a:solidFill>
                <a:latin typeface="Arial"/>
              </a:rPr>
              <a:t>RESEARCH, INDUSTRY STANDARDS &amp; MARKET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" y="978408"/>
            <a:ext cx="4846320" cy="5669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55448" y="978408"/>
            <a:ext cx="4846320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ACADEMIC LITERATURE &amp; MARITIME STANDARDS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" y="1362456"/>
            <a:ext cx="4663440" cy="5248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92608" y="1417320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365760" y="1463040"/>
            <a:ext cx="4425696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Arial"/>
              </a:rPr>
              <a:t>[BENCHMARK] </a:t>
            </a:r>
            <a:r>
              <a:rPr sz="1200" b="1">
                <a:solidFill>
                  <a:srgbClr val="0F172A"/>
                </a:solidFill>
                <a:latin typeface="Arial"/>
              </a:rPr>
              <a:t>Baltic Exchange Maritime Indices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Daily fixture datasets for Capesize (BCI), Panamax (BPI) &amp; Supramax (BSI) freight rates.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" y="2404872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365760" y="2450592"/>
            <a:ext cx="4425696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[ACADEMIC] </a:t>
            </a:r>
            <a:r>
              <a:rPr sz="1200" b="1">
                <a:solidFill>
                  <a:srgbClr val="0F172A"/>
                </a:solidFill>
                <a:latin typeface="Arial"/>
              </a:rPr>
              <a:t>Maritime Economics (Martin Stopford)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Theoretical foundation on shipping supply/demand cycles, ton-mile elasticity &amp; chartering.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" y="3392424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365760" y="3438144"/>
            <a:ext cx="4425696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Arial"/>
              </a:rPr>
              <a:t>[AI SCIENCE] </a:t>
            </a:r>
            <a:r>
              <a:rPr sz="1200" b="1">
                <a:solidFill>
                  <a:srgbClr val="0F172A"/>
                </a:solidFill>
                <a:latin typeface="Arial"/>
              </a:rPr>
              <a:t>Forecasting Principles (Hyndman)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Triple Exponential Smoothing (Holt-Winters) seasonal modeling on non-stationary series.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" y="4379976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365760" y="4425696"/>
            <a:ext cx="4425696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Arial"/>
              </a:rPr>
              <a:t>[CONTRACTS] </a:t>
            </a:r>
            <a:r>
              <a:rPr sz="1200" b="1">
                <a:solidFill>
                  <a:srgbClr val="0F172A"/>
                </a:solidFill>
                <a:latin typeface="Arial"/>
              </a:rPr>
              <a:t>BIMCO Standard Charterparties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GENCON 1994 &amp; NYPE 2015 clauses governing laytime, demurrage, and seaworthiness.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" y="5367528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365760" y="5413248"/>
            <a:ext cx="4425696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C3A8C"/>
                </a:solidFill>
                <a:latin typeface="Arial"/>
              </a:rPr>
              <a:t>[PORT GAZETTES] </a:t>
            </a:r>
            <a:r>
              <a:rPr sz="1200" b="1">
                <a:solidFill>
                  <a:srgbClr val="0F172A"/>
                </a:solidFill>
                <a:latin typeface="Arial"/>
              </a:rPr>
              <a:t>Indian Major Port Gazettes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Official draft circulars, tidal windows &amp; berth LOA limits from Haldia, Paradip, and Vizag.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17584" y="1063837"/>
            <a:ext cx="6887602" cy="5669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394960" y="987499"/>
            <a:ext cx="640080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EMPIRICAL MARKET RESEARCH &amp; PORT GROUND-TRUTH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1316736"/>
            <a:ext cx="5984748" cy="5248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dirty="0"/>
          </a:p>
        </p:txBody>
      </p:sp>
      <p:pic>
        <p:nvPicPr>
          <p:cNvPr id="32" name="Picture 31" descr="sih_survey_cha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572" y="1344115"/>
            <a:ext cx="5751576" cy="2188549"/>
          </a:xfrm>
          <a:prstGeom prst="rect">
            <a:avLst/>
          </a:prstGeom>
        </p:spPr>
      </p:pic>
      <p:pic>
        <p:nvPicPr>
          <p:cNvPr id="33" name="Picture 32" descr="port_infrastructure_panel_17881766866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1388" y="3462698"/>
            <a:ext cx="6603724" cy="28772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45807" y="6345936"/>
            <a:ext cx="609910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66534"/>
                </a:solidFill>
              </a:rPr>
              <a:t>Ground-Truth Verification: Real Haldia, Paradip &amp; Vizag Draft Gazettes Integrated into Engine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FUTURISTICS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9184"/>
            <a:ext cx="700704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F1E41"/>
                </a:solidFill>
                <a:latin typeface="Arial"/>
              </a:rPr>
              <a:t>LIVE PROTOTYPE SHOWCASE &amp; PRODUCTION TECH 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" y="1450761"/>
            <a:ext cx="5806440" cy="373630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3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19456" y="1085002"/>
            <a:ext cx="5797296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MODULE 1: AI RATE FORECASTING &amp; 90-DAY VOLATILITY CURVES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735472"/>
            <a:ext cx="55145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475569"/>
                </a:solidFill>
              </a:rPr>
              <a:t>Interactive 90-day Holt-Winters predictive curves across </a:t>
            </a:r>
            <a:r>
              <a:rPr sz="1100" i="1" dirty="0" err="1">
                <a:solidFill>
                  <a:srgbClr val="475569"/>
                </a:solidFill>
              </a:rPr>
              <a:t>Capesize</a:t>
            </a:r>
            <a:r>
              <a:rPr sz="1100" i="1" dirty="0">
                <a:solidFill>
                  <a:srgbClr val="475569"/>
                </a:solidFill>
              </a:rPr>
              <a:t>, Panamax &amp; </a:t>
            </a:r>
            <a:r>
              <a:rPr sz="1100" i="1" dirty="0" err="1">
                <a:solidFill>
                  <a:srgbClr val="475569"/>
                </a:solidFill>
              </a:rPr>
              <a:t>Supramax</a:t>
            </a:r>
            <a:r>
              <a:rPr sz="1100" i="1" dirty="0">
                <a:solidFill>
                  <a:srgbClr val="475569"/>
                </a:solidFill>
              </a:rPr>
              <a:t> vessels.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1450762"/>
            <a:ext cx="5724766" cy="374303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08192" y="1092488"/>
            <a:ext cx="5797296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MODULE 2: LIVE AIS FLEET TELEMATICS &amp; PORT CONGESTION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457" y="4820110"/>
            <a:ext cx="55145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475569"/>
                </a:solidFill>
              </a:rPr>
              <a:t>Live AIS vessel position tracking, real-time berth draught verification &amp; congestion monitor.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202936"/>
            <a:ext cx="11430000" cy="161848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93860" y="5257801"/>
            <a:ext cx="11430000" cy="347472"/>
          </a:xfrm>
          <a:prstGeom prst="round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PRODUCTION-GRADE TECHNOLOGY STACK &amp; ARCHITECTURAL PILLARS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14417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Frontend / GIS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5760721"/>
            <a:ext cx="269748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✔ React 19 / Next.js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✔ Tailwind CSS Design System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✔ Chart.js Predictive Curves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✔ Leaflet.js Dynamic GIS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5614417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9488"/>
                </a:solidFill>
              </a:rPr>
              <a:t>Backend /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55264" y="5760721"/>
            <a:ext cx="269748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dirty="0">
                <a:solidFill>
                  <a:srgbClr val="0F172A"/>
                </a:solidFill>
              </a:rPr>
              <a:t>✔ Python </a:t>
            </a:r>
            <a:r>
              <a:rPr sz="1400" dirty="0" err="1">
                <a:solidFill>
                  <a:srgbClr val="0F172A"/>
                </a:solidFill>
              </a:rPr>
              <a:t>FastAPI</a:t>
            </a:r>
            <a:r>
              <a:rPr sz="1400" dirty="0">
                <a:solidFill>
                  <a:srgbClr val="0F172A"/>
                </a:solidFill>
              </a:rPr>
              <a:t> Async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0F172A"/>
                </a:solidFill>
              </a:rPr>
              <a:t>✔ </a:t>
            </a:r>
            <a:r>
              <a:rPr sz="1400" dirty="0" err="1">
                <a:solidFill>
                  <a:srgbClr val="0F172A"/>
                </a:solidFill>
              </a:rPr>
              <a:t>Uvicorn</a:t>
            </a:r>
            <a:r>
              <a:rPr sz="1400" dirty="0">
                <a:solidFill>
                  <a:srgbClr val="0F172A"/>
                </a:solidFill>
              </a:rPr>
              <a:t> ASGI Server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0F172A"/>
                </a:solidFill>
              </a:rPr>
              <a:t>✔ Redis Sub-35ms Cache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0F172A"/>
                </a:solidFill>
              </a:rPr>
              <a:t>✔ PostgreSQL / </a:t>
            </a:r>
            <a:r>
              <a:rPr sz="1400" dirty="0" err="1">
                <a:solidFill>
                  <a:srgbClr val="0F172A"/>
                </a:solidFill>
              </a:rPr>
              <a:t>PostGIS</a:t>
            </a:r>
            <a:r>
              <a:rPr sz="1400" dirty="0">
                <a:solidFill>
                  <a:srgbClr val="0F172A"/>
                </a:solidFill>
              </a:rPr>
              <a:t>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624" y="5614417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66534"/>
                </a:solidFill>
              </a:rPr>
              <a:t>AI / Math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1616" y="5760721"/>
            <a:ext cx="269748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</a:rPr>
              <a:t>✔ Holt-Winters Seasonal Model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</a:rPr>
              <a:t>✔ Monte Carlo 10K Simulation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</a:rPr>
              <a:t>✔ UKC Astronomical Tidal Solver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</a:rPr>
              <a:t>✔ Landed $/MT Linear Program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1976" y="5614417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7706"/>
                </a:solidFill>
              </a:rPr>
              <a:t>Cloud / DevOps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5760721"/>
            <a:ext cx="269748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✔ Docker Containerization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✔ AWS EC2 / GCP Cloud Run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✔ Automated GitHub Actions CI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✔ 99.9% Uptime Production SLA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BAA801-2D39-FF42-EC86-00FAB7FD6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1450762"/>
            <a:ext cx="5852160" cy="3284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059478-EA0E-36DB-26AF-898D24CEC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68611"/>
            <a:ext cx="5876544" cy="335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7566</TotalTime>
  <Words>1630</Words>
  <Application>Microsoft Office PowerPoint</Application>
  <PresentationFormat>Widescreen</PresentationFormat>
  <Paragraphs>183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ＭＳ Ｐゴシック</vt:lpstr>
      <vt:lpstr>Arial</vt:lpstr>
      <vt:lpstr>Calibri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Futuristic gxt</cp:lastModifiedBy>
  <cp:revision>161</cp:revision>
  <dcterms:created xsi:type="dcterms:W3CDTF">2013-12-12T18:46:50Z</dcterms:created>
  <dcterms:modified xsi:type="dcterms:W3CDTF">2026-09-21T11:47:09Z</dcterms:modified>
  <cp:category/>
</cp:coreProperties>
</file>