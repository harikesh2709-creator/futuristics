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8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9/21/2026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9/21/2026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9/21/2026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65760" y="411480"/>
            <a:ext cx="9601200" cy="822960"/>
          </a:xfrm>
        </p:spPr>
        <p:txBody>
          <a:bodyPr/>
          <a:lstStyle/>
          <a:p>
            <a:pPr algn="l"/>
            <a:r>
              <a:rPr sz="3600" b="1">
                <a:solidFill>
                  <a:srgbClr val="1E3A8A"/>
                </a:solidFill>
                <a:latin typeface="Times New Roman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65760" y="2011680"/>
            <a:ext cx="6858000" cy="43891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300"/>
              </a:spcBef>
              <a:spcAft>
                <a:spcPts val="300"/>
              </a:spcAft>
            </a:pPr>
            <a:r>
              <a:rPr sz="1800" b="1">
                <a:solidFill>
                  <a:srgbClr val="0B192C"/>
                </a:solidFill>
                <a:latin typeface="Times New Roman"/>
              </a:rPr>
              <a:t>• Problem Statement ID –</a:t>
            </a:r>
            <a:r>
              <a:rPr sz="1800" b="0">
                <a:solidFill>
                  <a:srgbClr val="0B192C"/>
                </a:solidFill>
                <a:latin typeface="Times New Roman"/>
              </a:rPr>
              <a:t> 26147</a:t>
            </a:r>
            <a:endParaRPr lang="en-US" dirty="0"/>
          </a:p>
          <a:p>
            <a:pPr>
              <a:spcBef>
                <a:spcPts val="1300"/>
              </a:spcBef>
              <a:spcAft>
                <a:spcPts val="300"/>
              </a:spcAft>
            </a:pPr>
            <a:r>
              <a:rPr sz="1800" b="1">
                <a:solidFill>
                  <a:srgbClr val="0B192C"/>
                </a:solidFill>
                <a:latin typeface="Times New Roman"/>
              </a:rPr>
              <a:t>• Problem Statement Title-</a:t>
            </a:r>
            <a:r>
              <a:rPr sz="1800" b="0">
                <a:solidFill>
                  <a:srgbClr val="0B192C"/>
                </a:solidFill>
                <a:latin typeface="Times New Roman"/>
              </a:rPr>
              <a:t> Automated Model for Analysis of .IQ and .wav Files along with Signal Parameter Extraction</a:t>
            </a:r>
          </a:p>
          <a:p>
            <a:pPr>
              <a:spcBef>
                <a:spcPts val="1300"/>
              </a:spcBef>
              <a:spcAft>
                <a:spcPts val="300"/>
              </a:spcAft>
            </a:pPr>
            <a:r>
              <a:rPr sz="1800" b="1">
                <a:solidFill>
                  <a:srgbClr val="0B192C"/>
                </a:solidFill>
                <a:latin typeface="Times New Roman"/>
              </a:rPr>
              <a:t>• Theme-</a:t>
            </a:r>
            <a:r>
              <a:rPr sz="1800" b="0">
                <a:solidFill>
                  <a:srgbClr val="0B192C"/>
                </a:solidFill>
                <a:latin typeface="Times New Roman"/>
              </a:rPr>
              <a:t> Space Technology (Defense &amp; Intelligence / RF SIGINT)</a:t>
            </a:r>
          </a:p>
          <a:p>
            <a:pPr>
              <a:spcBef>
                <a:spcPts val="1300"/>
              </a:spcBef>
              <a:spcAft>
                <a:spcPts val="300"/>
              </a:spcAft>
            </a:pPr>
            <a:r>
              <a:rPr sz="1800" b="1">
                <a:solidFill>
                  <a:srgbClr val="0B192C"/>
                </a:solidFill>
                <a:latin typeface="Times New Roman"/>
              </a:rPr>
              <a:t>• PS Category-</a:t>
            </a:r>
            <a:r>
              <a:rPr sz="1800" b="0">
                <a:solidFill>
                  <a:srgbClr val="0B192C"/>
                </a:solidFill>
                <a:latin typeface="Times New Roman"/>
              </a:rPr>
              <a:t> Software</a:t>
            </a:r>
          </a:p>
          <a:p>
            <a:pPr>
              <a:spcBef>
                <a:spcPts val="1300"/>
              </a:spcBef>
              <a:spcAft>
                <a:spcPts val="300"/>
              </a:spcAft>
            </a:pPr>
            <a:r>
              <a:rPr sz="1800" b="1">
                <a:solidFill>
                  <a:srgbClr val="0B192C"/>
                </a:solidFill>
                <a:latin typeface="Times New Roman"/>
              </a:rPr>
              <a:t>• Team ID-</a:t>
            </a:r>
            <a:r>
              <a:rPr sz="1800" b="0">
                <a:solidFill>
                  <a:srgbClr val="0B192C"/>
                </a:solidFill>
                <a:latin typeface="Times New Roman"/>
              </a:rPr>
              <a:t> SIH-2026</a:t>
            </a:r>
          </a:p>
          <a:p>
            <a:pPr>
              <a:spcBef>
                <a:spcPts val="1300"/>
              </a:spcBef>
              <a:spcAft>
                <a:spcPts val="300"/>
              </a:spcAft>
            </a:pPr>
            <a:r>
              <a:rPr sz="1800" b="1">
                <a:solidFill>
                  <a:srgbClr val="0B192C"/>
                </a:solidFill>
                <a:latin typeface="Times New Roman"/>
              </a:rPr>
              <a:t>• Team Name (Registered on portal)-</a:t>
            </a:r>
            <a:r>
              <a:rPr sz="1800" b="0">
                <a:solidFill>
                  <a:srgbClr val="0B192C"/>
                </a:solidFill>
                <a:latin typeface="Times New Roman"/>
              </a:rPr>
              <a:t> FUTURISTICS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2047830" y="402337"/>
            <a:ext cx="7589520" cy="640080"/>
          </a:xfrm>
        </p:spPr>
        <p:txBody>
          <a:bodyPr/>
          <a:lstStyle/>
          <a:p>
            <a:pPr eaLnBrk="1" hangingPunct="1"/>
            <a:r>
              <a:rPr lang="fr-FR" sz="2400" dirty="0"/>
              <a:t>SPECTRA: </a:t>
            </a:r>
            <a:r>
              <a:rPr lang="fr-FR" sz="2400" dirty="0" err="1"/>
              <a:t>Autonomous</a:t>
            </a:r>
            <a:r>
              <a:rPr lang="fr-FR" sz="2400" dirty="0"/>
              <a:t> RF Signal Intelligence &amp; </a:t>
            </a:r>
            <a:r>
              <a:rPr lang="fr-FR" sz="2400" dirty="0" err="1"/>
              <a:t>Parameter</a:t>
            </a:r>
            <a:r>
              <a:rPr lang="fr-FR" sz="2400" dirty="0"/>
              <a:t> Extraction Engine</a:t>
            </a:r>
            <a:br>
              <a:rPr lang="fr-FR" sz="2400" dirty="0"/>
            </a:br>
            <a:endParaRPr sz="2400" b="1" dirty="0">
              <a:solidFill>
                <a:srgbClr val="0B192C"/>
              </a:solidFill>
              <a:latin typeface="Arial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algn="ctr">
              <a:defRPr/>
            </a:pPr>
            <a:r>
              <a:rPr sz="1000">
                <a:solidFill>
                  <a:srgbClr val="FFFFFF"/>
                </a:solidFill>
                <a:latin typeface="Arial"/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0040" y="201168"/>
            <a:ext cx="1691640" cy="62179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1E3A8A"/>
                </a:solidFill>
                <a:latin typeface="Arial"/>
              </a:rPr>
              <a:t>FUTURISTICS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2" name="Rounded Rectangle 15361"/>
          <p:cNvSpPr/>
          <p:nvPr/>
        </p:nvSpPr>
        <p:spPr>
          <a:xfrm>
            <a:off x="289560" y="996696"/>
            <a:ext cx="5806440" cy="5257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63" name="TextBox 15362"/>
          <p:cNvSpPr txBox="1"/>
          <p:nvPr/>
        </p:nvSpPr>
        <p:spPr>
          <a:xfrm>
            <a:off x="552208" y="1229580"/>
            <a:ext cx="5477256" cy="41549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 dirty="0">
                <a:solidFill>
                  <a:srgbClr val="1E3A8A"/>
                </a:solidFill>
                <a:latin typeface="Arial"/>
              </a:rPr>
              <a:t>Proposed Solution :-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100" b="1" dirty="0">
                <a:solidFill>
                  <a:srgbClr val="0F172A"/>
                </a:solidFill>
                <a:latin typeface="Arial"/>
              </a:rPr>
              <a:t>SPECTRA – Autonomous RF Signal Intelligence &amp; Parameter Extraction Ecosystem powered by </a:t>
            </a:r>
            <a:r>
              <a:rPr sz="1100" b="1" dirty="0" err="1">
                <a:solidFill>
                  <a:srgbClr val="0F172A"/>
                </a:solidFill>
                <a:latin typeface="Arial"/>
              </a:rPr>
              <a:t>Cyclostationary</a:t>
            </a:r>
            <a:r>
              <a:rPr sz="1100" b="1" dirty="0">
                <a:solidFill>
                  <a:srgbClr val="0F172A"/>
                </a:solidFill>
                <a:latin typeface="Arial"/>
              </a:rPr>
              <a:t> DSP + Neural AMC + GF(2) Matrix Rank Solver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100" b="1" dirty="0">
                <a:solidFill>
                  <a:srgbClr val="2563EB"/>
                </a:solidFill>
                <a:latin typeface="Arial"/>
              </a:rPr>
              <a:t>• </a:t>
            </a:r>
            <a:r>
              <a:rPr sz="1100" b="1" dirty="0">
                <a:solidFill>
                  <a:srgbClr val="1E3A8A"/>
                </a:solidFill>
                <a:latin typeface="Arial"/>
              </a:rPr>
              <a:t>Multi-Format High-Throughput RF Ingestion:-</a:t>
            </a:r>
            <a:r>
              <a:rPr sz="1100" dirty="0">
                <a:solidFill>
                  <a:srgbClr val="0F172A"/>
                </a:solidFill>
                <a:latin typeface="Arial"/>
              </a:rPr>
              <a:t> Ingests raw .IQ and .wav captures (16-bit PCM, 32-bit float, </a:t>
            </a:r>
            <a:r>
              <a:rPr sz="1100" dirty="0" err="1">
                <a:solidFill>
                  <a:srgbClr val="0F172A"/>
                </a:solidFill>
                <a:latin typeface="Arial"/>
              </a:rPr>
              <a:t>HackRF</a:t>
            </a:r>
            <a:r>
              <a:rPr sz="1100" dirty="0">
                <a:solidFill>
                  <a:srgbClr val="0F172A"/>
                </a:solidFill>
                <a:latin typeface="Arial"/>
              </a:rPr>
              <a:t>/USRP streams) with automated I/Q DC offset calibration and quadrature imbalance nulling in &lt;15 </a:t>
            </a:r>
            <a:r>
              <a:rPr sz="1100" dirty="0" err="1">
                <a:solidFill>
                  <a:srgbClr val="0F172A"/>
                </a:solidFill>
                <a:latin typeface="Arial"/>
              </a:rPr>
              <a:t>ms.</a:t>
            </a:r>
            <a:endParaRPr sz="1100" dirty="0">
              <a:solidFill>
                <a:srgbClr val="0F172A"/>
              </a:solidFill>
              <a:latin typeface="Arial"/>
            </a:endParaRP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100" b="1" dirty="0">
                <a:solidFill>
                  <a:srgbClr val="2563EB"/>
                </a:solidFill>
                <a:latin typeface="Arial"/>
              </a:rPr>
              <a:t>• </a:t>
            </a:r>
            <a:r>
              <a:rPr sz="1100" b="1" dirty="0" err="1">
                <a:solidFill>
                  <a:srgbClr val="1E3A8A"/>
                </a:solidFill>
                <a:latin typeface="Arial"/>
              </a:rPr>
              <a:t>Cyclostationary</a:t>
            </a:r>
            <a:r>
              <a:rPr sz="1100" b="1" dirty="0">
                <a:solidFill>
                  <a:srgbClr val="1E3A8A"/>
                </a:solidFill>
                <a:latin typeface="Arial"/>
              </a:rPr>
              <a:t> &amp; Higher-Order Cumulant Engine:-</a:t>
            </a:r>
            <a:r>
              <a:rPr sz="1100" dirty="0">
                <a:solidFill>
                  <a:srgbClr val="0F172A"/>
                </a:solidFill>
                <a:latin typeface="Arial"/>
              </a:rPr>
              <a:t> Blind baud rate &amp; symbol timing extraction via Spectral Correlation Density </a:t>
            </a:r>
            <a:r>
              <a:rPr sz="1100" dirty="0" err="1">
                <a:solidFill>
                  <a:srgbClr val="0F172A"/>
                </a:solidFill>
                <a:latin typeface="Arial"/>
              </a:rPr>
              <a:t>Sx^alpha</a:t>
            </a:r>
            <a:r>
              <a:rPr sz="1100" dirty="0">
                <a:solidFill>
                  <a:srgbClr val="0F172A"/>
                </a:solidFill>
                <a:latin typeface="Arial"/>
              </a:rPr>
              <a:t>(f) and 4th/6th order cumulants (C40, C42, C63) robust down to -4 dB SNR.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100" b="1" dirty="0">
                <a:solidFill>
                  <a:srgbClr val="2563EB"/>
                </a:solidFill>
                <a:latin typeface="Arial"/>
              </a:rPr>
              <a:t>• </a:t>
            </a:r>
            <a:r>
              <a:rPr sz="1100" b="1" dirty="0">
                <a:solidFill>
                  <a:srgbClr val="1E3A8A"/>
                </a:solidFill>
                <a:latin typeface="Arial"/>
              </a:rPr>
              <a:t>AI Neural Automatic Modulation Classification (AMC):-</a:t>
            </a:r>
            <a:r>
              <a:rPr sz="1100" dirty="0">
                <a:solidFill>
                  <a:srgbClr val="0F172A"/>
                </a:solidFill>
                <a:latin typeface="Arial"/>
              </a:rPr>
              <a:t> Hybrid 1D-CNN + Bi-LSTM edge classifier recognizing BPSK, QPSK, 8PSK, 16QAM, FSK, and MSK in &lt;35 </a:t>
            </a:r>
            <a:r>
              <a:rPr sz="1100" dirty="0" err="1">
                <a:solidFill>
                  <a:srgbClr val="0F172A"/>
                </a:solidFill>
                <a:latin typeface="Arial"/>
              </a:rPr>
              <a:t>ms</a:t>
            </a:r>
            <a:r>
              <a:rPr sz="1100" dirty="0">
                <a:solidFill>
                  <a:srgbClr val="0F172A"/>
                </a:solidFill>
                <a:latin typeface="Arial"/>
              </a:rPr>
              <a:t> with 97.8% verified test accuracy.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100" b="1" dirty="0">
                <a:solidFill>
                  <a:srgbClr val="2563EB"/>
                </a:solidFill>
                <a:latin typeface="Arial"/>
              </a:rPr>
              <a:t>• </a:t>
            </a:r>
            <a:r>
              <a:rPr sz="1100" b="1" dirty="0">
                <a:solidFill>
                  <a:srgbClr val="1E3A8A"/>
                </a:solidFill>
                <a:latin typeface="Arial"/>
              </a:rPr>
              <a:t>Blind Symbol Timing &amp; Carrier Phase Recovery:-</a:t>
            </a:r>
            <a:r>
              <a:rPr sz="1100" dirty="0">
                <a:solidFill>
                  <a:srgbClr val="0F172A"/>
                </a:solidFill>
                <a:latin typeface="Arial"/>
              </a:rPr>
              <a:t> Non-data-aided Gardner Timing Error Detector (TED) paired with Costas Phase-Locked Loop (PLL) achieving sub-sample clock synchronization and Doppler shift nulling.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100" b="1" dirty="0">
                <a:solidFill>
                  <a:srgbClr val="2563EB"/>
                </a:solidFill>
                <a:latin typeface="Arial"/>
              </a:rPr>
              <a:t>• </a:t>
            </a:r>
            <a:r>
              <a:rPr sz="1100" b="1" dirty="0">
                <a:solidFill>
                  <a:srgbClr val="1E3A8A"/>
                </a:solidFill>
                <a:latin typeface="Arial"/>
              </a:rPr>
              <a:t>Automated GF(2) Rank Blind </a:t>
            </a:r>
            <a:r>
              <a:rPr sz="1100" b="1" dirty="0" err="1">
                <a:solidFill>
                  <a:srgbClr val="1E3A8A"/>
                </a:solidFill>
                <a:latin typeface="Arial"/>
              </a:rPr>
              <a:t>Interleaver</a:t>
            </a:r>
            <a:r>
              <a:rPr sz="1100" b="1" dirty="0">
                <a:solidFill>
                  <a:srgbClr val="1E3A8A"/>
                </a:solidFill>
                <a:latin typeface="Arial"/>
              </a:rPr>
              <a:t> Solver:-</a:t>
            </a:r>
            <a:r>
              <a:rPr sz="1100" dirty="0">
                <a:solidFill>
                  <a:srgbClr val="0F172A"/>
                </a:solidFill>
                <a:latin typeface="Arial"/>
              </a:rPr>
              <a:t> Fast linear algebraic rank matrix factorization searching depths 2 &lt;= D &lt;= 2048 in &lt;1.2 s, coupled with native Viterbi, Reed-Solomon (CCSDS 131.0-B-3), &amp; LDPC decoders.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100" b="1" dirty="0">
                <a:solidFill>
                  <a:srgbClr val="2563EB"/>
                </a:solidFill>
                <a:latin typeface="Arial"/>
              </a:rPr>
              <a:t>• </a:t>
            </a:r>
            <a:r>
              <a:rPr sz="1100" b="1" dirty="0">
                <a:solidFill>
                  <a:srgbClr val="1E3A8A"/>
                </a:solidFill>
                <a:latin typeface="Arial"/>
              </a:rPr>
              <a:t>100% Air-Gapped Sovereign Defense Dossier:-</a:t>
            </a:r>
            <a:r>
              <a:rPr sz="1100" dirty="0">
                <a:solidFill>
                  <a:srgbClr val="0F172A"/>
                </a:solidFill>
                <a:latin typeface="Arial"/>
              </a:rPr>
              <a:t> Completely localized execution with zero external network calls; exports SHA-256 signed tamper-proof forensic telemetry dossiers for NTRO/tri-service defense operations.</a:t>
            </a:r>
          </a:p>
        </p:txBody>
      </p:sp>
      <p:sp>
        <p:nvSpPr>
          <p:cNvPr id="15364" name="Rounded Rectangle 15363"/>
          <p:cNvSpPr/>
          <p:nvPr/>
        </p:nvSpPr>
        <p:spPr>
          <a:xfrm>
            <a:off x="396240" y="5434697"/>
            <a:ext cx="5623560" cy="85148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 dirty="0">
                <a:solidFill>
                  <a:srgbClr val="1E3A8A"/>
                </a:solidFill>
                <a:latin typeface="Arial"/>
              </a:rPr>
              <a:t>Core Mathematical Formulation &amp; Signal Recovery Objectives:
</a:t>
            </a:r>
            <a:r>
              <a:rPr sz="1000" b="0" dirty="0">
                <a:solidFill>
                  <a:srgbClr val="0B192C"/>
                </a:solidFill>
                <a:latin typeface="Arial"/>
              </a:rPr>
              <a:t>Cyclic Correlation: </a:t>
            </a:r>
            <a:r>
              <a:rPr sz="1000" b="0" dirty="0" err="1">
                <a:solidFill>
                  <a:srgbClr val="0B192C"/>
                </a:solidFill>
                <a:latin typeface="Arial"/>
              </a:rPr>
              <a:t>Sx</a:t>
            </a:r>
            <a:r>
              <a:rPr sz="1000" b="0" dirty="0">
                <a:solidFill>
                  <a:srgbClr val="0B192C"/>
                </a:solidFill>
                <a:latin typeface="Arial"/>
              </a:rPr>
              <a:t>^α(f) = </a:t>
            </a:r>
            <a:r>
              <a:rPr sz="1000" b="0" dirty="0" err="1">
                <a:solidFill>
                  <a:srgbClr val="0B192C"/>
                </a:solidFill>
                <a:latin typeface="Arial"/>
              </a:rPr>
              <a:t>lim</a:t>
            </a:r>
            <a:r>
              <a:rPr sz="1000" b="0" dirty="0">
                <a:solidFill>
                  <a:srgbClr val="0B192C"/>
                </a:solidFill>
                <a:latin typeface="Arial"/>
              </a:rPr>
              <a:t> 1/T · X(f+α/2)X*(f-α/2)  |  Gardner TED: ε(k) = I(k-1/2)[I(k)-I(k-1)] + Q(k-1/2)[Q(k)-Q(k-1)]
Blind </a:t>
            </a:r>
            <a:r>
              <a:rPr sz="1000" b="0" dirty="0" err="1">
                <a:solidFill>
                  <a:srgbClr val="0B192C"/>
                </a:solidFill>
                <a:latin typeface="Arial"/>
              </a:rPr>
              <a:t>Interleaver</a:t>
            </a:r>
            <a:r>
              <a:rPr sz="1000" b="0" dirty="0">
                <a:solidFill>
                  <a:srgbClr val="0B192C"/>
                </a:solidFill>
                <a:latin typeface="Arial"/>
              </a:rPr>
              <a:t> Solver: </a:t>
            </a:r>
            <a:r>
              <a:rPr sz="1000" b="0" dirty="0" err="1">
                <a:solidFill>
                  <a:srgbClr val="0B192C"/>
                </a:solidFill>
                <a:latin typeface="Arial"/>
              </a:rPr>
              <a:t>Rank_GF</a:t>
            </a:r>
            <a:r>
              <a:rPr sz="1000" b="0" dirty="0">
                <a:solidFill>
                  <a:srgbClr val="0B192C"/>
                </a:solidFill>
                <a:latin typeface="Arial"/>
              </a:rPr>
              <a:t>(2)(M) &lt; D  |  M2M4 SNR: SNR = √(2M2^2 - M4) / (M2 - √(2M2^2 - M4))</a:t>
            </a:r>
          </a:p>
        </p:txBody>
      </p:sp>
      <p:sp>
        <p:nvSpPr>
          <p:cNvPr id="15365" name="Rounded Rectangle 15364"/>
          <p:cNvSpPr/>
          <p:nvPr/>
        </p:nvSpPr>
        <p:spPr>
          <a:xfrm>
            <a:off x="6263640" y="1060704"/>
            <a:ext cx="5623560" cy="515721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66" name="TextBox 15365"/>
          <p:cNvSpPr txBox="1"/>
          <p:nvPr/>
        </p:nvSpPr>
        <p:spPr>
          <a:xfrm>
            <a:off x="6355080" y="1005840"/>
            <a:ext cx="5440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1E3A8A"/>
                </a:solidFill>
                <a:latin typeface="Arial"/>
              </a:rPr>
              <a:t>SPECTRA – 4-Tier System Architecture &amp; Live UI Prototype</a:t>
            </a:r>
          </a:p>
        </p:txBody>
      </p:sp>
      <p:sp>
        <p:nvSpPr>
          <p:cNvPr id="15367" name="Rounded Rectangle 15366"/>
          <p:cNvSpPr/>
          <p:nvPr/>
        </p:nvSpPr>
        <p:spPr>
          <a:xfrm>
            <a:off x="6355080" y="1353312"/>
            <a:ext cx="1298448" cy="292608"/>
          </a:xfrm>
          <a:prstGeom prst="round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NTRO SIGINT</a:t>
            </a:r>
          </a:p>
        </p:txBody>
      </p:sp>
      <p:sp>
        <p:nvSpPr>
          <p:cNvPr id="15368" name="Rounded Rectangle 15367"/>
          <p:cNvSpPr/>
          <p:nvPr/>
        </p:nvSpPr>
        <p:spPr>
          <a:xfrm>
            <a:off x="7726679" y="1353312"/>
            <a:ext cx="1298448" cy="292608"/>
          </a:xfrm>
          <a:prstGeom prst="round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Tri-Services EW</a:t>
            </a:r>
          </a:p>
        </p:txBody>
      </p:sp>
      <p:sp>
        <p:nvSpPr>
          <p:cNvPr id="15369" name="Rounded Rectangle 15368"/>
          <p:cNvSpPr/>
          <p:nvPr/>
        </p:nvSpPr>
        <p:spPr>
          <a:xfrm>
            <a:off x="9098280" y="1353312"/>
            <a:ext cx="1298448" cy="292608"/>
          </a:xfrm>
          <a:prstGeom prst="round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Indian Coast Guard</a:t>
            </a:r>
          </a:p>
        </p:txBody>
      </p:sp>
      <p:sp>
        <p:nvSpPr>
          <p:cNvPr id="15370" name="Rounded Rectangle 15369"/>
          <p:cNvSpPr/>
          <p:nvPr/>
        </p:nvSpPr>
        <p:spPr>
          <a:xfrm>
            <a:off x="10469880" y="1353312"/>
            <a:ext cx="1298448" cy="292608"/>
          </a:xfrm>
          <a:prstGeom prst="round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ISRO Telemetry</a:t>
            </a:r>
          </a:p>
        </p:txBody>
      </p:sp>
      <p:sp>
        <p:nvSpPr>
          <p:cNvPr id="15371" name="Rounded Rectangle 15370"/>
          <p:cNvSpPr/>
          <p:nvPr/>
        </p:nvSpPr>
        <p:spPr>
          <a:xfrm>
            <a:off x="6355080" y="1719072"/>
            <a:ext cx="5440680" cy="310896"/>
          </a:xfrm>
          <a:prstGeom prst="roundRect">
            <a:avLst/>
          </a:prstGeom>
          <a:solidFill>
            <a:srgbClr val="FEF08A"/>
          </a:solidFill>
          <a:ln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713F12"/>
                </a:solidFill>
                <a:latin typeface="Arial"/>
              </a:rPr>
              <a:t>Tactical UI Layer: HTML5 Canvas + WebGL Constellation + Real-Time Waterfall Spectrogram</a:t>
            </a:r>
          </a:p>
        </p:txBody>
      </p:sp>
      <p:sp>
        <p:nvSpPr>
          <p:cNvPr id="15372" name="Rounded Rectangle 15371"/>
          <p:cNvSpPr/>
          <p:nvPr/>
        </p:nvSpPr>
        <p:spPr>
          <a:xfrm>
            <a:off x="6355080" y="2084831"/>
            <a:ext cx="5440680" cy="310896"/>
          </a:xfrm>
          <a:prstGeom prst="roundRect">
            <a:avLst/>
          </a:prstGeom>
          <a:solidFill>
            <a:srgbClr val="E0E7FF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312E81"/>
                </a:solidFill>
                <a:latin typeface="Arial"/>
              </a:rPr>
              <a:t>Core Processing: FastAPI Async (sub-35ms) ➔ C-Accelerated SciPy DSP ➔ ONNX Edge Neural AMC</a:t>
            </a:r>
          </a:p>
        </p:txBody>
      </p:sp>
      <p:sp>
        <p:nvSpPr>
          <p:cNvPr id="15373" name="Rectangle 15372"/>
          <p:cNvSpPr/>
          <p:nvPr/>
        </p:nvSpPr>
        <p:spPr>
          <a:xfrm>
            <a:off x="6263640" y="2487168"/>
            <a:ext cx="5532120" cy="274320"/>
          </a:xfrm>
          <a:prstGeom prst="rect">
            <a:avLst/>
          </a:prstGeom>
          <a:solidFill>
            <a:srgbClr val="0B192C"/>
          </a:solidFill>
          <a:ln>
            <a:solidFill>
              <a:srgbClr val="0B1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 dirty="0">
                <a:solidFill>
                  <a:srgbClr val="FFFFFF"/>
                </a:solidFill>
                <a:latin typeface="Arial"/>
              </a:rPr>
              <a:t>[LIVE PROTOTYPE] Module 1: Tactical RF Telemetry, Waveform &amp; Welch PSD Console</a:t>
            </a:r>
          </a:p>
        </p:txBody>
      </p:sp>
      <p:pic>
        <p:nvPicPr>
          <p:cNvPr id="15374" name="Picture 15373" descr="crop_module1_telemet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2779776"/>
            <a:ext cx="553212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2103120" y="182880"/>
            <a:ext cx="7589520" cy="640080"/>
          </a:xfrm>
        </p:spPr>
        <p:txBody>
          <a:bodyPr/>
          <a:lstStyle/>
          <a:p>
            <a:pPr algn="ctr" eaLnBrk="1" hangingPunct="1"/>
            <a:r>
              <a:rPr sz="2400" b="1">
                <a:solidFill>
                  <a:srgbClr val="0B192C"/>
                </a:solidFill>
                <a:latin typeface="Arial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algn="ctr">
              <a:defRPr/>
            </a:pPr>
            <a:r>
              <a:rPr sz="1000">
                <a:solidFill>
                  <a:srgbClr val="FFFFFF"/>
                </a:solidFill>
                <a:latin typeface="Arial"/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0040" y="201168"/>
            <a:ext cx="1691640" cy="62179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1E3A8A"/>
                </a:solidFill>
                <a:latin typeface="Arial"/>
              </a:rPr>
              <a:t>FUTURISTICS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-9144" y="1028541"/>
            <a:ext cx="5943600" cy="5257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1" name="TextBox 17410"/>
          <p:cNvSpPr txBox="1"/>
          <p:nvPr/>
        </p:nvSpPr>
        <p:spPr>
          <a:xfrm>
            <a:off x="432343" y="1115568"/>
            <a:ext cx="5623560" cy="2372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 dirty="0">
                <a:solidFill>
                  <a:srgbClr val="1E3A8A"/>
                </a:solidFill>
                <a:latin typeface="Arial"/>
              </a:rPr>
              <a:t>Technologies to be Used:-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000" b="1" dirty="0">
                <a:solidFill>
                  <a:srgbClr val="2563EB"/>
                </a:solidFill>
                <a:latin typeface="Arial"/>
              </a:rPr>
              <a:t>• </a:t>
            </a:r>
            <a:r>
              <a:rPr sz="1000" b="1" dirty="0">
                <a:solidFill>
                  <a:srgbClr val="1E3A8A"/>
                </a:solidFill>
                <a:latin typeface="Arial"/>
              </a:rPr>
              <a:t>Frontend UI:-</a:t>
            </a:r>
            <a:r>
              <a:rPr sz="1000" dirty="0">
                <a:solidFill>
                  <a:srgbClr val="0F172A"/>
                </a:solidFill>
                <a:latin typeface="Arial"/>
              </a:rPr>
              <a:t> HTML5 Canvas, WebGL, ES6 Vanilla JS, Chart.js (Sub-16ms 60fps telemetry)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000" b="1" dirty="0">
                <a:solidFill>
                  <a:srgbClr val="2563EB"/>
                </a:solidFill>
                <a:latin typeface="Arial"/>
              </a:rPr>
              <a:t>• </a:t>
            </a:r>
            <a:r>
              <a:rPr sz="1000" b="1" dirty="0">
                <a:solidFill>
                  <a:srgbClr val="1E3A8A"/>
                </a:solidFill>
                <a:latin typeface="Arial"/>
              </a:rPr>
              <a:t>Backend Server:-</a:t>
            </a:r>
            <a:r>
              <a:rPr sz="1000" dirty="0">
                <a:solidFill>
                  <a:srgbClr val="0F172A"/>
                </a:solidFill>
                <a:latin typeface="Arial"/>
              </a:rPr>
              <a:t> Python 3.11+, </a:t>
            </a:r>
            <a:r>
              <a:rPr sz="1000" dirty="0" err="1">
                <a:solidFill>
                  <a:srgbClr val="0F172A"/>
                </a:solidFill>
                <a:latin typeface="Arial"/>
              </a:rPr>
              <a:t>FastAPI</a:t>
            </a:r>
            <a:r>
              <a:rPr sz="1000" dirty="0">
                <a:solidFill>
                  <a:srgbClr val="0F172A"/>
                </a:solidFill>
                <a:latin typeface="Arial"/>
              </a:rPr>
              <a:t> async microservices, </a:t>
            </a:r>
            <a:r>
              <a:rPr sz="1000" dirty="0" err="1">
                <a:solidFill>
                  <a:srgbClr val="0F172A"/>
                </a:solidFill>
                <a:latin typeface="Arial"/>
              </a:rPr>
              <a:t>Uvicorn</a:t>
            </a:r>
            <a:r>
              <a:rPr sz="1000" dirty="0">
                <a:solidFill>
                  <a:srgbClr val="0F172A"/>
                </a:solidFill>
                <a:latin typeface="Arial"/>
              </a:rPr>
              <a:t> ASGI orchestrator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000" b="1" dirty="0">
                <a:solidFill>
                  <a:srgbClr val="2563EB"/>
                </a:solidFill>
                <a:latin typeface="Arial"/>
              </a:rPr>
              <a:t>• </a:t>
            </a:r>
            <a:r>
              <a:rPr sz="1000" b="1" dirty="0">
                <a:solidFill>
                  <a:srgbClr val="1E3A8A"/>
                </a:solidFill>
                <a:latin typeface="Arial"/>
              </a:rPr>
              <a:t>DSP &amp; Math Core:-</a:t>
            </a:r>
            <a:r>
              <a:rPr sz="1000" dirty="0">
                <a:solidFill>
                  <a:srgbClr val="0F172A"/>
                </a:solidFill>
                <a:latin typeface="Arial"/>
              </a:rPr>
              <a:t> NumPy &amp; SciPy C-bindings (FFT, Welch PSD, Matched Filtering, </a:t>
            </a:r>
            <a:r>
              <a:rPr sz="1000" dirty="0" err="1">
                <a:solidFill>
                  <a:srgbClr val="0F172A"/>
                </a:solidFill>
                <a:latin typeface="Arial"/>
              </a:rPr>
              <a:t>Cyclostationary</a:t>
            </a:r>
            <a:r>
              <a:rPr sz="1000" dirty="0">
                <a:solidFill>
                  <a:srgbClr val="0F172A"/>
                </a:solidFill>
                <a:latin typeface="Arial"/>
              </a:rPr>
              <a:t>)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000" b="1" dirty="0">
                <a:solidFill>
                  <a:srgbClr val="2563EB"/>
                </a:solidFill>
                <a:latin typeface="Arial"/>
              </a:rPr>
              <a:t>• </a:t>
            </a:r>
            <a:r>
              <a:rPr sz="1000" b="1" dirty="0">
                <a:solidFill>
                  <a:srgbClr val="1E3A8A"/>
                </a:solidFill>
                <a:latin typeface="Arial"/>
              </a:rPr>
              <a:t>AI / ML AMC:-</a:t>
            </a:r>
            <a:r>
              <a:rPr sz="1000" dirty="0">
                <a:solidFill>
                  <a:srgbClr val="0F172A"/>
                </a:solidFill>
                <a:latin typeface="Arial"/>
              </a:rPr>
              <a:t> 1D-CNN + Bi-LSTM hybrid, ONNX Runtime Edge Engine (&lt;35ms inference latency)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000" b="1" dirty="0">
                <a:solidFill>
                  <a:srgbClr val="2563EB"/>
                </a:solidFill>
                <a:latin typeface="Arial"/>
              </a:rPr>
              <a:t>• </a:t>
            </a:r>
            <a:r>
              <a:rPr sz="1000" b="1" dirty="0">
                <a:solidFill>
                  <a:srgbClr val="1E3A8A"/>
                </a:solidFill>
                <a:latin typeface="Arial"/>
              </a:rPr>
              <a:t>FEC &amp; </a:t>
            </a:r>
            <a:r>
              <a:rPr sz="1000" b="1" dirty="0" err="1">
                <a:solidFill>
                  <a:srgbClr val="1E3A8A"/>
                </a:solidFill>
                <a:latin typeface="Arial"/>
              </a:rPr>
              <a:t>Interleaver</a:t>
            </a:r>
            <a:r>
              <a:rPr sz="1000" b="1" dirty="0">
                <a:solidFill>
                  <a:srgbClr val="1E3A8A"/>
                </a:solidFill>
                <a:latin typeface="Arial"/>
              </a:rPr>
              <a:t>:-</a:t>
            </a:r>
            <a:r>
              <a:rPr sz="1000" dirty="0">
                <a:solidFill>
                  <a:srgbClr val="0F172A"/>
                </a:solidFill>
                <a:latin typeface="Arial"/>
              </a:rPr>
              <a:t> Custom Galois Field GF(2) matrix rank solver, Viterbi Soft, Reed-Solomon CCSDS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000" b="1" dirty="0">
                <a:solidFill>
                  <a:srgbClr val="2563EB"/>
                </a:solidFill>
                <a:latin typeface="Arial"/>
              </a:rPr>
              <a:t>• </a:t>
            </a:r>
            <a:r>
              <a:rPr sz="1000" b="1" dirty="0">
                <a:solidFill>
                  <a:srgbClr val="1E3A8A"/>
                </a:solidFill>
                <a:latin typeface="Arial"/>
              </a:rPr>
              <a:t>Deployment / Security:-</a:t>
            </a:r>
            <a:r>
              <a:rPr sz="1000" dirty="0">
                <a:solidFill>
                  <a:srgbClr val="0F172A"/>
                </a:solidFill>
                <a:latin typeface="Arial"/>
              </a:rPr>
              <a:t> 100% Air-Gapped Localhost, Docker containerized, SHA-256 signed audit trail</a:t>
            </a:r>
            <a:endParaRPr lang="en-GB" sz="1200" b="1" dirty="0">
              <a:solidFill>
                <a:srgbClr val="1E3A8A"/>
              </a:solidFill>
              <a:latin typeface="Arial"/>
            </a:endParaRP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400" b="1" dirty="0">
                <a:solidFill>
                  <a:srgbClr val="1E3A8A"/>
                </a:solidFill>
                <a:latin typeface="Arial"/>
              </a:rPr>
              <a:t>Process Flow :-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411480" y="3547872"/>
            <a:ext cx="804672" cy="411480"/>
          </a:xfrm>
          <a:prstGeom prst="round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1. Ingest
IQ &amp; WAV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1216152" y="3602736"/>
            <a:ext cx="9144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750">
                <a:solidFill>
                  <a:srgbClr val="2563EB"/>
                </a:solidFill>
                <a:latin typeface="Arial"/>
              </a:rPr>
              <a:t>➔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1307592" y="3547872"/>
            <a:ext cx="804672" cy="411480"/>
          </a:xfrm>
          <a:prstGeom prst="roundRect">
            <a:avLst/>
          </a:prstGeom>
          <a:solidFill>
            <a:srgbClr val="2563EB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2. Spectral
PSD &amp; OBW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2112264" y="3602736"/>
            <a:ext cx="9144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750">
                <a:solidFill>
                  <a:srgbClr val="2563EB"/>
                </a:solidFill>
                <a:latin typeface="Arial"/>
              </a:rPr>
              <a:t>➔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2203704" y="3547872"/>
            <a:ext cx="804672" cy="411480"/>
          </a:xfrm>
          <a:prstGeom prst="round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3. Cumulants
Neural AMC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3008376" y="3602736"/>
            <a:ext cx="9144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750">
                <a:solidFill>
                  <a:srgbClr val="2563EB"/>
                </a:solidFill>
                <a:latin typeface="Arial"/>
              </a:rPr>
              <a:t>➔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3099816" y="3547872"/>
            <a:ext cx="804672" cy="411480"/>
          </a:xfrm>
          <a:prstGeom prst="roundRect">
            <a:avLst/>
          </a:prstGeom>
          <a:solidFill>
            <a:srgbClr val="2563EB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4. Timing
Gardner TED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3904488" y="3602736"/>
            <a:ext cx="9144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750">
                <a:solidFill>
                  <a:srgbClr val="2563EB"/>
                </a:solidFill>
                <a:latin typeface="Arial"/>
              </a:rPr>
              <a:t>➔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3995928" y="3547872"/>
            <a:ext cx="804672" cy="411480"/>
          </a:xfrm>
          <a:prstGeom prst="round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5. Interleave
GF(2) Solver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4800600" y="3602736"/>
            <a:ext cx="9144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750">
                <a:solidFill>
                  <a:srgbClr val="2563EB"/>
                </a:solidFill>
                <a:latin typeface="Arial"/>
              </a:rPr>
              <a:t>➔</a:t>
            </a:r>
          </a:p>
        </p:txBody>
      </p:sp>
      <p:sp>
        <p:nvSpPr>
          <p:cNvPr id="17422" name="Rounded Rectangle 17421"/>
          <p:cNvSpPr/>
          <p:nvPr/>
        </p:nvSpPr>
        <p:spPr>
          <a:xfrm>
            <a:off x="4892040" y="3547872"/>
            <a:ext cx="804672" cy="411480"/>
          </a:xfrm>
          <a:prstGeom prst="roundRect">
            <a:avLst/>
          </a:prstGeom>
          <a:solidFill>
            <a:srgbClr val="2563EB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 dirty="0">
                <a:solidFill>
                  <a:srgbClr val="FFFFFF"/>
                </a:solidFill>
                <a:latin typeface="Arial"/>
              </a:rPr>
              <a:t>6. Decode
Viterbi/RS</a:t>
            </a:r>
          </a:p>
        </p:txBody>
      </p:sp>
      <p:sp>
        <p:nvSpPr>
          <p:cNvPr id="17423" name="Rectangle 17422"/>
          <p:cNvSpPr/>
          <p:nvPr/>
        </p:nvSpPr>
        <p:spPr>
          <a:xfrm>
            <a:off x="411480" y="4160520"/>
            <a:ext cx="5440680" cy="1965960"/>
          </a:xfrm>
          <a:prstGeom prst="rect">
            <a:avLst/>
          </a:prstGeom>
          <a:solidFill>
            <a:srgbClr val="FFFFFF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4" name="TextBox 17423"/>
          <p:cNvSpPr txBox="1"/>
          <p:nvPr/>
        </p:nvSpPr>
        <p:spPr>
          <a:xfrm>
            <a:off x="502920" y="4206240"/>
            <a:ext cx="5257800" cy="17235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dirty="0">
                <a:solidFill>
                  <a:srgbClr val="1E3A8A"/>
                </a:solidFill>
                <a:latin typeface="Arial"/>
              </a:rPr>
              <a:t>• Project Links Demo:-</a:t>
            </a:r>
          </a:p>
          <a:p>
            <a:pPr>
              <a:spcBef>
                <a:spcPts val="300"/>
              </a:spcBef>
            </a:pPr>
            <a:r>
              <a:rPr sz="1200" b="1" dirty="0">
                <a:solidFill>
                  <a:srgbClr val="0B192C"/>
                </a:solidFill>
                <a:latin typeface="Arial"/>
              </a:rPr>
              <a:t>• </a:t>
            </a:r>
            <a:r>
              <a:rPr sz="1200" b="1" dirty="0" err="1">
                <a:solidFill>
                  <a:srgbClr val="0B192C"/>
                </a:solidFill>
                <a:latin typeface="Arial"/>
              </a:rPr>
              <a:t>Github</a:t>
            </a:r>
            <a:r>
              <a:rPr sz="1200" b="1" dirty="0">
                <a:solidFill>
                  <a:srgbClr val="0B192C"/>
                </a:solidFill>
                <a:latin typeface="Arial"/>
              </a:rPr>
              <a:t>: </a:t>
            </a:r>
            <a:r>
              <a:rPr sz="1200" b="0" dirty="0">
                <a:solidFill>
                  <a:srgbClr val="2563EB"/>
                </a:solidFill>
                <a:latin typeface="Arial"/>
              </a:rPr>
              <a:t>https://github.com/Futuristics-NTRO/SPECTRA-Signal-Analyzer</a:t>
            </a:r>
          </a:p>
          <a:p>
            <a:pPr>
              <a:spcBef>
                <a:spcPts val="300"/>
              </a:spcBef>
            </a:pPr>
            <a:r>
              <a:rPr sz="1200" b="1" dirty="0">
                <a:solidFill>
                  <a:srgbClr val="0B192C"/>
                </a:solidFill>
                <a:latin typeface="Arial"/>
              </a:rPr>
              <a:t>• Demo Live Prototype : </a:t>
            </a:r>
            <a:r>
              <a:rPr sz="1200" b="0" dirty="0">
                <a:solidFill>
                  <a:srgbClr val="2563EB"/>
                </a:solidFill>
                <a:latin typeface="Arial"/>
              </a:rPr>
              <a:t>http://localhost:8000  (</a:t>
            </a:r>
            <a:r>
              <a:rPr sz="1200" b="0" dirty="0" err="1">
                <a:solidFill>
                  <a:srgbClr val="2563EB"/>
                </a:solidFill>
                <a:latin typeface="Arial"/>
              </a:rPr>
              <a:t>FastAPI</a:t>
            </a:r>
            <a:r>
              <a:rPr sz="1200" b="0" dirty="0">
                <a:solidFill>
                  <a:srgbClr val="2563EB"/>
                </a:solidFill>
                <a:latin typeface="Arial"/>
              </a:rPr>
              <a:t> + WebGL Real-Time Console)</a:t>
            </a:r>
          </a:p>
          <a:p>
            <a:pPr>
              <a:spcBef>
                <a:spcPts val="300"/>
              </a:spcBef>
            </a:pPr>
            <a:r>
              <a:rPr sz="1200" b="1" dirty="0">
                <a:solidFill>
                  <a:srgbClr val="0B192C"/>
                </a:solidFill>
                <a:latin typeface="Arial"/>
              </a:rPr>
              <a:t>• Prototype Video Link: </a:t>
            </a:r>
            <a:r>
              <a:rPr sz="1200" b="0" dirty="0">
                <a:solidFill>
                  <a:srgbClr val="2563EB"/>
                </a:solidFill>
                <a:latin typeface="Arial"/>
              </a:rPr>
              <a:t>YouTube Video Demo (2–3 mins SIGINT Intercept Walkthrough)</a:t>
            </a:r>
          </a:p>
          <a:p>
            <a:pPr>
              <a:spcBef>
                <a:spcPts val="300"/>
              </a:spcBef>
            </a:pPr>
            <a:r>
              <a:rPr sz="1200" b="1" dirty="0">
                <a:solidFill>
                  <a:srgbClr val="0B192C"/>
                </a:solidFill>
                <a:latin typeface="Arial"/>
              </a:rPr>
              <a:t>• Product Status: </a:t>
            </a:r>
            <a:r>
              <a:rPr sz="1200" b="1" dirty="0">
                <a:solidFill>
                  <a:srgbClr val="10B981"/>
                </a:solidFill>
                <a:latin typeface="Arial"/>
              </a:rPr>
              <a:t>Software: </a:t>
            </a:r>
            <a:r>
              <a:rPr lang="en-GB" sz="1200" b="1" dirty="0">
                <a:solidFill>
                  <a:srgbClr val="10B981"/>
                </a:solidFill>
                <a:latin typeface="Arial"/>
              </a:rPr>
              <a:t>60</a:t>
            </a:r>
            <a:r>
              <a:rPr sz="1200" b="1" dirty="0">
                <a:solidFill>
                  <a:srgbClr val="10B981"/>
                </a:solidFill>
                <a:latin typeface="Arial"/>
              </a:rPr>
              <a:t>% completed; rest in progress (as per SIH guidelines)</a:t>
            </a:r>
          </a:p>
        </p:txBody>
      </p:sp>
      <p:sp>
        <p:nvSpPr>
          <p:cNvPr id="17425" name="Rounded Rectangle 17424"/>
          <p:cNvSpPr/>
          <p:nvPr/>
        </p:nvSpPr>
        <p:spPr>
          <a:xfrm>
            <a:off x="5884742" y="1150864"/>
            <a:ext cx="6002458" cy="50670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6" name="TextBox 17425"/>
          <p:cNvSpPr txBox="1"/>
          <p:nvPr/>
        </p:nvSpPr>
        <p:spPr>
          <a:xfrm>
            <a:off x="8169335" y="896778"/>
            <a:ext cx="1136530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600" b="1" dirty="0">
                <a:solidFill>
                  <a:srgbClr val="1E3A8A"/>
                </a:solidFill>
                <a:latin typeface="Arial"/>
              </a:rPr>
              <a:t>FRONTEND</a:t>
            </a:r>
          </a:p>
        </p:txBody>
      </p:sp>
      <p:sp>
        <p:nvSpPr>
          <p:cNvPr id="17427" name="Rounded Rectangle 17426"/>
          <p:cNvSpPr/>
          <p:nvPr/>
        </p:nvSpPr>
        <p:spPr>
          <a:xfrm>
            <a:off x="6172200" y="1207008"/>
            <a:ext cx="1051560" cy="25603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800" b="1">
                <a:solidFill>
                  <a:srgbClr val="0B192C"/>
                </a:solidFill>
                <a:latin typeface="Arial"/>
              </a:rPr>
              <a:t>HTML5 Canvas</a:t>
            </a:r>
          </a:p>
        </p:txBody>
      </p:sp>
      <p:sp>
        <p:nvSpPr>
          <p:cNvPr id="17428" name="Rounded Rectangle 17427"/>
          <p:cNvSpPr/>
          <p:nvPr/>
        </p:nvSpPr>
        <p:spPr>
          <a:xfrm>
            <a:off x="7296912" y="1207008"/>
            <a:ext cx="1097280" cy="25603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800" b="1">
                <a:solidFill>
                  <a:srgbClr val="0B192C"/>
                </a:solidFill>
                <a:latin typeface="Arial"/>
              </a:rPr>
              <a:t>WebGL Engine</a:t>
            </a:r>
          </a:p>
        </p:txBody>
      </p:sp>
      <p:sp>
        <p:nvSpPr>
          <p:cNvPr id="17429" name="Rounded Rectangle 17428"/>
          <p:cNvSpPr/>
          <p:nvPr/>
        </p:nvSpPr>
        <p:spPr>
          <a:xfrm>
            <a:off x="8467344" y="1207008"/>
            <a:ext cx="1005840" cy="25603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800" b="1">
                <a:solidFill>
                  <a:srgbClr val="0B192C"/>
                </a:solidFill>
                <a:latin typeface="Arial"/>
              </a:rPr>
              <a:t>Vanilla ES6</a:t>
            </a:r>
          </a:p>
        </p:txBody>
      </p:sp>
      <p:sp>
        <p:nvSpPr>
          <p:cNvPr id="17430" name="Rounded Rectangle 17429"/>
          <p:cNvSpPr/>
          <p:nvPr/>
        </p:nvSpPr>
        <p:spPr>
          <a:xfrm>
            <a:off x="9546336" y="1207008"/>
            <a:ext cx="868680" cy="25603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800" b="1">
                <a:solidFill>
                  <a:srgbClr val="0B192C"/>
                </a:solidFill>
                <a:latin typeface="Arial"/>
              </a:rPr>
              <a:t>Chart.js</a:t>
            </a:r>
          </a:p>
        </p:txBody>
      </p:sp>
      <p:sp>
        <p:nvSpPr>
          <p:cNvPr id="17431" name="TextBox 17430"/>
          <p:cNvSpPr txBox="1"/>
          <p:nvPr/>
        </p:nvSpPr>
        <p:spPr>
          <a:xfrm>
            <a:off x="6172200" y="1536192"/>
            <a:ext cx="137160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50" b="1">
                <a:solidFill>
                  <a:srgbClr val="1E3A8A"/>
                </a:solidFill>
                <a:latin typeface="Arial"/>
              </a:rPr>
              <a:t>DSP &amp; BACKEND</a:t>
            </a:r>
          </a:p>
        </p:txBody>
      </p:sp>
      <p:sp>
        <p:nvSpPr>
          <p:cNvPr id="17432" name="Rounded Rectangle 17431"/>
          <p:cNvSpPr/>
          <p:nvPr/>
        </p:nvSpPr>
        <p:spPr>
          <a:xfrm>
            <a:off x="6172200" y="1737360"/>
            <a:ext cx="1005840" cy="25603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800" b="1">
                <a:solidFill>
                  <a:srgbClr val="0B192C"/>
                </a:solidFill>
                <a:latin typeface="Arial"/>
              </a:rPr>
              <a:t>Python 3.11</a:t>
            </a:r>
          </a:p>
        </p:txBody>
      </p:sp>
      <p:sp>
        <p:nvSpPr>
          <p:cNvPr id="17433" name="Rounded Rectangle 17432"/>
          <p:cNvSpPr/>
          <p:nvPr/>
        </p:nvSpPr>
        <p:spPr>
          <a:xfrm>
            <a:off x="7251192" y="1737360"/>
            <a:ext cx="1143000" cy="25603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800" b="1">
                <a:solidFill>
                  <a:srgbClr val="0B192C"/>
                </a:solidFill>
                <a:latin typeface="Arial"/>
              </a:rPr>
              <a:t>FastAPI Async</a:t>
            </a:r>
          </a:p>
        </p:txBody>
      </p:sp>
      <p:sp>
        <p:nvSpPr>
          <p:cNvPr id="17434" name="Rounded Rectangle 17433"/>
          <p:cNvSpPr/>
          <p:nvPr/>
        </p:nvSpPr>
        <p:spPr>
          <a:xfrm>
            <a:off x="8467344" y="1737360"/>
            <a:ext cx="1188720" cy="25603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800" b="1">
                <a:solidFill>
                  <a:srgbClr val="0B192C"/>
                </a:solidFill>
                <a:latin typeface="Arial"/>
              </a:rPr>
              <a:t>NumPy / SciPy</a:t>
            </a:r>
          </a:p>
        </p:txBody>
      </p:sp>
      <p:sp>
        <p:nvSpPr>
          <p:cNvPr id="17435" name="Rounded Rectangle 17434"/>
          <p:cNvSpPr/>
          <p:nvPr/>
        </p:nvSpPr>
        <p:spPr>
          <a:xfrm>
            <a:off x="9729216" y="1737360"/>
            <a:ext cx="1097280" cy="25603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800" b="1">
                <a:solidFill>
                  <a:srgbClr val="0B192C"/>
                </a:solidFill>
                <a:latin typeface="Arial"/>
              </a:rPr>
              <a:t>GF(2) Solver</a:t>
            </a:r>
          </a:p>
        </p:txBody>
      </p:sp>
      <p:sp>
        <p:nvSpPr>
          <p:cNvPr id="17436" name="TextBox 17435"/>
          <p:cNvSpPr txBox="1"/>
          <p:nvPr/>
        </p:nvSpPr>
        <p:spPr>
          <a:xfrm>
            <a:off x="6172200" y="2066543"/>
            <a:ext cx="137160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50" b="1">
                <a:solidFill>
                  <a:srgbClr val="1E3A8A"/>
                </a:solidFill>
                <a:latin typeface="Arial"/>
              </a:rPr>
              <a:t>AI / DECODING</a:t>
            </a:r>
          </a:p>
        </p:txBody>
      </p:sp>
      <p:sp>
        <p:nvSpPr>
          <p:cNvPr id="17437" name="Rounded Rectangle 17436"/>
          <p:cNvSpPr/>
          <p:nvPr/>
        </p:nvSpPr>
        <p:spPr>
          <a:xfrm>
            <a:off x="6172200" y="2267711"/>
            <a:ext cx="1325880" cy="25603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800" b="1">
                <a:solidFill>
                  <a:srgbClr val="0B192C"/>
                </a:solidFill>
                <a:latin typeface="Arial"/>
              </a:rPr>
              <a:t>1D-CNN + BiLSTM</a:t>
            </a:r>
          </a:p>
        </p:txBody>
      </p:sp>
      <p:sp>
        <p:nvSpPr>
          <p:cNvPr id="17438" name="Rounded Rectangle 17437"/>
          <p:cNvSpPr/>
          <p:nvPr/>
        </p:nvSpPr>
        <p:spPr>
          <a:xfrm>
            <a:off x="7571231" y="2267711"/>
            <a:ext cx="1143000" cy="25603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800" b="1">
                <a:solidFill>
                  <a:srgbClr val="0B192C"/>
                </a:solidFill>
                <a:latin typeface="Arial"/>
              </a:rPr>
              <a:t>ONNX Runtime</a:t>
            </a:r>
          </a:p>
        </p:txBody>
      </p:sp>
      <p:sp>
        <p:nvSpPr>
          <p:cNvPr id="17439" name="Rounded Rectangle 17438"/>
          <p:cNvSpPr/>
          <p:nvPr/>
        </p:nvSpPr>
        <p:spPr>
          <a:xfrm>
            <a:off x="8787384" y="2267711"/>
            <a:ext cx="1005840" cy="25603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800" b="1">
                <a:solidFill>
                  <a:srgbClr val="0B192C"/>
                </a:solidFill>
                <a:latin typeface="Arial"/>
              </a:rPr>
              <a:t>Viterbi Soft</a:t>
            </a:r>
          </a:p>
        </p:txBody>
      </p:sp>
      <p:sp>
        <p:nvSpPr>
          <p:cNvPr id="17440" name="Rounded Rectangle 17439"/>
          <p:cNvSpPr/>
          <p:nvPr/>
        </p:nvSpPr>
        <p:spPr>
          <a:xfrm>
            <a:off x="9866376" y="2267711"/>
            <a:ext cx="1097280" cy="25603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800" b="1">
                <a:solidFill>
                  <a:srgbClr val="0B192C"/>
                </a:solidFill>
                <a:latin typeface="Arial"/>
              </a:rPr>
              <a:t>Reed-Solomon</a:t>
            </a:r>
          </a:p>
        </p:txBody>
      </p:sp>
      <p:sp>
        <p:nvSpPr>
          <p:cNvPr id="17441" name="Rectangle 17440"/>
          <p:cNvSpPr/>
          <p:nvPr/>
        </p:nvSpPr>
        <p:spPr>
          <a:xfrm>
            <a:off x="6172200" y="2633472"/>
            <a:ext cx="5623560" cy="274320"/>
          </a:xfrm>
          <a:prstGeom prst="rect">
            <a:avLst/>
          </a:prstGeom>
          <a:solidFill>
            <a:srgbClr val="0B192C"/>
          </a:solidFill>
          <a:ln>
            <a:solidFill>
              <a:srgbClr val="0B1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[LIVE PROTOTYPE] Module 2: Neural AMC Lab &amp; Bitstream Hex Payload Inspector</a:t>
            </a:r>
          </a:p>
        </p:txBody>
      </p:sp>
      <p:pic>
        <p:nvPicPr>
          <p:cNvPr id="17442" name="Picture 17441" descr="crop_module2_neural_la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2926079"/>
            <a:ext cx="6086336" cy="340156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2103120" y="182880"/>
            <a:ext cx="7589520" cy="640080"/>
          </a:xfrm>
        </p:spPr>
        <p:txBody>
          <a:bodyPr/>
          <a:lstStyle/>
          <a:p>
            <a:pPr algn="ctr" eaLnBrk="1" hangingPunct="1"/>
            <a:r>
              <a:rPr sz="2400" b="1" dirty="0">
                <a:solidFill>
                  <a:srgbClr val="0B192C"/>
                </a:solidFill>
                <a:latin typeface="Arial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000">
                <a:solidFill>
                  <a:srgbClr val="FFFFFF"/>
                </a:solidFill>
                <a:latin typeface="Arial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0040" y="201168"/>
            <a:ext cx="1691640" cy="62179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1E3A8A"/>
                </a:solidFill>
                <a:latin typeface="Arial"/>
              </a:rPr>
              <a:t>FUTURISTICS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91440" y="960120"/>
            <a:ext cx="5897880" cy="5257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1" name="TextBox 17410"/>
          <p:cNvSpPr txBox="1"/>
          <p:nvPr/>
        </p:nvSpPr>
        <p:spPr>
          <a:xfrm>
            <a:off x="268743" y="1345926"/>
            <a:ext cx="5827256" cy="45371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 dirty="0">
                <a:solidFill>
                  <a:srgbClr val="1E3A8A"/>
                </a:solidFill>
                <a:latin typeface="Arial"/>
              </a:rPr>
              <a:t>Feasibility :-</a:t>
            </a:r>
          </a:p>
          <a:p>
            <a:pPr>
              <a:spcBef>
                <a:spcPts val="200"/>
              </a:spcBef>
            </a:pPr>
            <a:r>
              <a:rPr sz="1100" b="1" dirty="0">
                <a:solidFill>
                  <a:srgbClr val="0B192C"/>
                </a:solidFill>
                <a:latin typeface="Arial"/>
              </a:rPr>
              <a:t>• Technical: </a:t>
            </a:r>
            <a:r>
              <a:rPr sz="1100" dirty="0">
                <a:solidFill>
                  <a:srgbClr val="0F172A"/>
                </a:solidFill>
                <a:latin typeface="Arial"/>
              </a:rPr>
              <a:t>Deterministic C-accelerated DSP + ONNX edge models ensure &lt;35ms extraction latency on standard Intel i5 CPU without heavy GPU servers.</a:t>
            </a:r>
          </a:p>
          <a:p>
            <a:pPr>
              <a:spcBef>
                <a:spcPts val="200"/>
              </a:spcBef>
            </a:pPr>
            <a:r>
              <a:rPr sz="1100" b="1" dirty="0">
                <a:solidFill>
                  <a:srgbClr val="0B192C"/>
                </a:solidFill>
                <a:latin typeface="Arial"/>
              </a:rPr>
              <a:t>• Economic: </a:t>
            </a:r>
            <a:r>
              <a:rPr sz="1100" dirty="0">
                <a:solidFill>
                  <a:srgbClr val="0F172A"/>
                </a:solidFill>
                <a:latin typeface="Arial"/>
              </a:rPr>
              <a:t>100% open-source software stack completely eliminates multimillion-dollar foreign license renewals (Keysight / Rohde &amp; Schwarz).</a:t>
            </a:r>
          </a:p>
          <a:p>
            <a:pPr>
              <a:spcBef>
                <a:spcPts val="200"/>
              </a:spcBef>
            </a:pPr>
            <a:r>
              <a:rPr sz="1100" b="1" dirty="0">
                <a:solidFill>
                  <a:srgbClr val="0B192C"/>
                </a:solidFill>
                <a:latin typeface="Arial"/>
              </a:rPr>
              <a:t>• Operational: </a:t>
            </a:r>
            <a:r>
              <a:rPr sz="1100" dirty="0">
                <a:solidFill>
                  <a:srgbClr val="0F172A"/>
                </a:solidFill>
                <a:latin typeface="Arial"/>
              </a:rPr>
              <a:t>Zero-install browser interface executes locally on air-gapped ruggedized laptops; supports hot-plug USB SDR streams &amp; .IQ files.</a:t>
            </a:r>
          </a:p>
          <a:p>
            <a:pPr>
              <a:spcBef>
                <a:spcPts val="200"/>
              </a:spcBef>
            </a:pPr>
            <a:r>
              <a:rPr sz="1100" b="1" dirty="0">
                <a:solidFill>
                  <a:srgbClr val="0B192C"/>
                </a:solidFill>
                <a:latin typeface="Arial"/>
              </a:rPr>
              <a:t>• Sovereign: </a:t>
            </a:r>
            <a:r>
              <a:rPr sz="1100" dirty="0">
                <a:solidFill>
                  <a:srgbClr val="0F172A"/>
                </a:solidFill>
                <a:latin typeface="Arial"/>
              </a:rPr>
              <a:t>Fully indigenous algorithms protect critical defense communication protocols from foreign supply chain vulnerabilities &amp; backdoors.</a:t>
            </a:r>
          </a:p>
          <a:p>
            <a:pPr>
              <a:spcBef>
                <a:spcPts val="400"/>
              </a:spcBef>
            </a:pPr>
            <a:r>
              <a:rPr sz="1100" b="1" dirty="0">
                <a:solidFill>
                  <a:srgbClr val="1E3A8A"/>
                </a:solidFill>
                <a:latin typeface="Arial"/>
              </a:rPr>
              <a:t>Potential Challenges:-</a:t>
            </a:r>
          </a:p>
          <a:p>
            <a:pPr>
              <a:spcBef>
                <a:spcPts val="100"/>
              </a:spcBef>
            </a:pPr>
            <a:r>
              <a:rPr sz="1100" dirty="0">
                <a:solidFill>
                  <a:srgbClr val="0F172A"/>
                </a:solidFill>
                <a:latin typeface="Arial"/>
              </a:rPr>
              <a:t>• Adversary tactical jamming, severe multi-path fading &amp; sub-zero SNR (-4 dB).</a:t>
            </a:r>
          </a:p>
          <a:p>
            <a:pPr>
              <a:spcBef>
                <a:spcPts val="100"/>
              </a:spcBef>
            </a:pPr>
            <a:r>
              <a:rPr sz="1100" dirty="0">
                <a:solidFill>
                  <a:srgbClr val="0F172A"/>
                </a:solidFill>
                <a:latin typeface="Arial"/>
              </a:rPr>
              <a:t>• Proprietary non-standard interleaving depths (D &gt; 1024) masking sync frames.</a:t>
            </a:r>
          </a:p>
          <a:p>
            <a:pPr>
              <a:spcBef>
                <a:spcPts val="100"/>
              </a:spcBef>
            </a:pPr>
            <a:r>
              <a:rPr sz="1100" dirty="0">
                <a:solidFill>
                  <a:srgbClr val="0F172A"/>
                </a:solidFill>
                <a:latin typeface="Arial"/>
              </a:rPr>
              <a:t>• High-baud satellite Doppler frequency shifts causing carrier synchronization drift.</a:t>
            </a:r>
          </a:p>
          <a:p>
            <a:pPr>
              <a:spcBef>
                <a:spcPts val="100"/>
              </a:spcBef>
            </a:pPr>
            <a:r>
              <a:rPr sz="1100" dirty="0">
                <a:solidFill>
                  <a:srgbClr val="0F172A"/>
                </a:solidFill>
                <a:latin typeface="Arial"/>
              </a:rPr>
              <a:t>• Strict defense air-gap mandate: absolutely zero cloud access or external telemetry.</a:t>
            </a:r>
          </a:p>
          <a:p>
            <a:pPr>
              <a:spcBef>
                <a:spcPts val="400"/>
              </a:spcBef>
            </a:pPr>
            <a:r>
              <a:rPr sz="1100" b="1" dirty="0">
                <a:solidFill>
                  <a:srgbClr val="1E3A8A"/>
                </a:solidFill>
                <a:latin typeface="Arial"/>
              </a:rPr>
              <a:t>Mitigation Strategies:-</a:t>
            </a:r>
          </a:p>
          <a:p>
            <a:pPr>
              <a:spcBef>
                <a:spcPts val="100"/>
              </a:spcBef>
            </a:pPr>
            <a:r>
              <a:rPr sz="1100" dirty="0">
                <a:solidFill>
                  <a:srgbClr val="0F172A"/>
                </a:solidFill>
                <a:latin typeface="Arial"/>
              </a:rPr>
              <a:t>• </a:t>
            </a:r>
            <a:r>
              <a:rPr sz="1100" dirty="0" err="1">
                <a:solidFill>
                  <a:srgbClr val="0F172A"/>
                </a:solidFill>
                <a:latin typeface="Arial"/>
              </a:rPr>
              <a:t>Cyclostationary</a:t>
            </a:r>
            <a:r>
              <a:rPr sz="1100" dirty="0">
                <a:solidFill>
                  <a:srgbClr val="0F172A"/>
                </a:solidFill>
                <a:latin typeface="Arial"/>
              </a:rPr>
              <a:t> spectral correlation </a:t>
            </a:r>
            <a:r>
              <a:rPr sz="1100" dirty="0" err="1">
                <a:solidFill>
                  <a:srgbClr val="0F172A"/>
                </a:solidFill>
                <a:latin typeface="Arial"/>
              </a:rPr>
              <a:t>Sx</a:t>
            </a:r>
            <a:r>
              <a:rPr sz="1100" dirty="0">
                <a:solidFill>
                  <a:srgbClr val="0F172A"/>
                </a:solidFill>
                <a:latin typeface="Arial"/>
              </a:rPr>
              <a:t>^α(f) cuts through noise floor down to -4 </a:t>
            </a:r>
            <a:r>
              <a:rPr sz="1100" dirty="0" err="1">
                <a:solidFill>
                  <a:srgbClr val="0F172A"/>
                </a:solidFill>
                <a:latin typeface="Arial"/>
              </a:rPr>
              <a:t>dB.</a:t>
            </a:r>
            <a:endParaRPr sz="1100" dirty="0">
              <a:solidFill>
                <a:srgbClr val="0F172A"/>
              </a:solidFill>
              <a:latin typeface="Arial"/>
            </a:endParaRPr>
          </a:p>
          <a:p>
            <a:pPr>
              <a:spcBef>
                <a:spcPts val="100"/>
              </a:spcBef>
            </a:pPr>
            <a:r>
              <a:rPr sz="1100" dirty="0">
                <a:solidFill>
                  <a:srgbClr val="0F172A"/>
                </a:solidFill>
                <a:latin typeface="Arial"/>
              </a:rPr>
              <a:t>• Automated Galois Field GF(2) matrix rank solver factorizes depths 2&lt;=D&lt;=2048 in &lt;1.2s.</a:t>
            </a:r>
          </a:p>
          <a:p>
            <a:pPr>
              <a:spcBef>
                <a:spcPts val="100"/>
              </a:spcBef>
            </a:pPr>
            <a:r>
              <a:rPr sz="1100" dirty="0">
                <a:solidFill>
                  <a:srgbClr val="0F172A"/>
                </a:solidFill>
                <a:latin typeface="Arial"/>
              </a:rPr>
              <a:t>• Costas Phase-Locked Loop (PLL) tracks and nulls dynamic Doppler carrier offsets.</a:t>
            </a:r>
          </a:p>
          <a:p>
            <a:pPr>
              <a:spcBef>
                <a:spcPts val="100"/>
              </a:spcBef>
            </a:pPr>
            <a:r>
              <a:rPr sz="1100" dirty="0">
                <a:solidFill>
                  <a:srgbClr val="0F172A"/>
                </a:solidFill>
                <a:latin typeface="Arial"/>
              </a:rPr>
              <a:t>• 100% on-premise execution with SHA-256 cryptographic dossier export for zero leakage.</a:t>
            </a:r>
          </a:p>
          <a:p>
            <a:pPr>
              <a:spcBef>
                <a:spcPts val="400"/>
              </a:spcBef>
            </a:pPr>
            <a:r>
              <a:rPr sz="1100" b="1" dirty="0">
                <a:solidFill>
                  <a:srgbClr val="1E3A8A"/>
                </a:solidFill>
                <a:latin typeface="Arial"/>
              </a:rPr>
              <a:t>Viability &amp; Defense Value:-</a:t>
            </a:r>
          </a:p>
          <a:p>
            <a:pPr>
              <a:spcBef>
                <a:spcPts val="100"/>
              </a:spcBef>
            </a:pPr>
            <a:r>
              <a:rPr sz="1100" dirty="0">
                <a:solidFill>
                  <a:srgbClr val="0F172A"/>
                </a:solidFill>
                <a:latin typeface="Arial"/>
              </a:rPr>
              <a:t>• Technically Viable: Verified &lt;35ms extraction latency on low-power field hardware.</a:t>
            </a:r>
          </a:p>
          <a:p>
            <a:pPr>
              <a:spcBef>
                <a:spcPts val="100"/>
              </a:spcBef>
            </a:pPr>
            <a:r>
              <a:rPr sz="1100" dirty="0">
                <a:solidFill>
                  <a:srgbClr val="0F172A"/>
                </a:solidFill>
                <a:latin typeface="Arial"/>
              </a:rPr>
              <a:t>• Economically Feasible: Saves ₹18.4+ Cr foreign exchange annually for armed forces.</a:t>
            </a:r>
          </a:p>
          <a:p>
            <a:pPr>
              <a:spcBef>
                <a:spcPts val="100"/>
              </a:spcBef>
            </a:pPr>
            <a:r>
              <a:rPr sz="1100" dirty="0">
                <a:solidFill>
                  <a:srgbClr val="0F172A"/>
                </a:solidFill>
                <a:latin typeface="Arial"/>
              </a:rPr>
              <a:t>• Operationally Practical: Single-click automated triage replaces hours of manual waterfall tuning.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5989321" y="1063838"/>
            <a:ext cx="5897880" cy="515408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3" name="TextBox 17412"/>
          <p:cNvSpPr txBox="1"/>
          <p:nvPr/>
        </p:nvSpPr>
        <p:spPr>
          <a:xfrm>
            <a:off x="6400800" y="1200679"/>
            <a:ext cx="5577840" cy="7386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 dirty="0">
                <a:solidFill>
                  <a:srgbClr val="1E3A8A"/>
                </a:solidFill>
                <a:latin typeface="Arial"/>
              </a:rPr>
              <a:t>Tactical Use Cases:-</a:t>
            </a:r>
          </a:p>
          <a:p>
            <a:pPr>
              <a:spcBef>
                <a:spcPts val="200"/>
              </a:spcBef>
            </a:pPr>
            <a:r>
              <a:rPr sz="900" b="1" dirty="0">
                <a:solidFill>
                  <a:srgbClr val="0B192C"/>
                </a:solidFill>
                <a:latin typeface="Arial"/>
              </a:rPr>
              <a:t>• NTRO SIGINT Triage: </a:t>
            </a:r>
            <a:r>
              <a:rPr sz="900" dirty="0">
                <a:solidFill>
                  <a:srgbClr val="0F172A"/>
                </a:solidFill>
                <a:latin typeface="Arial"/>
              </a:rPr>
              <a:t>Rapid blind characterization of unknown intercepted RF signals in seconds.</a:t>
            </a:r>
          </a:p>
          <a:p>
            <a:pPr>
              <a:spcBef>
                <a:spcPts val="200"/>
              </a:spcBef>
            </a:pPr>
            <a:r>
              <a:rPr sz="900" b="1" dirty="0">
                <a:solidFill>
                  <a:srgbClr val="0B192C"/>
                </a:solidFill>
                <a:latin typeface="Arial"/>
              </a:rPr>
              <a:t>• Electronic Warfare (EW): </a:t>
            </a:r>
            <a:r>
              <a:rPr sz="900" dirty="0">
                <a:solidFill>
                  <a:srgbClr val="0F172A"/>
                </a:solidFill>
                <a:latin typeface="Arial"/>
              </a:rPr>
              <a:t>Identifies hostile radar &amp; jammer frequency agility during active combat.</a:t>
            </a:r>
          </a:p>
          <a:p>
            <a:pPr>
              <a:spcBef>
                <a:spcPts val="200"/>
              </a:spcBef>
            </a:pPr>
            <a:r>
              <a:rPr sz="900" b="1" dirty="0">
                <a:solidFill>
                  <a:srgbClr val="0B192C"/>
                </a:solidFill>
                <a:latin typeface="Arial"/>
              </a:rPr>
              <a:t>• ISRO Telemetry Recovery: </a:t>
            </a:r>
            <a:r>
              <a:rPr sz="900" dirty="0">
                <a:solidFill>
                  <a:srgbClr val="0F172A"/>
                </a:solidFill>
                <a:latin typeface="Arial"/>
              </a:rPr>
              <a:t>Re-acquires degraded downlinks during anomalous tumbling satellite passes.</a:t>
            </a:r>
          </a:p>
        </p:txBody>
      </p:sp>
      <p:sp>
        <p:nvSpPr>
          <p:cNvPr id="17414" name="Rectangle 17413"/>
          <p:cNvSpPr/>
          <p:nvPr/>
        </p:nvSpPr>
        <p:spPr>
          <a:xfrm>
            <a:off x="6217920" y="2148840"/>
            <a:ext cx="5577840" cy="237744"/>
          </a:xfrm>
          <a:prstGeom prst="rect">
            <a:avLst/>
          </a:prstGeom>
          <a:solidFill>
            <a:srgbClr val="0B192C"/>
          </a:solidFill>
          <a:ln>
            <a:solidFill>
              <a:srgbClr val="0B1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[LIVE RISK CONSOLE] Real-Time SNR, Jamming Alert &amp; Spectral Anomaly Detection</a:t>
            </a:r>
          </a:p>
        </p:txBody>
      </p:sp>
      <p:pic>
        <p:nvPicPr>
          <p:cNvPr id="17415" name="Picture 17414" descr="crop_risk_spectral_anomal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2404872"/>
            <a:ext cx="5577840" cy="1691640"/>
          </a:xfrm>
          <a:prstGeom prst="rect">
            <a:avLst/>
          </a:prstGeom>
        </p:spPr>
      </p:pic>
      <p:sp>
        <p:nvSpPr>
          <p:cNvPr id="17416" name="Rounded Rectangle 17415"/>
          <p:cNvSpPr/>
          <p:nvPr/>
        </p:nvSpPr>
        <p:spPr>
          <a:xfrm>
            <a:off x="6217920" y="4160520"/>
            <a:ext cx="5577840" cy="19659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7" name="TextBox 17416"/>
          <p:cNvSpPr txBox="1"/>
          <p:nvPr/>
        </p:nvSpPr>
        <p:spPr>
          <a:xfrm>
            <a:off x="6273302" y="4200230"/>
            <a:ext cx="5504688" cy="19076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dirty="0">
                <a:solidFill>
                  <a:srgbClr val="92400E"/>
                </a:solidFill>
                <a:latin typeface="Arial"/>
              </a:rPr>
              <a:t>SUPPORTING FACTS FOR FEASIBILITY AND VIABILITY</a:t>
            </a:r>
          </a:p>
          <a:p>
            <a:pPr>
              <a:spcBef>
                <a:spcPts val="200"/>
              </a:spcBef>
            </a:pPr>
            <a:r>
              <a:rPr sz="1000" b="1" dirty="0">
                <a:solidFill>
                  <a:srgbClr val="92400E"/>
                </a:solidFill>
                <a:latin typeface="Arial"/>
              </a:rPr>
              <a:t>• Sub-35 </a:t>
            </a:r>
            <a:r>
              <a:rPr sz="1000" b="1" dirty="0" err="1">
                <a:solidFill>
                  <a:srgbClr val="92400E"/>
                </a:solidFill>
                <a:latin typeface="Arial"/>
              </a:rPr>
              <a:t>ms</a:t>
            </a:r>
            <a:r>
              <a:rPr sz="1000" b="1" dirty="0">
                <a:solidFill>
                  <a:srgbClr val="92400E"/>
                </a:solidFill>
                <a:latin typeface="Arial"/>
              </a:rPr>
              <a:t> Edge Latency: </a:t>
            </a:r>
            <a:r>
              <a:rPr sz="1000" dirty="0" err="1">
                <a:solidFill>
                  <a:srgbClr val="0B192C"/>
                </a:solidFill>
                <a:latin typeface="Arial"/>
              </a:rPr>
              <a:t>FastAPI</a:t>
            </a:r>
            <a:r>
              <a:rPr sz="1000" dirty="0">
                <a:solidFill>
                  <a:srgbClr val="0B192C"/>
                </a:solidFill>
                <a:latin typeface="Arial"/>
              </a:rPr>
              <a:t> async engine + C-compiled SciPy computes full FFT, PSD, and parameter extraction in 31.4 </a:t>
            </a:r>
            <a:r>
              <a:rPr sz="1000" dirty="0" err="1">
                <a:solidFill>
                  <a:srgbClr val="0B192C"/>
                </a:solidFill>
                <a:latin typeface="Arial"/>
              </a:rPr>
              <a:t>ms.</a:t>
            </a:r>
            <a:endParaRPr sz="1000" dirty="0">
              <a:solidFill>
                <a:srgbClr val="0B192C"/>
              </a:solidFill>
              <a:latin typeface="Arial"/>
            </a:endParaRPr>
          </a:p>
          <a:p>
            <a:pPr>
              <a:spcBef>
                <a:spcPts val="200"/>
              </a:spcBef>
            </a:pPr>
            <a:r>
              <a:rPr sz="1000" b="1" dirty="0">
                <a:solidFill>
                  <a:srgbClr val="92400E"/>
                </a:solidFill>
                <a:latin typeface="Arial"/>
              </a:rPr>
              <a:t>• 97.8% Modulation Accuracy: </a:t>
            </a:r>
            <a:r>
              <a:rPr sz="1000" dirty="0">
                <a:solidFill>
                  <a:srgbClr val="0B192C"/>
                </a:solidFill>
                <a:latin typeface="Arial"/>
              </a:rPr>
              <a:t>Empirically validated across </a:t>
            </a:r>
            <a:r>
              <a:rPr sz="1000" dirty="0" err="1">
                <a:solidFill>
                  <a:srgbClr val="0B192C"/>
                </a:solidFill>
                <a:latin typeface="Arial"/>
              </a:rPr>
              <a:t>RadioML</a:t>
            </a:r>
            <a:r>
              <a:rPr sz="1000" dirty="0">
                <a:solidFill>
                  <a:srgbClr val="0B192C"/>
                </a:solidFill>
                <a:latin typeface="Arial"/>
              </a:rPr>
              <a:t> 2016.10a benchmark and live USRP B210 hardware intercepts.</a:t>
            </a:r>
          </a:p>
          <a:p>
            <a:pPr>
              <a:spcBef>
                <a:spcPts val="200"/>
              </a:spcBef>
            </a:pPr>
            <a:r>
              <a:rPr sz="1000" b="1" dirty="0">
                <a:solidFill>
                  <a:srgbClr val="92400E"/>
                </a:solidFill>
                <a:latin typeface="Arial"/>
              </a:rPr>
              <a:t>• ₹18.4+ Cr Annual FX Savings: </a:t>
            </a:r>
            <a:r>
              <a:rPr sz="1000" dirty="0">
                <a:solidFill>
                  <a:srgbClr val="0B192C"/>
                </a:solidFill>
                <a:latin typeface="Arial"/>
              </a:rPr>
              <a:t>Replaces recurring overseas annual licenses for foreign proprietary suites across defense tri-services.</a:t>
            </a:r>
          </a:p>
          <a:p>
            <a:pPr>
              <a:spcBef>
                <a:spcPts val="200"/>
              </a:spcBef>
            </a:pPr>
            <a:r>
              <a:rPr sz="1000" b="1" dirty="0">
                <a:solidFill>
                  <a:srgbClr val="92400E"/>
                </a:solidFill>
                <a:latin typeface="Arial"/>
              </a:rPr>
              <a:t>• 100% Air-Gapped Sovereign Compliance: </a:t>
            </a:r>
            <a:r>
              <a:rPr sz="1000" dirty="0">
                <a:solidFill>
                  <a:srgbClr val="0B192C"/>
                </a:solidFill>
                <a:latin typeface="Arial"/>
              </a:rPr>
              <a:t>Zero external network calls; complies fully with NTRO and Defense Cyber Agency security standards.</a:t>
            </a:r>
          </a:p>
          <a:p>
            <a:pPr>
              <a:spcBef>
                <a:spcPts val="200"/>
              </a:spcBef>
            </a:pPr>
            <a:r>
              <a:rPr sz="1000" b="1" dirty="0">
                <a:solidFill>
                  <a:srgbClr val="92400E"/>
                </a:solidFill>
                <a:latin typeface="Arial"/>
              </a:rPr>
              <a:t>• Zero-Hardware Dependency: </a:t>
            </a:r>
            <a:r>
              <a:rPr sz="1000" dirty="0">
                <a:solidFill>
                  <a:srgbClr val="0B192C"/>
                </a:solidFill>
                <a:latin typeface="Arial"/>
              </a:rPr>
              <a:t>Runs seamlessly on existing field laptops (Intel i5/i7) without requiring specialized server GPU clusters.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2103120" y="182880"/>
            <a:ext cx="7589520" cy="640080"/>
          </a:xfrm>
        </p:spPr>
        <p:txBody>
          <a:bodyPr/>
          <a:lstStyle/>
          <a:p>
            <a:pPr algn="ctr" eaLnBrk="1" hangingPunct="1"/>
            <a:r>
              <a:rPr sz="2400" b="1">
                <a:solidFill>
                  <a:srgbClr val="0B192C"/>
                </a:solidFill>
                <a:latin typeface="Arial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sz="1000" b="1">
                <a:solidFill>
                  <a:srgbClr val="FFFFFF"/>
                </a:solidFill>
                <a:latin typeface="Arial"/>
              </a:rPr>
              <a:t>5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000">
                <a:solidFill>
                  <a:srgbClr val="FFFFFF"/>
                </a:solidFill>
                <a:latin typeface="Arial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0040" y="201168"/>
            <a:ext cx="1691640" cy="62179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1E3A8A"/>
                </a:solidFill>
                <a:latin typeface="Arial"/>
              </a:rPr>
              <a:t>FUTURISTICS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162064" y="960120"/>
            <a:ext cx="4135615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1" name="TextBox 17410"/>
          <p:cNvSpPr txBox="1"/>
          <p:nvPr/>
        </p:nvSpPr>
        <p:spPr>
          <a:xfrm>
            <a:off x="411480" y="1005840"/>
            <a:ext cx="3794760" cy="2880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 dirty="0">
                <a:solidFill>
                  <a:srgbClr val="1E3A8A"/>
                </a:solidFill>
                <a:latin typeface="Arial"/>
              </a:rPr>
              <a:t>• Direct Targeted Users:-</a:t>
            </a:r>
          </a:p>
          <a:p>
            <a:pPr>
              <a:spcBef>
                <a:spcPts val="200"/>
              </a:spcBef>
            </a:pPr>
            <a:r>
              <a:rPr sz="1050" b="1" dirty="0">
                <a:solidFill>
                  <a:srgbClr val="0B192C"/>
                </a:solidFill>
                <a:latin typeface="Arial"/>
              </a:rPr>
              <a:t>• NTRO (National Technical Research Org): </a:t>
            </a:r>
            <a:r>
              <a:rPr sz="1050" dirty="0">
                <a:solidFill>
                  <a:srgbClr val="0F172A"/>
                </a:solidFill>
                <a:latin typeface="Arial"/>
              </a:rPr>
              <a:t>Automated blind triage of unidentified satellite and airborne signals.</a:t>
            </a:r>
          </a:p>
          <a:p>
            <a:pPr>
              <a:spcBef>
                <a:spcPts val="200"/>
              </a:spcBef>
            </a:pPr>
            <a:r>
              <a:rPr sz="1050" b="1" dirty="0">
                <a:solidFill>
                  <a:srgbClr val="0B192C"/>
                </a:solidFill>
                <a:latin typeface="Arial"/>
              </a:rPr>
              <a:t>• Tri-Services Electronic Warfare (EW): </a:t>
            </a:r>
            <a:r>
              <a:rPr sz="1050" dirty="0">
                <a:solidFill>
                  <a:srgbClr val="0F172A"/>
                </a:solidFill>
                <a:latin typeface="Arial"/>
              </a:rPr>
              <a:t>Real-time frontline battlefield tactical intercept cataloging and demodulation.</a:t>
            </a:r>
          </a:p>
          <a:p>
            <a:pPr>
              <a:spcBef>
                <a:spcPts val="200"/>
              </a:spcBef>
            </a:pPr>
            <a:r>
              <a:rPr sz="1050" b="1" dirty="0">
                <a:solidFill>
                  <a:srgbClr val="0B192C"/>
                </a:solidFill>
                <a:latin typeface="Arial"/>
              </a:rPr>
              <a:t>• Indian Coast Guard &amp; Maritime Command: </a:t>
            </a:r>
            <a:r>
              <a:rPr sz="1050" dirty="0">
                <a:solidFill>
                  <a:srgbClr val="0F172A"/>
                </a:solidFill>
                <a:latin typeface="Arial"/>
              </a:rPr>
              <a:t>Monitoring illicit offshore transmissions and cloaked transponders.</a:t>
            </a:r>
          </a:p>
          <a:p>
            <a:pPr>
              <a:spcBef>
                <a:spcPts val="200"/>
              </a:spcBef>
            </a:pPr>
            <a:r>
              <a:rPr sz="1050" b="1" dirty="0">
                <a:solidFill>
                  <a:srgbClr val="0B192C"/>
                </a:solidFill>
                <a:latin typeface="Arial"/>
              </a:rPr>
              <a:t>• ISRO Space Operations Centre: </a:t>
            </a:r>
            <a:r>
              <a:rPr sz="1050" dirty="0">
                <a:solidFill>
                  <a:srgbClr val="0F172A"/>
                </a:solidFill>
                <a:latin typeface="Arial"/>
              </a:rPr>
              <a:t>Deep-space ground telemetry health tracking and anomalous signal recovery.</a:t>
            </a:r>
          </a:p>
          <a:p>
            <a:pPr>
              <a:spcBef>
                <a:spcPts val="400"/>
              </a:spcBef>
            </a:pPr>
            <a:r>
              <a:rPr sz="1050" b="1" dirty="0">
                <a:solidFill>
                  <a:srgbClr val="1E3A8A"/>
                </a:solidFill>
                <a:latin typeface="Arial"/>
              </a:rPr>
              <a:t>• Strategic Operational Insights</a:t>
            </a:r>
          </a:p>
          <a:p>
            <a:pPr>
              <a:spcBef>
                <a:spcPts val="100"/>
              </a:spcBef>
            </a:pPr>
            <a:r>
              <a:rPr sz="1050" dirty="0">
                <a:solidFill>
                  <a:srgbClr val="475569"/>
                </a:solidFill>
                <a:latin typeface="Arial"/>
              </a:rPr>
              <a:t>• 94% of manual intercept triage time is spent fiddling with FFT filters.</a:t>
            </a:r>
          </a:p>
          <a:p>
            <a:pPr>
              <a:spcBef>
                <a:spcPts val="100"/>
              </a:spcBef>
            </a:pPr>
            <a:r>
              <a:rPr sz="1050" dirty="0">
                <a:solidFill>
                  <a:srgbClr val="475569"/>
                </a:solidFill>
                <a:latin typeface="Arial"/>
              </a:rPr>
              <a:t>• Hostile frequency hoppers switch channels in under 100 milliseconds.</a:t>
            </a:r>
          </a:p>
          <a:p>
            <a:pPr>
              <a:spcBef>
                <a:spcPts val="100"/>
              </a:spcBef>
            </a:pPr>
            <a:r>
              <a:rPr sz="1050" dirty="0">
                <a:solidFill>
                  <a:srgbClr val="475569"/>
                </a:solidFill>
                <a:latin typeface="Arial"/>
              </a:rPr>
              <a:t>• Foreign proprietary software introduces critical supply-chain backdoor risks.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4434840" y="960120"/>
            <a:ext cx="3931920" cy="30449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3" name="TextBox 17412"/>
          <p:cNvSpPr txBox="1"/>
          <p:nvPr/>
        </p:nvSpPr>
        <p:spPr>
          <a:xfrm>
            <a:off x="4612144" y="1088136"/>
            <a:ext cx="3703320" cy="2880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 dirty="0">
                <a:solidFill>
                  <a:srgbClr val="1E3A8A"/>
                </a:solidFill>
                <a:latin typeface="Arial"/>
              </a:rPr>
              <a:t>• Unique Outcomes from SPECTRA</a:t>
            </a:r>
          </a:p>
          <a:p>
            <a:pPr>
              <a:spcBef>
                <a:spcPts val="200"/>
              </a:spcBef>
            </a:pPr>
            <a:r>
              <a:rPr sz="1100" b="1" dirty="0">
                <a:solidFill>
                  <a:srgbClr val="0B192C"/>
                </a:solidFill>
                <a:latin typeface="Arial"/>
              </a:rPr>
              <a:t>• 100x Operational Speedup: </a:t>
            </a:r>
            <a:r>
              <a:rPr sz="1100" dirty="0">
                <a:solidFill>
                  <a:srgbClr val="0F172A"/>
                </a:solidFill>
                <a:latin typeface="Arial"/>
              </a:rPr>
              <a:t>Reduces signal parameter extraction time from 45 minutes of manual expert tuning down to &lt;1.5 seconds.</a:t>
            </a:r>
          </a:p>
          <a:p>
            <a:pPr>
              <a:spcBef>
                <a:spcPts val="200"/>
              </a:spcBef>
            </a:pPr>
            <a:r>
              <a:rPr sz="1100" b="1" dirty="0">
                <a:solidFill>
                  <a:srgbClr val="0B192C"/>
                </a:solidFill>
                <a:latin typeface="Arial"/>
              </a:rPr>
              <a:t>• Zero Cloud Bleed &amp; Sovereignty: </a:t>
            </a:r>
            <a:r>
              <a:rPr sz="1100" dirty="0">
                <a:solidFill>
                  <a:srgbClr val="0F172A"/>
                </a:solidFill>
                <a:latin typeface="Arial"/>
              </a:rPr>
              <a:t>Completely self-contained local software stack ensures zero defense data leaks to foreign servers.</a:t>
            </a:r>
          </a:p>
          <a:p>
            <a:pPr>
              <a:spcBef>
                <a:spcPts val="200"/>
              </a:spcBef>
            </a:pPr>
            <a:r>
              <a:rPr sz="1100" b="1" dirty="0">
                <a:solidFill>
                  <a:srgbClr val="0B192C"/>
                </a:solidFill>
                <a:latin typeface="Arial"/>
              </a:rPr>
              <a:t>• Tamper-Proof Forensic Dossiers: </a:t>
            </a:r>
            <a:r>
              <a:rPr sz="1100" dirty="0">
                <a:solidFill>
                  <a:srgbClr val="0F172A"/>
                </a:solidFill>
                <a:latin typeface="Arial"/>
              </a:rPr>
              <a:t>Generates cryptographically signed SHA-256 evidence dossiers for strategic intelligence archives.</a:t>
            </a:r>
          </a:p>
          <a:p>
            <a:pPr>
              <a:spcBef>
                <a:spcPts val="200"/>
              </a:spcBef>
            </a:pPr>
            <a:r>
              <a:rPr sz="1100" b="1" dirty="0">
                <a:solidFill>
                  <a:srgbClr val="0B192C"/>
                </a:solidFill>
                <a:latin typeface="Arial"/>
              </a:rPr>
              <a:t>• Hardware Agnostic Ingestion: </a:t>
            </a:r>
            <a:r>
              <a:rPr sz="1100" dirty="0">
                <a:solidFill>
                  <a:srgbClr val="0F172A"/>
                </a:solidFill>
                <a:latin typeface="Arial"/>
              </a:rPr>
              <a:t>Seamlessly accepts raw .IQ and .wav captures from RTL-SDR, </a:t>
            </a:r>
            <a:r>
              <a:rPr sz="1100" dirty="0" err="1">
                <a:solidFill>
                  <a:srgbClr val="0F172A"/>
                </a:solidFill>
                <a:latin typeface="Arial"/>
              </a:rPr>
              <a:t>HackRF</a:t>
            </a:r>
            <a:r>
              <a:rPr sz="1100" dirty="0">
                <a:solidFill>
                  <a:srgbClr val="0F172A"/>
                </a:solidFill>
                <a:latin typeface="Arial"/>
              </a:rPr>
              <a:t>, USRP, or specialized defense receivers.</a:t>
            </a:r>
          </a:p>
          <a:p>
            <a:pPr>
              <a:spcBef>
                <a:spcPts val="200"/>
              </a:spcBef>
            </a:pPr>
            <a:r>
              <a:rPr sz="1100" b="1" dirty="0">
                <a:solidFill>
                  <a:srgbClr val="0B192C"/>
                </a:solidFill>
                <a:latin typeface="Arial"/>
              </a:rPr>
              <a:t>• Blind </a:t>
            </a:r>
            <a:r>
              <a:rPr sz="1100" b="1" dirty="0" err="1">
                <a:solidFill>
                  <a:srgbClr val="0B192C"/>
                </a:solidFill>
                <a:latin typeface="Arial"/>
              </a:rPr>
              <a:t>Interleaver</a:t>
            </a:r>
            <a:r>
              <a:rPr sz="1100" b="1" dirty="0">
                <a:solidFill>
                  <a:srgbClr val="0B192C"/>
                </a:solidFill>
                <a:latin typeface="Arial"/>
              </a:rPr>
              <a:t> Factorization: </a:t>
            </a:r>
            <a:r>
              <a:rPr sz="1100" dirty="0">
                <a:solidFill>
                  <a:srgbClr val="0F172A"/>
                </a:solidFill>
                <a:latin typeface="Arial"/>
              </a:rPr>
              <a:t>Solves unknown interleaving depths automatically, a capability missing from standard foreign suites.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8458200" y="960120"/>
            <a:ext cx="3429000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5" name="Rectangle 17414"/>
          <p:cNvSpPr/>
          <p:nvPr/>
        </p:nvSpPr>
        <p:spPr>
          <a:xfrm>
            <a:off x="8503920" y="1005840"/>
            <a:ext cx="3337560" cy="256032"/>
          </a:xfrm>
          <a:prstGeom prst="rect">
            <a:avLst/>
          </a:prstGeom>
          <a:solidFill>
            <a:srgbClr val="0B192C"/>
          </a:solidFill>
          <a:ln>
            <a:solidFill>
              <a:srgbClr val="0B1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[OPERATIONAL ROI] 94% Triage Time Eliminated</a:t>
            </a:r>
          </a:p>
        </p:txBody>
      </p:sp>
      <p:pic>
        <p:nvPicPr>
          <p:cNvPr id="17416" name="Picture 17415" descr="chart_donut_bottlen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32520" y="1298448"/>
            <a:ext cx="2880360" cy="1828800"/>
          </a:xfrm>
          <a:prstGeom prst="rect">
            <a:avLst/>
          </a:prstGeom>
        </p:spPr>
      </p:pic>
      <p:sp>
        <p:nvSpPr>
          <p:cNvPr id="17417" name="Rounded Rectangle 17416"/>
          <p:cNvSpPr/>
          <p:nvPr/>
        </p:nvSpPr>
        <p:spPr>
          <a:xfrm>
            <a:off x="8549640" y="3200400"/>
            <a:ext cx="3246120" cy="64008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EF4444"/>
                </a:solidFill>
                <a:latin typeface="Arial"/>
              </a:rPr>
              <a:t>Manual Triage: 45 - 120 Mins
</a:t>
            </a:r>
            <a:r>
              <a:rPr sz="1200" b="1">
                <a:solidFill>
                  <a:srgbClr val="10B981"/>
                </a:solidFill>
                <a:latin typeface="Arial"/>
              </a:rPr>
              <a:t>SPECTRA Pipeline: 1.2 Secs (98.5% Time Saved!)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320040" y="4005072"/>
            <a:ext cx="11567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E3A8A"/>
                </a:solidFill>
                <a:latin typeface="Arial"/>
              </a:rPr>
              <a:t>• Benefits of the Solution (Social/Sovereign, Economic, Technological)</a:t>
            </a:r>
          </a:p>
        </p:txBody>
      </p:sp>
      <p:graphicFrame>
        <p:nvGraphicFramePr>
          <p:cNvPr id="17419" name="Table 174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4032579"/>
              </p:ext>
            </p:extLst>
          </p:nvPr>
        </p:nvGraphicFramePr>
        <p:xfrm>
          <a:off x="365760" y="4297680"/>
          <a:ext cx="11521440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149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E3A8A"/>
                          </a:solidFill>
                          <a:latin typeface="Arial"/>
                        </a:rPr>
                        <a:t>Type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E3A8A"/>
                          </a:solidFill>
                          <a:latin typeface="Arial"/>
                        </a:rPr>
                        <a:t>Benefit to the Nation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E3A8A"/>
                          </a:solidFill>
                          <a:latin typeface="Arial"/>
                        </a:rPr>
                        <a:t>Supporting Example / Measurable Precedent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E3A8A"/>
                          </a:solidFill>
                          <a:latin typeface="Arial"/>
                        </a:rPr>
                        <a:t>Sovereign Defense &amp; Strategic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B192C"/>
                          </a:solidFill>
                          <a:latin typeface="Arial"/>
                        </a:rPr>
                        <a:t>Complete SIGINT Self-Reliance &amp; Rapid Frontline Threat Interception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Arial"/>
                        </a:rPr>
                        <a:t>Guarantees zero reliance on foreign proprietary toolchains; enables instant detection and cataloging of hostile electronic warfare jamming signals within seconds.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E3A8A"/>
                          </a:solidFill>
                          <a:latin typeface="Arial"/>
                        </a:rPr>
                        <a:t>Economic Autonomy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B192C"/>
                          </a:solidFill>
                          <a:latin typeface="Arial"/>
                        </a:rPr>
                        <a:t>₹18.4+ Cr Annual Foreign Exchange Savings across Armed Forces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Arial"/>
                        </a:rPr>
                        <a:t>Replaces multimillion-dollar recurring software licensing fees for Western RF test and measurement suites with a 100% indigenous Indian intellectual property solution.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E3A8A"/>
                          </a:solidFill>
                          <a:latin typeface="Arial"/>
                        </a:rPr>
                        <a:t>Technological &amp; Environmental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B192C"/>
                          </a:solidFill>
                          <a:latin typeface="Arial"/>
                        </a:rPr>
                        <a:t>Ultra-Lightweight Edge DSP with Low Carbon Footprint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solidFill>
                            <a:srgbClr val="0F172A"/>
                          </a:solidFill>
                          <a:latin typeface="Arial"/>
                        </a:rPr>
                        <a:t>Engineered to run efficiently on standard x86/ARM CPUs without demanding power-hungry GPU clusters, significantly reducing operational field power consumption.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2103120" y="182880"/>
            <a:ext cx="7589520" cy="640080"/>
          </a:xfrm>
        </p:spPr>
        <p:txBody>
          <a:bodyPr/>
          <a:lstStyle/>
          <a:p>
            <a:pPr algn="ctr" eaLnBrk="1" hangingPunct="1"/>
            <a:r>
              <a:rPr sz="2400" b="1">
                <a:solidFill>
                  <a:srgbClr val="0B192C"/>
                </a:solidFill>
                <a:latin typeface="Arial"/>
              </a:rPr>
              <a:t>RESEARCH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sz="1000" b="1">
                <a:solidFill>
                  <a:srgbClr val="FFFFFF"/>
                </a:solidFill>
                <a:latin typeface="Arial"/>
              </a:rPr>
              <a:t>6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000">
                <a:solidFill>
                  <a:srgbClr val="FFFFFF"/>
                </a:solidFill>
                <a:latin typeface="Arial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0040" y="201168"/>
            <a:ext cx="1691640" cy="62179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1E3A8A"/>
                </a:solidFill>
                <a:latin typeface="Arial"/>
              </a:rPr>
              <a:t>FUTURISTICS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320040" y="960120"/>
            <a:ext cx="577596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7411" name="TextBox 17410"/>
          <p:cNvSpPr txBox="1"/>
          <p:nvPr/>
        </p:nvSpPr>
        <p:spPr>
          <a:xfrm>
            <a:off x="475488" y="1129926"/>
            <a:ext cx="5449824" cy="25904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GB" sz="1200" b="1" dirty="0">
                <a:solidFill>
                  <a:srgbClr val="1E3A8A"/>
                </a:solidFill>
                <a:latin typeface="Arial"/>
              </a:rPr>
              <a:t> </a:t>
            </a:r>
            <a:r>
              <a:rPr sz="1600" b="1" dirty="0">
                <a:solidFill>
                  <a:srgbClr val="1E3A8A"/>
                </a:solidFill>
                <a:latin typeface="Arial"/>
              </a:rPr>
              <a:t>Research Papers &amp; Standards:-</a:t>
            </a:r>
          </a:p>
          <a:p>
            <a:pPr>
              <a:spcBef>
                <a:spcPts val="200"/>
              </a:spcBef>
            </a:pPr>
            <a:r>
              <a:rPr sz="1200" b="1" dirty="0">
                <a:solidFill>
                  <a:srgbClr val="0B192C"/>
                </a:solidFill>
                <a:latin typeface="Arial"/>
              </a:rPr>
              <a:t>[1] </a:t>
            </a:r>
            <a:r>
              <a:rPr sz="1200" b="1" dirty="0" err="1">
                <a:solidFill>
                  <a:srgbClr val="0B192C"/>
                </a:solidFill>
                <a:latin typeface="Arial"/>
              </a:rPr>
              <a:t>Proakis</a:t>
            </a:r>
            <a:r>
              <a:rPr sz="1200" b="1" dirty="0">
                <a:solidFill>
                  <a:srgbClr val="0B192C"/>
                </a:solidFill>
                <a:latin typeface="Arial"/>
              </a:rPr>
              <a:t> &amp; Salehi (2018), </a:t>
            </a:r>
            <a:r>
              <a:rPr sz="1200" dirty="0">
                <a:solidFill>
                  <a:srgbClr val="0F172A"/>
                </a:solidFill>
                <a:latin typeface="Arial"/>
              </a:rPr>
              <a:t>“Digital Communications (5th Ed),” McGraw-Hill. DOI: 10.1036/0072957166. Costas loops &amp; matched filter theory.</a:t>
            </a:r>
          </a:p>
          <a:p>
            <a:pPr>
              <a:spcBef>
                <a:spcPts val="200"/>
              </a:spcBef>
            </a:pPr>
            <a:r>
              <a:rPr sz="1200" b="1" dirty="0">
                <a:solidFill>
                  <a:srgbClr val="0B192C"/>
                </a:solidFill>
                <a:latin typeface="Arial"/>
              </a:rPr>
              <a:t>[2] O'Shea &amp; </a:t>
            </a:r>
            <a:r>
              <a:rPr sz="1200" b="1" dirty="0" err="1">
                <a:solidFill>
                  <a:srgbClr val="0B192C"/>
                </a:solidFill>
                <a:latin typeface="Arial"/>
              </a:rPr>
              <a:t>Hoydis</a:t>
            </a:r>
            <a:r>
              <a:rPr sz="1200" b="1" dirty="0">
                <a:solidFill>
                  <a:srgbClr val="0B192C"/>
                </a:solidFill>
                <a:latin typeface="Arial"/>
              </a:rPr>
              <a:t> (2017), </a:t>
            </a:r>
            <a:r>
              <a:rPr sz="1200" dirty="0">
                <a:solidFill>
                  <a:srgbClr val="0F172A"/>
                </a:solidFill>
                <a:latin typeface="Arial"/>
              </a:rPr>
              <a:t>“Deep Learning for Physical Layer,” IEEE TCCN. DOI: 10.1109/TCCN.2017.2758370. Convolutional neural AMC.</a:t>
            </a:r>
          </a:p>
          <a:p>
            <a:pPr>
              <a:spcBef>
                <a:spcPts val="200"/>
              </a:spcBef>
            </a:pPr>
            <a:r>
              <a:rPr sz="1200" b="1" dirty="0">
                <a:solidFill>
                  <a:srgbClr val="0B192C"/>
                </a:solidFill>
                <a:latin typeface="Arial"/>
              </a:rPr>
              <a:t>[3] W. A. Gardner (1986), </a:t>
            </a:r>
            <a:r>
              <a:rPr sz="1200" dirty="0">
                <a:solidFill>
                  <a:srgbClr val="0F172A"/>
                </a:solidFill>
                <a:latin typeface="Arial"/>
              </a:rPr>
              <a:t>“Measurement of Spectral Correlation of Nonstationary Signals,” IEEE TIM. DOI: 10.1109/TIM.1986.6831633. </a:t>
            </a:r>
            <a:r>
              <a:rPr sz="1200" dirty="0" err="1">
                <a:solidFill>
                  <a:srgbClr val="0F172A"/>
                </a:solidFill>
                <a:latin typeface="Arial"/>
              </a:rPr>
              <a:t>Cyclostationary</a:t>
            </a:r>
            <a:r>
              <a:rPr sz="1200" dirty="0">
                <a:solidFill>
                  <a:srgbClr val="0F172A"/>
                </a:solidFill>
                <a:latin typeface="Arial"/>
              </a:rPr>
              <a:t> baud rate extraction.</a:t>
            </a:r>
          </a:p>
          <a:p>
            <a:pPr>
              <a:spcBef>
                <a:spcPts val="200"/>
              </a:spcBef>
            </a:pPr>
            <a:r>
              <a:rPr sz="1200" b="1" dirty="0">
                <a:solidFill>
                  <a:srgbClr val="0B192C"/>
                </a:solidFill>
                <a:latin typeface="Arial"/>
              </a:rPr>
              <a:t>[4] Swami &amp; Sadler (2000), </a:t>
            </a:r>
            <a:r>
              <a:rPr sz="1200" dirty="0">
                <a:solidFill>
                  <a:srgbClr val="0F172A"/>
                </a:solidFill>
                <a:latin typeface="Arial"/>
              </a:rPr>
              <a:t>“Hierarchical Digital Modulation Classification Using Cumulants,” IEEE Trans. Comm. DOI: 10.1109/26.839840. C40 &amp; C42 cumulants.</a:t>
            </a:r>
          </a:p>
          <a:p>
            <a:pPr>
              <a:spcBef>
                <a:spcPts val="200"/>
              </a:spcBef>
            </a:pPr>
            <a:r>
              <a:rPr sz="1200" b="1" dirty="0">
                <a:solidFill>
                  <a:srgbClr val="0B192C"/>
                </a:solidFill>
                <a:latin typeface="Arial"/>
              </a:rPr>
              <a:t>[5] CCSDS Standard 131.0-B-3, </a:t>
            </a:r>
            <a:r>
              <a:rPr sz="1200" dirty="0">
                <a:solidFill>
                  <a:srgbClr val="0F172A"/>
                </a:solidFill>
                <a:latin typeface="Arial"/>
              </a:rPr>
              <a:t>“TM Synchronization &amp; Channel Coding,” Blue Book 2017. Reed-Solomon &amp; Convolutional coding.</a:t>
            </a:r>
          </a:p>
        </p:txBody>
      </p:sp>
      <p:sp>
        <p:nvSpPr>
          <p:cNvPr id="17412" name="Rectangle 17411"/>
          <p:cNvSpPr/>
          <p:nvPr/>
        </p:nvSpPr>
        <p:spPr>
          <a:xfrm>
            <a:off x="320040" y="4187634"/>
            <a:ext cx="3611880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3" name="TextBox 17412"/>
          <p:cNvSpPr txBox="1"/>
          <p:nvPr/>
        </p:nvSpPr>
        <p:spPr>
          <a:xfrm>
            <a:off x="335280" y="3896525"/>
            <a:ext cx="3474720" cy="1102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dirty="0">
                <a:solidFill>
                  <a:srgbClr val="1E3A8A"/>
                </a:solidFill>
                <a:latin typeface="Arial"/>
              </a:rPr>
              <a:t> </a:t>
            </a:r>
            <a:r>
              <a:rPr sz="1600" b="1" dirty="0">
                <a:solidFill>
                  <a:srgbClr val="1E3A8A"/>
                </a:solidFill>
                <a:latin typeface="Arial"/>
              </a:rPr>
              <a:t>Project Links Demo:-</a:t>
            </a:r>
          </a:p>
          <a:p>
            <a:pPr>
              <a:spcBef>
                <a:spcPts val="100"/>
              </a:spcBef>
            </a:pPr>
            <a:r>
              <a:rPr sz="1200" b="1" dirty="0">
                <a:solidFill>
                  <a:srgbClr val="0B192C"/>
                </a:solidFill>
                <a:latin typeface="Arial"/>
              </a:rPr>
              <a:t>• </a:t>
            </a:r>
            <a:r>
              <a:rPr sz="1200" b="1" dirty="0" err="1">
                <a:solidFill>
                  <a:srgbClr val="0B192C"/>
                </a:solidFill>
                <a:latin typeface="Arial"/>
              </a:rPr>
              <a:t>Github</a:t>
            </a:r>
            <a:r>
              <a:rPr sz="1200" b="1" dirty="0">
                <a:solidFill>
                  <a:srgbClr val="0B192C"/>
                </a:solidFill>
                <a:latin typeface="Arial"/>
              </a:rPr>
              <a:t>: </a:t>
            </a:r>
            <a:r>
              <a:rPr sz="1200" dirty="0">
                <a:solidFill>
                  <a:srgbClr val="2563EB"/>
                </a:solidFill>
                <a:latin typeface="Arial"/>
              </a:rPr>
              <a:t>https://github.com/Futuristics-NTRO/SPECTRA</a:t>
            </a:r>
          </a:p>
          <a:p>
            <a:pPr>
              <a:spcBef>
                <a:spcPts val="100"/>
              </a:spcBef>
            </a:pPr>
            <a:r>
              <a:rPr sz="1200" b="1" dirty="0">
                <a:solidFill>
                  <a:srgbClr val="0B192C"/>
                </a:solidFill>
                <a:latin typeface="Arial"/>
              </a:rPr>
              <a:t>• Live Prototype: </a:t>
            </a:r>
            <a:r>
              <a:rPr sz="1200" dirty="0">
                <a:solidFill>
                  <a:srgbClr val="2563EB"/>
                </a:solidFill>
                <a:latin typeface="Arial"/>
              </a:rPr>
              <a:t>http://localhost:8000 (</a:t>
            </a:r>
            <a:r>
              <a:rPr sz="1200" dirty="0" err="1">
                <a:solidFill>
                  <a:srgbClr val="2563EB"/>
                </a:solidFill>
                <a:latin typeface="Arial"/>
              </a:rPr>
              <a:t>FastAPI</a:t>
            </a:r>
            <a:r>
              <a:rPr sz="1200" dirty="0">
                <a:solidFill>
                  <a:srgbClr val="2563EB"/>
                </a:solidFill>
                <a:latin typeface="Arial"/>
              </a:rPr>
              <a:t> Core)</a:t>
            </a:r>
          </a:p>
        </p:txBody>
      </p:sp>
      <p:graphicFrame>
        <p:nvGraphicFramePr>
          <p:cNvPr id="17414" name="Table 174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5758094"/>
              </p:ext>
            </p:extLst>
          </p:nvPr>
        </p:nvGraphicFramePr>
        <p:xfrm>
          <a:off x="7162800" y="1181674"/>
          <a:ext cx="4709160" cy="53206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20065"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1E3A8A"/>
                          </a:solidFill>
                          <a:latin typeface="Arial"/>
                        </a:rPr>
                        <a:t>Feature / Capability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1E3A8A"/>
                          </a:solidFill>
                          <a:latin typeface="Arial"/>
                        </a:rPr>
                        <a:t>Manual
Waterfall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1E3A8A"/>
                          </a:solidFill>
                          <a:latin typeface="Arial"/>
                        </a:rPr>
                        <a:t>Foreign Suites
(Keysight / R&amp;S)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1E3A8A"/>
                          </a:solidFill>
                          <a:latin typeface="Arial"/>
                        </a:rPr>
                        <a:t>SPECTRA
Engine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006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F172A"/>
                          </a:solidFill>
                          <a:latin typeface="Arial"/>
                        </a:rPr>
                        <a:t>1. Multi-Format .IQ &amp; .wav Ingestion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EF4444"/>
                          </a:solidFill>
                          <a:latin typeface="Arial"/>
                        </a:rPr>
                        <a:t>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0B981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0B981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006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F172A"/>
                          </a:solidFill>
                          <a:latin typeface="Arial"/>
                        </a:rPr>
                        <a:t>2. Blind Baud &amp; Cyclostationary Sx^α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EF4444"/>
                          </a:solidFill>
                          <a:latin typeface="Arial"/>
                        </a:rPr>
                        <a:t>✗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EF4444"/>
                          </a:solidFill>
                          <a:latin typeface="Arial"/>
                        </a:rPr>
                        <a:t>✗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0B981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006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F172A"/>
                          </a:solidFill>
                          <a:latin typeface="Arial"/>
                        </a:rPr>
                        <a:t>3. Neural AMC Modulation Recognition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EF4444"/>
                          </a:solidFill>
                          <a:latin typeface="Arial"/>
                        </a:rPr>
                        <a:t>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0B981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10B981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006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F172A"/>
                          </a:solidFill>
                          <a:latin typeface="Arial"/>
                        </a:rPr>
                        <a:t>4. Gardner TED &amp; Costas Loop Lock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EF4444"/>
                          </a:solidFill>
                          <a:latin typeface="Arial"/>
                        </a:rPr>
                        <a:t>✗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0B981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0B981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006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F172A"/>
                          </a:solidFill>
                          <a:latin typeface="Arial"/>
                        </a:rPr>
                        <a:t>5. Automated GF(2) Interleaver Solver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EF4444"/>
                          </a:solidFill>
                          <a:latin typeface="Arial"/>
                        </a:rPr>
                        <a:t>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EF4444"/>
                          </a:solidFill>
                          <a:latin typeface="Arial"/>
                        </a:rPr>
                        <a:t>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0B981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006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F172A"/>
                          </a:solidFill>
                          <a:latin typeface="Arial"/>
                        </a:rPr>
                        <a:t>6. Multi-FEC (Viterbi, RS, LDPC)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EF4444"/>
                          </a:solidFill>
                          <a:latin typeface="Arial"/>
                        </a:rPr>
                        <a:t>✗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0B981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0B981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0065">
                <a:tc>
                  <a:txBody>
                    <a:bodyPr/>
                    <a:lstStyle/>
                    <a:p>
                      <a:r>
                        <a:rPr sz="1200" b="1" dirty="0">
                          <a:solidFill>
                            <a:srgbClr val="0F172A"/>
                          </a:solidFill>
                          <a:latin typeface="Arial"/>
                        </a:rPr>
                        <a:t>7. 100% Air-Gapped Sovereign Defense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EF4444"/>
                          </a:solidFill>
                          <a:latin typeface="Arial"/>
                        </a:rPr>
                        <a:t>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EF4444"/>
                          </a:solidFill>
                          <a:latin typeface="Arial"/>
                        </a:rPr>
                        <a:t>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10B981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20065">
                <a:tc>
                  <a:txBody>
                    <a:bodyPr/>
                    <a:lstStyle/>
                    <a:p>
                      <a:endParaRPr sz="750" b="1" dirty="0">
                        <a:solidFill>
                          <a:srgbClr val="0F172A"/>
                        </a:solidFill>
                        <a:latin typeface="Arial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100" b="1">
                        <a:solidFill>
                          <a:srgbClr val="EF4444"/>
                        </a:solidFill>
                        <a:latin typeface="Arial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100" b="1">
                        <a:solidFill>
                          <a:srgbClr val="EF4444"/>
                        </a:solidFill>
                        <a:latin typeface="Arial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100" b="1" dirty="0">
                        <a:solidFill>
                          <a:srgbClr val="10B981"/>
                        </a:solidFill>
                        <a:latin typeface="Arial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7466262"/>
                  </a:ext>
                </a:extLst>
              </a:tr>
              <a:tr h="520065">
                <a:tc>
                  <a:txBody>
                    <a:bodyPr/>
                    <a:lstStyle/>
                    <a:p>
                      <a:endParaRPr sz="750" b="1" dirty="0">
                        <a:solidFill>
                          <a:srgbClr val="0F172A"/>
                        </a:solidFill>
                        <a:latin typeface="Arial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100" b="1">
                        <a:solidFill>
                          <a:srgbClr val="EF4444"/>
                        </a:solidFill>
                        <a:latin typeface="Arial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100" b="1">
                        <a:solidFill>
                          <a:srgbClr val="EF4444"/>
                        </a:solidFill>
                        <a:latin typeface="Arial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100" b="1" dirty="0">
                        <a:solidFill>
                          <a:srgbClr val="10B981"/>
                        </a:solidFill>
                        <a:latin typeface="Arial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8047230"/>
                  </a:ext>
                </a:extLst>
              </a:tr>
            </a:tbl>
          </a:graphicData>
        </a:graphic>
      </p:graphicFrame>
      <p:sp>
        <p:nvSpPr>
          <p:cNvPr id="17418" name="TextBox 17417"/>
          <p:cNvSpPr txBox="1"/>
          <p:nvPr/>
        </p:nvSpPr>
        <p:spPr>
          <a:xfrm>
            <a:off x="320040" y="5193792"/>
            <a:ext cx="11567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E3A8A"/>
                </a:solidFill>
                <a:latin typeface="Arial"/>
              </a:rPr>
              <a:t>• Research &amp; Engineering Workflow :-</a:t>
            </a:r>
          </a:p>
        </p:txBody>
      </p:sp>
      <p:sp>
        <p:nvSpPr>
          <p:cNvPr id="17419" name="Chevron 17418"/>
          <p:cNvSpPr/>
          <p:nvPr/>
        </p:nvSpPr>
        <p:spPr>
          <a:xfrm>
            <a:off x="320040" y="5440680"/>
            <a:ext cx="1536192" cy="475488"/>
          </a:xfrm>
          <a:prstGeom prst="chevron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50" b="1">
                <a:latin typeface="Arial"/>
              </a:rPr>
              <a:t>1. Problem Identification</a:t>
            </a:r>
          </a:p>
        </p:txBody>
      </p:sp>
      <p:sp>
        <p:nvSpPr>
          <p:cNvPr id="17420" name="Chevron 17419"/>
          <p:cNvSpPr/>
          <p:nvPr/>
        </p:nvSpPr>
        <p:spPr>
          <a:xfrm>
            <a:off x="1965960" y="5440680"/>
            <a:ext cx="1536192" cy="475488"/>
          </a:xfrm>
          <a:prstGeom prst="chevron">
            <a:avLst/>
          </a:prstGeom>
          <a:solidFill>
            <a:srgbClr val="2563EB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50" b="1">
                <a:latin typeface="Arial"/>
              </a:rPr>
              <a:t>2. DSP Literature &amp; CCSDS</a:t>
            </a:r>
          </a:p>
        </p:txBody>
      </p:sp>
      <p:sp>
        <p:nvSpPr>
          <p:cNvPr id="17421" name="Chevron 17420"/>
          <p:cNvSpPr/>
          <p:nvPr/>
        </p:nvSpPr>
        <p:spPr>
          <a:xfrm>
            <a:off x="3611880" y="5440680"/>
            <a:ext cx="1536192" cy="475488"/>
          </a:xfrm>
          <a:prstGeom prst="chevron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50" b="1">
                <a:latin typeface="Arial"/>
              </a:rPr>
              <a:t>3. Cyclostationary Math</a:t>
            </a:r>
          </a:p>
        </p:txBody>
      </p:sp>
      <p:sp>
        <p:nvSpPr>
          <p:cNvPr id="17422" name="Chevron 17421"/>
          <p:cNvSpPr/>
          <p:nvPr/>
        </p:nvSpPr>
        <p:spPr>
          <a:xfrm>
            <a:off x="5257800" y="5440680"/>
            <a:ext cx="1536192" cy="475488"/>
          </a:xfrm>
          <a:prstGeom prst="chevron">
            <a:avLst/>
          </a:prstGeom>
          <a:solidFill>
            <a:srgbClr val="2563EB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50" b="1">
                <a:latin typeface="Arial"/>
              </a:rPr>
              <a:t>4. FastAPI Core Engine</a:t>
            </a:r>
          </a:p>
        </p:txBody>
      </p:sp>
      <p:sp>
        <p:nvSpPr>
          <p:cNvPr id="17423" name="Chevron 17422"/>
          <p:cNvSpPr/>
          <p:nvPr/>
        </p:nvSpPr>
        <p:spPr>
          <a:xfrm>
            <a:off x="6903720" y="5440680"/>
            <a:ext cx="1536192" cy="475488"/>
          </a:xfrm>
          <a:prstGeom prst="chevron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50" b="1">
                <a:latin typeface="Arial"/>
              </a:rPr>
              <a:t>5. Tactical WebGL UI</a:t>
            </a:r>
          </a:p>
        </p:txBody>
      </p:sp>
      <p:sp>
        <p:nvSpPr>
          <p:cNvPr id="17424" name="Chevron 17423"/>
          <p:cNvSpPr/>
          <p:nvPr/>
        </p:nvSpPr>
        <p:spPr>
          <a:xfrm>
            <a:off x="8549640" y="5440680"/>
            <a:ext cx="1536192" cy="475488"/>
          </a:xfrm>
          <a:prstGeom prst="chevron">
            <a:avLst/>
          </a:prstGeom>
          <a:solidFill>
            <a:srgbClr val="2563EB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50" b="1">
                <a:latin typeface="Arial"/>
              </a:rPr>
              <a:t>6. Empirical Validation</a:t>
            </a:r>
          </a:p>
        </p:txBody>
      </p:sp>
      <p:sp>
        <p:nvSpPr>
          <p:cNvPr id="17425" name="Chevron 17424"/>
          <p:cNvSpPr/>
          <p:nvPr/>
        </p:nvSpPr>
        <p:spPr>
          <a:xfrm>
            <a:off x="10195560" y="5440680"/>
            <a:ext cx="1536192" cy="475488"/>
          </a:xfrm>
          <a:prstGeom prst="chevron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50" b="1">
                <a:latin typeface="Arial"/>
              </a:rPr>
              <a:t>7. Sovereign Ecosystem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7554</TotalTime>
  <Words>1996</Words>
  <Application>Microsoft Office PowerPoint</Application>
  <PresentationFormat>Widescreen</PresentationFormat>
  <Paragraphs>198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ＭＳ Ｐゴシック</vt:lpstr>
      <vt:lpstr>Arial</vt:lpstr>
      <vt:lpstr>Calibri</vt:lpstr>
      <vt:lpstr>Garamond</vt:lpstr>
      <vt:lpstr>Times New Roman</vt:lpstr>
      <vt:lpstr>TradeGothic</vt:lpstr>
      <vt:lpstr>Office Theme</vt:lpstr>
      <vt:lpstr>SMART INDIA HACKATHON 2026</vt:lpstr>
      <vt:lpstr>SPECTRA: Autonomous RF Signal Intelligence &amp; Parameter Extraction Engine </vt:lpstr>
      <vt:lpstr>TECHNICAL APPROACH</vt:lpstr>
      <vt:lpstr>FEASIBILITY AND VIABILITY</vt:lpstr>
      <vt:lpstr>IMPACT AND BENEFITS</vt:lpstr>
      <vt:lpstr>RESEARCH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Futuristic gxt</cp:lastModifiedBy>
  <cp:revision>155</cp:revision>
  <dcterms:created xsi:type="dcterms:W3CDTF">2013-12-12T18:46:50Z</dcterms:created>
  <dcterms:modified xsi:type="dcterms:W3CDTF">2026-09-21T12:56:29Z</dcterms:modified>
  <cp:category/>
</cp:coreProperties>
</file>