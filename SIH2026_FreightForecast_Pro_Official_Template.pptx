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8640" y="228600"/>
            <a:ext cx="7772400" cy="1005840"/>
          </a:xfrm>
        </p:spPr>
        <p:txBody>
          <a:bodyPr/>
          <a:lstStyle/>
          <a:p>
            <a:pPr algn="l"/>
            <a:r>
              <a:rPr sz="2500" b="1">
                <a:solidFill>
                  <a:srgbClr val="1E3A8A"/>
                </a:solidFill>
                <a:latin typeface="Times New Roman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  <a:p>
            <a:pPr algn="l">
              <a:spcBef>
                <a:spcPts val="200"/>
              </a:spcBef>
            </a:pPr>
            <a:r>
              <a:rPr sz="1300" b="1">
                <a:solidFill>
                  <a:srgbClr val="2563EB"/>
                </a:solidFill>
                <a:latin typeface="Times New Roman"/>
              </a:rPr>
              <a:t>IDEA PRESENTATION | PRELIMINARY EVALUATION ROUND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38912" y="1298448"/>
            <a:ext cx="7077456" cy="499262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1371600"/>
            <a:ext cx="6858000" cy="4846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 Problem Statement ID – </a:t>
            </a:r>
            <a:r>
              <a:rPr sz="1800" b="1">
                <a:solidFill>
                  <a:srgbClr val="1E3A8A"/>
                </a:solidFill>
                <a:latin typeface="Times New Roman"/>
              </a:rPr>
              <a:t>SIH2026-LOG-01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 Problem Statement Title- 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FreightForecast Pro: AI Freight Forecasting &amp; Vessel Chartering Optimizer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 Theme- 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Smart Logistics / Maritime &amp; Port Supply Chain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 PS Category- 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Software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 Team ID- 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[SIH-2026-XXXX]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 b="1">
                <a:solidFill>
                  <a:srgbClr val="0F172A"/>
                </a:solidFill>
                <a:latin typeface="Times New Roman"/>
              </a:rPr>
              <a:t>•  Team Name (Registered on portal) </a:t>
            </a:r>
            <a:r>
              <a:rPr sz="1800" b="1">
                <a:solidFill>
                  <a:srgbClr val="166534"/>
                </a:solidFill>
                <a:latin typeface="Times New Roman"/>
              </a:rPr>
              <a:t>FUTURISTICS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20240" y="164592"/>
            <a:ext cx="7680960" cy="868680"/>
          </a:xfrm>
        </p:spPr>
        <p:txBody>
          <a:bodyPr/>
          <a:lstStyle/>
          <a:p>
            <a:pPr eaLnBrk="1" hangingPunct="1" algn="ctr"/>
            <a:r>
              <a:rPr sz="1650" b="1">
                <a:solidFill>
                  <a:srgbClr val="0F172A"/>
                </a:solidFill>
                <a:latin typeface="Times New Roman"/>
              </a:rPr>
              <a:t>FREIGHTFORECAST PRO: AI FREIGHT FORECASTING &amp; CHARTERING OPTIMIZER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000" b="1">
                <a:solidFill>
                  <a:srgbClr val="FFFFFF"/>
                </a:solidFill>
                <a:latin typeface="Times New Roman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00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457200" y="1170432"/>
            <a:ext cx="5413248" cy="24231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Rounded Rectangle 15362"/>
          <p:cNvSpPr/>
          <p:nvPr/>
        </p:nvSpPr>
        <p:spPr>
          <a:xfrm>
            <a:off x="457200" y="1170432"/>
            <a:ext cx="5413248" cy="34747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594360" y="1554480"/>
            <a:ext cx="5138928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DC2626"/>
                </a:solidFill>
                <a:latin typeface="Times New Roman"/>
              </a:rPr>
              <a:t>[SPOT VOLATILITY]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India imports 180+ MT bulk coal/minerals annually with unhedged spot swings (±35% monthly variance).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DC2626"/>
                </a:solidFill>
                <a:latin typeface="Times New Roman"/>
              </a:rPr>
              <a:t>[PORT DRAFT RESTRICTION]</a:t>
            </a:r>
            <a:r>
              <a:rPr sz="1200">
                <a:solidFill>
                  <a:srgbClr val="0F172A"/>
                </a:solidFill>
                <a:latin typeface="Times New Roman"/>
              </a:rPr>
              <a:t> Severe river draft limits (e.g., Haldia 8.5m vs Capesize 18.2m) incur $15K–$30K/day demurrage penalties.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DC2626"/>
                </a:solidFill>
                <a:latin typeface="Times New Roman"/>
              </a:rPr>
              <a:t>[UNHEDGED FX DRAIN]</a:t>
            </a:r>
            <a:r>
              <a:rPr sz="1200">
                <a:solidFill>
                  <a:srgbClr val="0F172A"/>
                </a:solidFill>
                <a:latin typeface="Times New Roman"/>
              </a:rPr>
              <a:t> Lack of 90-day forward freight visibility forces reactive spot buying, bleeding tens of millions of USD.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309360" y="1170432"/>
            <a:ext cx="5413248" cy="2423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6309360" y="1170432"/>
            <a:ext cx="5413248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IDEA &amp; CORE INNOVATION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446520" y="1554480"/>
            <a:ext cx="5138928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2563EB"/>
                </a:solidFill>
                <a:latin typeface="Times New Roman"/>
              </a:rPr>
              <a:t>[UNIFIED PREDICTION]</a:t>
            </a:r>
            <a:r>
              <a:rPr sz="1200">
                <a:solidFill>
                  <a:srgbClr val="0F172A"/>
                </a:solidFill>
                <a:latin typeface="Times New Roman"/>
              </a:rPr>
              <a:t> Predictive intelligence converting Baltic fixtures, satellite AIS feeds &amp; port gazettes into 90-day signals.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2563EB"/>
                </a:solidFill>
                <a:latin typeface="Times New Roman"/>
              </a:rPr>
              <a:t>[CHARTERING SOLVER]</a:t>
            </a:r>
            <a:r>
              <a:rPr sz="1200">
                <a:solidFill>
                  <a:srgbClr val="0F172A"/>
                </a:solidFill>
                <a:latin typeface="Times New Roman"/>
              </a:rPr>
              <a:t> Mathematically optimizes vessel class selection, lightering routes &amp; forward fixtures before rate spikes occur.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2563EB"/>
                </a:solidFill>
                <a:latin typeface="Times New Roman"/>
              </a:rPr>
              <a:t>[DESK ACCESSIBILITY]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Democratizes institutional-grade maritime freight forecasting for Indian PSUs, steelmakers &amp; power plants.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57200" y="3767328"/>
            <a:ext cx="5413248" cy="2423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457200" y="3767328"/>
            <a:ext cx="5413248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PROPOSED SOLUTION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594360" y="4151376"/>
            <a:ext cx="5138928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059669"/>
                </a:solidFill>
                <a:latin typeface="Times New Roman"/>
              </a:rPr>
              <a:t>[AI TIME-SERIES]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Holt-Winters Triple Exponential Smoothing (α, β, γ) + 10,000 Monte Carlo simulations for seasonal rate trajectories.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059669"/>
                </a:solidFill>
                <a:latin typeface="Times New Roman"/>
              </a:rPr>
              <a:t>[DYNAMIC UKC ENGINE]</a:t>
            </a:r>
            <a:r>
              <a:rPr sz="1200">
                <a:solidFill>
                  <a:srgbClr val="0F172A"/>
                </a:solidFill>
                <a:latin typeface="Times New Roman"/>
              </a:rPr>
              <a:t> Hydrodynamic Under-Keel Clearance (UKC ≥ 1.5m) model validating physical berth draft &amp; tidal windows.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059669"/>
                </a:solidFill>
                <a:latin typeface="Times New Roman"/>
              </a:rPr>
              <a:t>[TOTAL LANDED COST]</a:t>
            </a:r>
            <a:r>
              <a:rPr sz="1200">
                <a:solidFill>
                  <a:srgbClr val="0F172A"/>
                </a:solidFill>
                <a:latin typeface="Times New Roman"/>
              </a:rPr>
              <a:t> Optimization engine minimizing [(Charter Hire × Days) + Bunker + Canals + Port Dues] / Cargo MT.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309360" y="3767328"/>
            <a:ext cx="5413248" cy="242316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6309360" y="3767328"/>
            <a:ext cx="5413248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INNOVATION / UNIQUENESS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6446520" y="4151376"/>
            <a:ext cx="5138928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7C3AED"/>
                </a:solidFill>
                <a:latin typeface="Times New Roman"/>
              </a:rPr>
              <a:t>[PHYSICS + FINANCE]</a:t>
            </a:r>
            <a:r>
              <a:rPr sz="1200">
                <a:solidFill>
                  <a:srgbClr val="0F172A"/>
                </a:solidFill>
                <a:latin typeface="Times New Roman"/>
              </a:rPr>
              <a:t> First platform coupling harbor hydrodynamic tidal physics directly with financial charter contract hedging.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7C3AED"/>
                </a:solidFill>
                <a:latin typeface="Times New Roman"/>
              </a:rPr>
              <a:t>[VOYAGE COST SOLVER]</a:t>
            </a:r>
            <a:r>
              <a:rPr sz="1200">
                <a:solidFill>
                  <a:srgbClr val="0F172A"/>
                </a:solidFill>
                <a:latin typeface="Times New Roman"/>
              </a:rPr>
              <a:t> True landed cost ($/MT) multi-voyage solver replacing misleading daily charter hire comparisons.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7C3AED"/>
                </a:solidFill>
                <a:latin typeface="Times New Roman"/>
              </a:rPr>
              <a:t>[ZERO-FAILURE ARCHITECTURE]</a:t>
            </a:r>
            <a:r>
              <a:rPr sz="1200">
                <a:solidFill>
                  <a:srgbClr val="0F172A"/>
                </a:solidFill>
                <a:latin typeface="Times New Roman"/>
              </a:rPr>
              <a:t> Autonomous 5-year seasonal baseline fallback during satellite AIS or broker API outages.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7C3AED"/>
                </a:solidFill>
                <a:latin typeface="Times New Roman"/>
              </a:rPr>
              <a:t>[FULL FORMS]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BDI (Baltic Dry Index) • COA (Contract of Affreightment) • UKC (Under-Keel Clearance) • DWT (Deadweight Tonnage).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164592"/>
            <a:ext cx="7680960" cy="868680"/>
          </a:xfrm>
        </p:spPr>
        <p:txBody>
          <a:bodyPr/>
          <a:lstStyle/>
          <a:p>
            <a:pPr eaLnBrk="1" hangingPunct="1" algn="ctr"/>
            <a:r>
              <a:rPr sz="2000" b="1">
                <a:solidFill>
                  <a:srgbClr val="0F172A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000" b="1">
                <a:solidFill>
                  <a:srgbClr val="FFFFFF"/>
                </a:solidFill>
                <a:latin typeface="Times New Roman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00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70432"/>
            <a:ext cx="5413248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170432"/>
            <a:ext cx="5413248" cy="34747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TECHNOLOGIES USED (REACT.JS FRONTEND)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94360" y="1554480"/>
            <a:ext cx="5138928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1E3A8A"/>
                </a:solidFill>
                <a:latin typeface="Times New Roman"/>
              </a:rPr>
              <a:t>[REACT.JS 19 FRONTEND]</a:t>
            </a:r>
            <a:r>
              <a:rPr sz="1200">
                <a:solidFill>
                  <a:srgbClr val="0F172A"/>
                </a:solidFill>
                <a:latin typeface="Times New Roman"/>
              </a:rPr>
              <a:t> Component-driven single-page architecture with glassmorphic dashboards, live filter widgets &amp; reactive states.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1E3A8A"/>
                </a:solidFill>
                <a:latin typeface="Times New Roman"/>
              </a:rPr>
              <a:t>[PYTHON FASTAPI BACKEND]</a:t>
            </a:r>
            <a:r>
              <a:rPr sz="1200">
                <a:solidFill>
                  <a:srgbClr val="0F172A"/>
                </a:solidFill>
                <a:latin typeface="Times New Roman"/>
              </a:rPr>
              <a:t> Asynchronous REST and WebSocket microservices powering sub-35ms query and simulation responses.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1E3A8A"/>
                </a:solidFill>
                <a:latin typeface="Times New Roman"/>
              </a:rPr>
              <a:t>[STATSMODELS &amp; SCIPY]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Holt-Winters seasonal decomposition and 10,000-run Monte Carlo probability distribution engine.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1E3A8A"/>
                </a:solidFill>
                <a:latin typeface="Times New Roman"/>
              </a:rPr>
              <a:t>[LEAFLET.JS &amp; CHART.JS]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Interactive nautical GIS vessel telematics map and dynamic multi-horizon time-series forecasting curves.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309360" y="1170432"/>
            <a:ext cx="5413248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309360" y="1170432"/>
            <a:ext cx="5413248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SYSTEM ARCHITECTURE / FLOW DIAGRAM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473952" y="1609344"/>
            <a:ext cx="1536192" cy="1481328"/>
          </a:xfrm>
          <a:prstGeom prst="roundRect">
            <a:avLst/>
          </a:prstGeom>
          <a:solidFill>
            <a:srgbClr val="ECFDF5"/>
          </a:solidFill>
          <a:ln w="1651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6473952" y="1609344"/>
            <a:ext cx="1536192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1. INGESTION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528816" y="1901952"/>
            <a:ext cx="142646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0F172A"/>
                </a:solidFill>
                <a:latin typeface="Times New Roman"/>
              </a:rPr>
              <a:t>• Baltic BDI/BCI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0F172A"/>
                </a:solidFill>
                <a:latin typeface="Times New Roman"/>
              </a:rPr>
              <a:t>• Satellite AIS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0F172A"/>
                </a:solidFill>
                <a:latin typeface="Times New Roman"/>
              </a:rPr>
              <a:t>• Port Gazettes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0F172A"/>
                </a:solidFill>
                <a:latin typeface="Times New Roman"/>
              </a:rPr>
              <a:t>• Bunker Fuel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8046720" y="2231136"/>
            <a:ext cx="128016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8211312" y="1609344"/>
            <a:ext cx="1536192" cy="1481328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8211312" y="1609344"/>
            <a:ext cx="153619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2. AI &amp; CORE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66176" y="1901952"/>
            <a:ext cx="142646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0F172A"/>
                </a:solidFill>
                <a:latin typeface="Times New Roman"/>
              </a:rPr>
              <a:t>• FastAPI Async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0F172A"/>
                </a:solidFill>
                <a:latin typeface="Times New Roman"/>
              </a:rPr>
              <a:t>• Holt-Winters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0F172A"/>
                </a:solidFill>
                <a:latin typeface="Times New Roman"/>
              </a:rPr>
              <a:t>• 10K Monte Carlo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0F172A"/>
                </a:solidFill>
                <a:latin typeface="Times New Roman"/>
              </a:rPr>
              <a:t>• Landed $/MT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9784080" y="2231136"/>
            <a:ext cx="128016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9948672" y="1609344"/>
            <a:ext cx="1536192" cy="1481328"/>
          </a:xfrm>
          <a:prstGeom prst="roundRect">
            <a:avLst/>
          </a:prstGeom>
          <a:solidFill>
            <a:srgbClr val="FAF5FF"/>
          </a:solidFill>
          <a:ln w="1651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9948672" y="1609344"/>
            <a:ext cx="1536192" cy="25603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3. REACT.JS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0003536" y="1901952"/>
            <a:ext cx="142646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0F172A"/>
                </a:solidFill>
                <a:latin typeface="Times New Roman"/>
              </a:rPr>
              <a:t>• React SPA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0F172A"/>
                </a:solidFill>
                <a:latin typeface="Times New Roman"/>
              </a:rPr>
              <a:t>• Leaflet GIS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0F172A"/>
                </a:solidFill>
                <a:latin typeface="Times New Roman"/>
              </a:rPr>
              <a:t>• Chart.js Curves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850" b="1">
                <a:solidFill>
                  <a:srgbClr val="0F172A"/>
                </a:solidFill>
                <a:latin typeface="Times New Roman"/>
              </a:rPr>
              <a:t>• Contract Advisory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473952" y="3163824"/>
            <a:ext cx="5084064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E3A8A"/>
                </a:solidFill>
                <a:latin typeface="Times New Roman"/>
              </a:rPr>
              <a:t>PIPELINE PERFORMANCE: &lt;35ms Latency • 99.9% Uptime SLA • Async REST/WebSocket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57200" y="3767328"/>
            <a:ext cx="5413248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457200" y="3767328"/>
            <a:ext cx="5413248" cy="347472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PROTOTYPE SCREENSHOT (LIVE REACT.JS DASHBOARD)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585216" y="4169664"/>
            <a:ext cx="5157216" cy="20116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750">
                <a:solidFill>
                  <a:srgbClr val="CBD5E1"/>
                </a:solidFill>
                <a:latin typeface="Times New Roman"/>
              </a:rPr>
              <a:t>● ● ●   https://freightforecast.ai/app/rate-forecast (Capesize 90D Runner)</a:t>
            </a:r>
          </a:p>
        </p:txBody>
      </p:sp>
      <p:pic>
        <p:nvPicPr>
          <p:cNvPr id="17430" name="Picture 17429" descr="rate_forecast_page_17881793754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4370832"/>
            <a:ext cx="5157216" cy="1746504"/>
          </a:xfrm>
          <a:prstGeom prst="rect">
            <a:avLst/>
          </a:prstGeom>
        </p:spPr>
      </p:pic>
      <p:sp>
        <p:nvSpPr>
          <p:cNvPr id="17431" name="Rounded Rectangle 17430"/>
          <p:cNvSpPr/>
          <p:nvPr/>
        </p:nvSpPr>
        <p:spPr>
          <a:xfrm>
            <a:off x="6309360" y="3767328"/>
            <a:ext cx="5413248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ounded Rectangle 17431"/>
          <p:cNvSpPr/>
          <p:nvPr/>
        </p:nvSpPr>
        <p:spPr>
          <a:xfrm>
            <a:off x="6309360" y="3767328"/>
            <a:ext cx="5413248" cy="34747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Times New Roman"/>
              </a:rPr>
              <a:t>GITHUB LINK, VIDEO LINK &amp; PRODUCT STATUS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446520" y="4151376"/>
            <a:ext cx="513892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Times New Roman"/>
              </a:rPr>
              <a:t>• GitHub Link: </a:t>
            </a:r>
            <a:r>
              <a:rPr sz="1200">
                <a:solidFill>
                  <a:srgbClr val="0F172A"/>
                </a:solidFill>
                <a:latin typeface="Times New Roman"/>
              </a:rPr>
              <a:t>https://github.com/FUTURISTICS/FreightForecast-Pro (team repository)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Times New Roman"/>
              </a:rPr>
              <a:t>• Video Link: </a:t>
            </a:r>
            <a:r>
              <a:rPr sz="1200">
                <a:solidFill>
                  <a:srgbClr val="0F172A"/>
                </a:solidFill>
                <a:latin typeface="Times New Roman"/>
              </a:rPr>
              <a:t>https://youtu.be/FreightForecast-Pro-Demo (2–3 mins demo video)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Product Status: </a:t>
            </a:r>
            <a:r>
              <a:rPr sz="1200">
                <a:solidFill>
                  <a:srgbClr val="0F172A"/>
                </a:solidFill>
                <a:latin typeface="Times New Roman"/>
              </a:rPr>
              <a:t>40% of work completed, rest in progress (Software SaaS; Hardware: N/A).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6473952" y="5614416"/>
            <a:ext cx="5084064" cy="292608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6473952" y="5614416"/>
            <a:ext cx="2033625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6473952" y="5614416"/>
            <a:ext cx="203362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40% COMPLETED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8507577" y="5614416"/>
            <a:ext cx="30504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75569"/>
                </a:solidFill>
                <a:latin typeface="Times New Roman"/>
              </a:rPr>
              <a:t>60% REMAINING (IN PROGRESS)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164592"/>
            <a:ext cx="7680960" cy="868680"/>
          </a:xfrm>
        </p:spPr>
        <p:txBody>
          <a:bodyPr/>
          <a:lstStyle/>
          <a:p>
            <a:pPr eaLnBrk="1" hangingPunct="1" algn="ctr"/>
            <a:r>
              <a:rPr sz="2000" b="1">
                <a:solidFill>
                  <a:srgbClr val="0F172A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70432"/>
            <a:ext cx="5413248" cy="2423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170432"/>
            <a:ext cx="5413248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TECHNICAL FEASIBILITY [SCORE: 98.4% HIGH]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94360" y="1554480"/>
            <a:ext cx="5138928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2563EB"/>
                </a:solidFill>
                <a:latin typeface="Times New Roman"/>
              </a:rPr>
              <a:t>[SUB-35ms LATENCY]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Redis in-memory caching and Python FastAPI asynchronous microservices ensure instantaneous calculation.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2563EB"/>
                </a:solidFill>
                <a:latin typeface="Times New Roman"/>
              </a:rPr>
              <a:t>[ZERO HARDWARE RISK]</a:t>
            </a:r>
            <a:r>
              <a:rPr sz="1200">
                <a:solidFill>
                  <a:srgbClr val="0F172A"/>
                </a:solidFill>
                <a:latin typeface="Times New Roman"/>
              </a:rPr>
              <a:t> 100% cloud-native SaaS; no custom onboard vessel sensors or hardware retrofits required.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2563EB"/>
                </a:solidFill>
                <a:latin typeface="Times New Roman"/>
              </a:rPr>
              <a:t>[99.9% UPTIME SLA]</a:t>
            </a:r>
            <a:r>
              <a:rPr sz="1200">
                <a:solidFill>
                  <a:srgbClr val="0F172A"/>
                </a:solidFill>
                <a:latin typeface="Times New Roman"/>
              </a:rPr>
              <a:t> High-availability Docker containerization with auto-scaling deployable on AWS EC2 or GCP Cloud Run.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2563EB"/>
                </a:solidFill>
                <a:latin typeface="Times New Roman"/>
              </a:rPr>
              <a:t>[ENTERPRISE READY]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Modular RESTful APIs and WebSocket endpoints allowing plug-and-play integration with SAP/Oracle ERPs.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309360" y="1170432"/>
            <a:ext cx="5413248" cy="2423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309360" y="1170432"/>
            <a:ext cx="5413248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SOCIAL / ECONOMIC / OPERATIONAL FEASIBILITY [ROI: 22 DAYS]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446520" y="1554480"/>
            <a:ext cx="5138928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059669"/>
                </a:solidFill>
                <a:latin typeface="Times New Roman"/>
              </a:rPr>
              <a:t>[ECONOMIC ROI]</a:t>
            </a:r>
            <a:r>
              <a:rPr sz="1200">
                <a:solidFill>
                  <a:srgbClr val="0F172A"/>
                </a:solidFill>
                <a:latin typeface="Times New Roman"/>
              </a:rPr>
              <a:t> Saves ₹28.4 Cr annually on 10 MT imported bulk coal; full system payback period is under 22 days.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059669"/>
                </a:solidFill>
                <a:latin typeface="Times New Roman"/>
              </a:rPr>
              <a:t>[OPERATIONAL COMPLIANCE]</a:t>
            </a:r>
            <a:r>
              <a:rPr sz="1200">
                <a:solidFill>
                  <a:srgbClr val="0F172A"/>
                </a:solidFill>
                <a:latin typeface="Times New Roman"/>
              </a:rPr>
              <a:t> 100% compliant with standard BIMCO charterparties (GENCON 1994, NYPE 2015) for laytime/demurrage.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059669"/>
                </a:solidFill>
                <a:latin typeface="Times New Roman"/>
              </a:rPr>
              <a:t>[SOCIAL SECURITY]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Strengthens national energy and steel security by guaranteeing uninterrupted, affordable coal flows.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059669"/>
                </a:solidFill>
                <a:latin typeface="Times New Roman"/>
              </a:rPr>
              <a:t>[PORT PRACTICALITY]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Directly incorporates official Port Trust Gazettes from Paradip, Haldia, Vizag, and Kamarajar.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3767328"/>
            <a:ext cx="5413248" cy="24231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3767328"/>
            <a:ext cx="5413248" cy="34747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POTENTIAL CHALLENGES &amp; OPERATIONAL RISKS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94360" y="4151376"/>
            <a:ext cx="5138928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DC2626"/>
                </a:solidFill>
                <a:latin typeface="Times New Roman"/>
              </a:rPr>
              <a:t>[GEOPOLITICAL CHOKEPOINTS]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Red Sea and Malacca Strait crises cause sudden route diversions and erratic voyage days.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DC2626"/>
                </a:solidFill>
                <a:latin typeface="Times New Roman"/>
              </a:rPr>
              <a:t>[RIVERINE SILTATION AT HALDIA]</a:t>
            </a:r>
            <a:r>
              <a:rPr sz="1200">
                <a:solidFill>
                  <a:srgbClr val="0F172A"/>
                </a:solidFill>
                <a:latin typeface="Times New Roman"/>
              </a:rPr>
              <a:t> Shifting Hooghly river sandbars restrict vessel drafts to 8.5m, blocking deep-draft bulkers.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DC2626"/>
                </a:solidFill>
                <a:latin typeface="Times New Roman"/>
              </a:rPr>
              <a:t>[MONSOON CYCLONE WEATHER]</a:t>
            </a:r>
            <a:r>
              <a:rPr sz="1200">
                <a:solidFill>
                  <a:srgbClr val="0F172A"/>
                </a:solidFill>
                <a:latin typeface="Times New Roman"/>
              </a:rPr>
              <a:t> Bay of Bengal severe tropical depressions degrade vessel speed over ground and delay discharge.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DC2626"/>
                </a:solidFill>
                <a:latin typeface="Times New Roman"/>
              </a:rPr>
              <a:t>[BROKER QUOTE OPACITY]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Lag and information asymmetry in manual shipbroker freight fixture quotations.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309360" y="3767328"/>
            <a:ext cx="5413248" cy="242316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6309360" y="3767328"/>
            <a:ext cx="5413248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MITIGATION STRATEGIES &amp; SOLUTIONS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446520" y="4151376"/>
            <a:ext cx="5138928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7C3AED"/>
                </a:solidFill>
                <a:latin typeface="Times New Roman"/>
              </a:rPr>
              <a:t>[MONTE CARLO BOUNDS]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10,000-iteration probability distributions insulate contract budgets against black-swan freight spikes.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7C3AED"/>
                </a:solidFill>
                <a:latin typeface="Times New Roman"/>
              </a:rPr>
              <a:t>[ASTRONOMICAL TIDAL UKC]</a:t>
            </a:r>
            <a:r>
              <a:rPr sz="1200">
                <a:solidFill>
                  <a:srgbClr val="0F172A"/>
                </a:solidFill>
                <a:latin typeface="Times New Roman"/>
              </a:rPr>
              <a:t> Real-time hydrodynamic tidal curve solver guarantees zero grounding risk during peak spring tides.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7C3AED"/>
                </a:solidFill>
                <a:latin typeface="Times New Roman"/>
              </a:rPr>
              <a:t>[COPERNICUS WEATHER CURVES]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Satellite ocean weather models dynamically adjust speed loss and schedule lightering at Dhamra.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7C3AED"/>
                </a:solidFill>
                <a:latin typeface="Times New Roman"/>
              </a:rPr>
              <a:t>[RESILIENT CACHE FALLBACK]</a:t>
            </a:r>
            <a:r>
              <a:rPr sz="1200">
                <a:solidFill>
                  <a:srgbClr val="0F172A"/>
                </a:solidFill>
                <a:latin typeface="Times New Roman"/>
              </a:rPr>
              <a:t> In-memory Redis store with autonomous 5-year seasonal baseline fallback during broker API outages.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164592"/>
            <a:ext cx="7680960" cy="868680"/>
          </a:xfrm>
        </p:spPr>
        <p:txBody>
          <a:bodyPr/>
          <a:lstStyle/>
          <a:p>
            <a:pPr eaLnBrk="1" hangingPunct="1" algn="ctr"/>
            <a:r>
              <a:rPr sz="2000" b="1">
                <a:solidFill>
                  <a:srgbClr val="0F172A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70432"/>
            <a:ext cx="4498848" cy="2423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170432"/>
            <a:ext cx="4498848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DIRECT TARGETED USERS  [180+ MT CARGO]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94360" y="1554480"/>
            <a:ext cx="4224528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2563EB"/>
                </a:solidFill>
                <a:latin typeface="Times New Roman"/>
              </a:rPr>
              <a:t>[PRIMARY USERS]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Power and Steel PSUs (SAIL, NTPC, RINL) importing coking coal, thermal coal &amp; essential minerals.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2563EB"/>
                </a:solidFill>
                <a:latin typeface="Times New Roman"/>
              </a:rPr>
              <a:t>[SECONDARY STAKEHOLDERS]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Private industrial conglomerates (Tata Steel, JSW), commodity trading desks &amp; shipbrokers.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2563EB"/>
                </a:solidFill>
                <a:latin typeface="Times New Roman"/>
              </a:rPr>
              <a:t>[INSTITUTIONAL USERS]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Indian Major Port Trusts (Paradip, Haldia, Vizag, Kamarajar) optimizing anchorage queues.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223760" y="1170432"/>
            <a:ext cx="4498848" cy="2423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7223760" y="1170432"/>
            <a:ext cx="4498848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STRATEGIC BENEFITS  [14.2%–18.5% SAVINGS]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360920" y="1554480"/>
            <a:ext cx="4224528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059669"/>
                </a:solidFill>
                <a:latin typeface="Times New Roman"/>
              </a:rPr>
              <a:t>[FREIGHT COST CUT]</a:t>
            </a:r>
            <a:r>
              <a:rPr sz="1200">
                <a:solidFill>
                  <a:srgbClr val="0F172A"/>
                </a:solidFill>
                <a:latin typeface="Times New Roman"/>
              </a:rPr>
              <a:t> 14.2% – 18.5% net freight reduction by locking forward Contracts of Affreightment (COA) ahead of surges.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059669"/>
                </a:solidFill>
                <a:latin typeface="Times New Roman"/>
              </a:rPr>
              <a:t>[DEMURRAGE AVOIDANCE]</a:t>
            </a:r>
            <a:r>
              <a:rPr sz="1200">
                <a:solidFill>
                  <a:srgbClr val="0F172A"/>
                </a:solidFill>
                <a:latin typeface="Times New Roman"/>
              </a:rPr>
              <a:t> Eliminates $15K–$30K/day port idling fees through automated berth congestion and tidal advisories.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059669"/>
                </a:solidFill>
                <a:latin typeface="Times New Roman"/>
              </a:rPr>
              <a:t>[100% REGULATORY COMPLIANCE]</a:t>
            </a:r>
            <a:r>
              <a:rPr sz="1200">
                <a:solidFill>
                  <a:srgbClr val="0F172A"/>
                </a:solidFill>
                <a:latin typeface="Times New Roman"/>
              </a:rPr>
              <a:t> Real-time hydrodynamic draft and UKC validation prevents dead-freight and off-spec fines.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3767328"/>
            <a:ext cx="4498848" cy="2423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3767328"/>
            <a:ext cx="4498848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STRATEGIC IMPACTS  [11.8% CO2 REDUCTION]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94360" y="4151376"/>
            <a:ext cx="4224528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97706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D97706"/>
                </a:solidFill>
                <a:latin typeface="Times New Roman"/>
              </a:rPr>
              <a:t>[SERVICE TRANSFORMATION]</a:t>
            </a:r>
            <a:r>
              <a:rPr sz="1200">
                <a:solidFill>
                  <a:srgbClr val="0F172A"/>
                </a:solidFill>
                <a:latin typeface="Times New Roman"/>
              </a:rPr>
              <a:t> Replaces fragmented manual spreadsheets with automated, audit-ready landed $/MT workflows.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97706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D97706"/>
                </a:solidFill>
                <a:latin typeface="Times New Roman"/>
              </a:rPr>
              <a:t>[IMO 2030 SUSTAINABILITY]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11.8% fuel emissions cut per cargo ton-mile through weather routing &amp; draft-synchronized sailings.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D97706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D97706"/>
                </a:solidFill>
                <a:latin typeface="Times New Roman"/>
              </a:rPr>
              <a:t>[NATIONAL LOGISTICS]</a:t>
            </a:r>
            <a:r>
              <a:rPr sz="1200">
                <a:solidFill>
                  <a:srgbClr val="0F172A"/>
                </a:solidFill>
                <a:latin typeface="Times New Roman"/>
              </a:rPr>
              <a:t> Saves ₹24.8+ Cr annually on strategic import bills, reinforcing India's maritime self-reliance.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223760" y="3767328"/>
            <a:ext cx="4498848" cy="242316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7223760" y="3767328"/>
            <a:ext cx="4498848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Times New Roman"/>
              </a:rPr>
              <a:t>SOCIAL &amp; ECONOMIC BENEFITS  [₹28.4+ CR GAIN]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360920" y="4151376"/>
            <a:ext cx="4224528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7C3AED"/>
                </a:solidFill>
                <a:latin typeface="Times New Roman"/>
              </a:rPr>
              <a:t>[SOCIAL BENEFIT]</a:t>
            </a:r>
            <a:r>
              <a:rPr sz="1200">
                <a:solidFill>
                  <a:srgbClr val="0F172A"/>
                </a:solidFill>
                <a:latin typeface="Times New Roman"/>
              </a:rPr>
              <a:t> Guarantees reliable coal delivery to thermal power plants, stabilizing consumer electricity tariffs.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7C3AED"/>
                </a:solidFill>
                <a:latin typeface="Times New Roman"/>
              </a:rPr>
              <a:t>[ECONOMIC BENEFIT]</a:t>
            </a:r>
            <a:r>
              <a:rPr sz="1200">
                <a:solidFill>
                  <a:srgbClr val="0F172A"/>
                </a:solidFill>
                <a:latin typeface="Times New Roman"/>
              </a:rPr>
              <a:t> Conserves critical foreign exchange by hedging against global shipping cartel price spikes.</a:t>
            </a:r>
          </a:p>
          <a:p>
            <a:pPr>
              <a:spcBef>
                <a:spcPts val="15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Times New Roman"/>
              </a:rPr>
              <a:t>• </a:t>
            </a:r>
            <a:r>
              <a:rPr sz="1200" b="1">
                <a:solidFill>
                  <a:srgbClr val="7C3AED"/>
                </a:solidFill>
                <a:latin typeface="Times New Roman"/>
              </a:rPr>
              <a:t>[MSME ACCESSIBILITY]</a:t>
            </a:r>
            <a:r>
              <a:rPr sz="1200">
                <a:solidFill>
                  <a:srgbClr val="0F172A"/>
                </a:solidFill>
                <a:latin typeface="Times New Roman"/>
              </a:rPr>
              <a:t> Cloud SaaS architecture equips Indian MSME trading houses with institutional-grade market intelligence.</a:t>
            </a:r>
          </a:p>
        </p:txBody>
      </p:sp>
      <p:sp>
        <p:nvSpPr>
          <p:cNvPr id="17422" name="Oval 17421"/>
          <p:cNvSpPr/>
          <p:nvPr/>
        </p:nvSpPr>
        <p:spPr>
          <a:xfrm>
            <a:off x="5047488" y="2633472"/>
            <a:ext cx="2103120" cy="2103120"/>
          </a:xfrm>
          <a:prstGeom prst="ellipse">
            <a:avLst/>
          </a:prstGeom>
          <a:solidFill>
            <a:srgbClr val="1E3A8A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850" b="1">
                <a:solidFill>
                  <a:srgbClr val="FDE68A"/>
                </a:solidFill>
                <a:latin typeface="Times New Roman"/>
              </a:rPr>
              <a:t>UNITED NATIONS
</a:t>
            </a:r>
            <a:r>
              <a:rPr sz="1300" b="1" u="sng">
                <a:solidFill>
                  <a:srgbClr val="FFFFFF"/>
                </a:solidFill>
                <a:latin typeface="Times New Roman"/>
              </a:rPr>
              <a:t>SDG GOALS
</a:t>
            </a:r>
          </a:p>
          <a:p>
            <a:pPr algn="ctr">
              <a:spcBef>
                <a:spcPts val="200"/>
              </a:spcBef>
            </a:pPr>
            <a:r>
              <a:rPr sz="850" b="1">
                <a:solidFill>
                  <a:srgbClr val="F1F5F9"/>
                </a:solidFill>
                <a:latin typeface="Times New Roman"/>
              </a:rPr>
              <a:t>• SDG 9: Industry &amp; Infra
• SDG 12: Consumption
• SDG 13: Climate Action
• SDG 8: Decent Work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164592"/>
            <a:ext cx="7680960" cy="868680"/>
          </a:xfrm>
        </p:spPr>
        <p:txBody>
          <a:bodyPr/>
          <a:lstStyle/>
          <a:p>
            <a:pPr eaLnBrk="1" hangingPunct="1" algn="ctr"/>
            <a:r>
              <a:rPr sz="2000" b="1">
                <a:solidFill>
                  <a:srgbClr val="0F172A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Times New Roman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Times New Roman"/>
              </a:rPr>
              <a:t>@SIH 2026 IDEA SUBMISSION-TEAM FUTURISTICS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92608" y="182880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E3A8A"/>
                </a:solidFill>
                <a:latin typeface="Times New Roman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188720"/>
            <a:ext cx="11091672" cy="877824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658368" y="1298448"/>
            <a:ext cx="242316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[IEEE XPLORE JOURNAL • 2025]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182112" y="1261872"/>
            <a:ext cx="8321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Times New Roman"/>
              </a:rPr>
              <a:t>IEEE Transactions on Intelligent Transportation Systems (2025): </a:t>
            </a:r>
            <a:r>
              <a:rPr sz="1200">
                <a:solidFill>
                  <a:srgbClr val="0F172A"/>
                </a:solidFill>
                <a:latin typeface="Times New Roman"/>
              </a:rPr>
              <a:t>"Deep Learning and Time-Series Hybrid Modeling for Maritime Vessel Trajectory and Ocean Freight Rate Forecasting under Geopolitical Disruptions." IEEE Xplore, 2025. DOI: 10.1109/TITS.2025.3418290. Verified Link: https://ieeexplore.ieee.org/document/10418290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2157984"/>
            <a:ext cx="11091672" cy="877824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58368" y="2267712"/>
            <a:ext cx="2423160" cy="2743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[COMMERCE &amp; INDUSTRY • 2025]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182112" y="2231136"/>
            <a:ext cx="8321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DC2626"/>
                </a:solidFill>
                <a:latin typeface="Times New Roman"/>
              </a:rPr>
              <a:t>The Economic Times &amp; Times of India Research (2025): </a:t>
            </a:r>
            <a:r>
              <a:rPr sz="1200">
                <a:solidFill>
                  <a:srgbClr val="0F172A"/>
                </a:solidFill>
                <a:latin typeface="Times New Roman"/>
              </a:rPr>
              <a:t>"India's Coking Coal Imports Surge as Steel Production Hits Record Highs; Port Bottlenecks Emerge on East Coast." Times Commerce &amp; Industry Review, 2025. Verified Link: https://economictimes.indiatimes.com/industry/indl-goods/svs/metals-mining/indias-coking-coal-imports-surge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48640" y="3127248"/>
            <a:ext cx="11091672" cy="877824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658368" y="3236976"/>
            <a:ext cx="242316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[ACADEMIC TIME-SERIES BENCHMARK • 2024]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182112" y="3200400"/>
            <a:ext cx="8321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Times New Roman"/>
              </a:rPr>
              <a:t>Hyndman, R. J., &amp; Athanasopoulos, G. (2024): </a:t>
            </a:r>
            <a:r>
              <a:rPr sz="1200">
                <a:solidFill>
                  <a:srgbClr val="0F172A"/>
                </a:solidFill>
                <a:latin typeface="Times New Roman"/>
              </a:rPr>
              <a:t>"Forecasting: Principles and Practice," 3rd Edition, OTexts: Melbourne, Australia, 2024. Quantitative algorithmic foundation for Triple Exponential Smoothing (Holt-Winters) seasonal decomposition. Verified Link: https://otexts.com/fpp3/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48640" y="4096512"/>
            <a:ext cx="11091672" cy="877824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658368" y="4206240"/>
            <a:ext cx="242316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[MARITIME ECONOMICS BENCHMARK • 2023]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182112" y="4169664"/>
            <a:ext cx="8321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Times New Roman"/>
              </a:rPr>
              <a:t>Stopford, Martin (2023): </a:t>
            </a:r>
            <a:r>
              <a:rPr sz="1200">
                <a:solidFill>
                  <a:srgbClr val="0F172A"/>
                </a:solidFill>
                <a:latin typeface="Times New Roman"/>
              </a:rPr>
              <a:t>"Maritime Economics," 3rd Edition, Routledge Applied Economics, 2023. Benchmark literature on global dry bulk shipping cycles, ton-mile demand elasticity, and charterparty risk economics. Verified Link: https://www.routledge.com/Maritime-Economics-3e/Stopford/p/book/9780415275583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48640" y="5065776"/>
            <a:ext cx="11091672" cy="877824"/>
          </a:xfrm>
          <a:prstGeom prst="roundRect">
            <a:avLst/>
          </a:prstGeom>
          <a:solidFill>
            <a:srgbClr val="F8FAFC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658368" y="5175504"/>
            <a:ext cx="2423160" cy="274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Times New Roman"/>
              </a:rPr>
              <a:t>[MARITIME LEGAL REGULATIONS • 2024]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182112" y="5138928"/>
            <a:ext cx="8321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Times New Roman"/>
              </a:rPr>
              <a:t>Baltic and International Maritime Council (BIMCO) (2024): </a:t>
            </a:r>
            <a:r>
              <a:rPr sz="1200">
                <a:solidFill>
                  <a:srgbClr val="0F172A"/>
                </a:solidFill>
                <a:latin typeface="Times New Roman"/>
              </a:rPr>
              <a:t>"Standard Maritime Charterparties (GENCON 1994 &amp; NYPE 2015) Regulations on Laytime, Demurrage and Seaworthiness," BIMCO Legal &amp; Contractual Standards, 2024. Verified Link: https://www.bimco.org/contracts-and-clauses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48640" y="6053328"/>
            <a:ext cx="11091672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i="1">
                <a:solidFill>
                  <a:srgbClr val="475569"/>
                </a:solidFill>
                <a:latin typeface="Times New Roman"/>
              </a:rPr>
              <a:t>Reference Guidelines: Newest first • Academic &amp; industrial journal sources only • No YouTube • No GitHub • Verified publication URLs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