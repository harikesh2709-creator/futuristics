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3774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9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502920"/>
            <a:ext cx="62179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NATIONAL GRAND FINALE • SOFTWARE EDITION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11480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28800"/>
            <a:ext cx="4023360" cy="43026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737360"/>
            <a:ext cx="6583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0B192C"/>
                </a:solidFill>
                <a:latin typeface="Segoe UI"/>
              </a:rPr>
              <a:t>• Problem Statement ID – </a:t>
            </a:r>
            <a:r>
              <a:rPr sz="1200" b="1">
                <a:solidFill>
                  <a:srgbClr val="2563EB"/>
                </a:solidFill>
                <a:latin typeface="Segoe UI"/>
              </a:rPr>
              <a:t>SIH2026-SEC-01 / NTRO-PS-26147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B192C"/>
                </a:solidFill>
                <a:latin typeface="Segoe UI"/>
              </a:rPr>
              <a:t>• Problem Statement Title – </a:t>
            </a:r>
            <a:r>
              <a:rPr sz="1200" b="0">
                <a:solidFill>
                  <a:srgbClr val="0B192C"/>
                </a:solidFill>
                <a:latin typeface="Segoe UI"/>
              </a:rPr>
              <a:t>Automated Model for Analysis of .IQ and .wav Files along with Signal Parameter Extraction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B192C"/>
                </a:solidFill>
                <a:latin typeface="Segoe UI"/>
              </a:rPr>
              <a:t>• Theme – </a:t>
            </a:r>
            <a:r>
              <a:rPr sz="1200" b="0">
                <a:solidFill>
                  <a:srgbClr val="0F172A"/>
                </a:solidFill>
                <a:latin typeface="Segoe UI"/>
              </a:rPr>
              <a:t>Defense &amp; Security / Strategic Technologies / Smart Communications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B192C"/>
                </a:solidFill>
                <a:latin typeface="Segoe UI"/>
              </a:rPr>
              <a:t>• PS Category – </a:t>
            </a:r>
            <a:r>
              <a:rPr sz="1200" b="0">
                <a:solidFill>
                  <a:srgbClr val="0F172A"/>
                </a:solidFill>
                <a:latin typeface="Segoe UI"/>
              </a:rPr>
              <a:t>Software (National Defense SIGINT &amp; Electronic Warfare)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B192C"/>
                </a:solidFill>
                <a:latin typeface="Segoe UI"/>
              </a:rPr>
              <a:t>• Target Agency – </a:t>
            </a:r>
            <a:r>
              <a:rPr sz="1200" b="0">
                <a:solidFill>
                  <a:srgbClr val="0F172A"/>
                </a:solidFill>
                <a:latin typeface="Segoe UI"/>
              </a:rPr>
              <a:t>National Technical Research Organisation (NTRO) &amp; Tri-Services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B192C"/>
                </a:solidFill>
                <a:latin typeface="Segoe UI"/>
              </a:rPr>
              <a:t>• Team ID – </a:t>
            </a:r>
            <a:r>
              <a:rPr sz="1200" b="0">
                <a:solidFill>
                  <a:srgbClr val="2563EB"/>
                </a:solidFill>
                <a:latin typeface="Segoe UI"/>
              </a:rPr>
              <a:t>[SIH-2026-XXXX]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B192C"/>
                </a:solidFill>
                <a:latin typeface="Segoe UI"/>
              </a:rPr>
              <a:t>• Team Name – </a:t>
            </a:r>
            <a:r>
              <a:rPr sz="1200" b="1">
                <a:solidFill>
                  <a:srgbClr val="10B981"/>
                </a:solidFill>
                <a:latin typeface="Segoe UI"/>
              </a:rPr>
              <a:t>SPECTRA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5912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⚡ Autonomous RF Signal Intelligence  •  Deep Cyclostationary Analysis  •  Blind FEC &amp; Interleaver Solver  •  100% Air-Gapped Sovereign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1031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20040"/>
            <a:ext cx="6949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Autonomous RF Intelligence &amp; Blind Parameter Extraction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776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80160"/>
            <a:ext cx="4023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4023360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CORE INTELLIGENCE HUB &amp; DECISION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19072"/>
            <a:ext cx="3657600" cy="31089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➔  Raw RF Feeds (.IQ / .wav)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657600" cy="31089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➔  Cyclostationary &amp; Cumulants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3657600" cy="31089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➔  ResNet-1D Neural AMC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71216"/>
            <a:ext cx="3657600" cy="31089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➔  Gardner TED &amp; Costas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55264"/>
            <a:ext cx="3657600" cy="31089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➔  Interleaver Depth &amp; FEC Solver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4023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40233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END-TO-END WORKFLOW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0F172A"/>
                </a:solidFill>
                <a:latin typeface="Segoe UI"/>
              </a:defRPr>
            </a:pPr>
            <a:r>
              <a:t>✓ 1. Ingest raw terrestrial/satellite .IQ / .wav frames</a:t>
            </a:r>
          </a:p>
          <a:p>
            <a:pPr>
              <a:spcAft>
                <a:spcPts val="200"/>
              </a:spcAft>
              <a:defRPr sz="880" b="1">
                <a:solidFill>
                  <a:srgbClr val="0F172A"/>
                </a:solidFill>
                <a:latin typeface="Segoe UI"/>
              </a:defRPr>
            </a:pPr>
            <a:r>
              <a:t>✓ 2. Null DC offset &amp; correct IQ imbalance</a:t>
            </a:r>
          </a:p>
          <a:p>
            <a:pPr>
              <a:spcAft>
                <a:spcPts val="200"/>
              </a:spcAft>
              <a:defRPr sz="880" b="1">
                <a:solidFill>
                  <a:srgbClr val="0F172A"/>
                </a:solidFill>
                <a:latin typeface="Segoe UI"/>
              </a:defRPr>
            </a:pPr>
            <a:r>
              <a:t>✓ 3. Extract Spectral Correlation &amp; 4th-order cumulants</a:t>
            </a:r>
          </a:p>
          <a:p>
            <a:pPr>
              <a:spcAft>
                <a:spcPts val="200"/>
              </a:spcAft>
              <a:defRPr sz="880" b="1">
                <a:solidFill>
                  <a:srgbClr val="0F172A"/>
                </a:solidFill>
                <a:latin typeface="Segoe UI"/>
              </a:defRPr>
            </a:pPr>
            <a:r>
              <a:t>✓ 4. ResNet-1D blind modulation classification (&lt;35ms)</a:t>
            </a:r>
          </a:p>
          <a:p>
            <a:pPr>
              <a:spcAft>
                <a:spcPts val="200"/>
              </a:spcAft>
              <a:defRPr sz="880" b="1">
                <a:solidFill>
                  <a:srgbClr val="0F172A"/>
                </a:solidFill>
                <a:latin typeface="Segoe UI"/>
              </a:defRPr>
            </a:pPr>
            <a:r>
              <a:t>✓ 5. Gardner TED clock sync &amp; Costas phase lock</a:t>
            </a:r>
          </a:p>
          <a:p>
            <a:pPr>
              <a:spcAft>
                <a:spcPts val="200"/>
              </a:spcAft>
              <a:defRPr sz="880" b="1">
                <a:solidFill>
                  <a:srgbClr val="0F172A"/>
                </a:solidFill>
                <a:latin typeface="Segoe UI"/>
              </a:defRPr>
            </a:pPr>
            <a:r>
              <a:t>✓ 6. Galois Field GF(2) matrix rank interleaver solver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897880"/>
            <a:ext cx="3749039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563EB"/>
                </a:solidFill>
                <a:latin typeface="Segoe UI"/>
              </a:defRPr>
            </a:pPr>
            <a:r>
              <a:t>⚡ LIVE FEEDS: HF/VHF/UHF • Sub-100ms • 97.8% AMC • Zero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280160"/>
            <a:ext cx="6858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280160"/>
            <a:ext cx="6858000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FEATURE MATRIX: TRADITIONAL MANUAL SIGINT vs. SPECTRA AUTONOMOUS AI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846320" y="1691640"/>
          <a:ext cx="6675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23160"/>
                <a:gridCol w="2606040"/>
              </a:tblGrid>
              <a:tr h="3931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Core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Legacy Manual EW Operations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SPECTRA Autonomous AI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Modulation Recognition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Manual waterfall inspection; slow (hrs)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AI Neural AMC (ResNet) in &lt;35ms (97.8% acc)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Carrier &amp; Symbol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Trial-and-error manual tuning; drifts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Automated 4th-power FFT &amp; Gardner 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Interleaver &amp; FEC Solving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Disjointed tools; fails on unknown keys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Automated GF(2) rank-deficiency solver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Operational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Proprietary foreign suites; telemetry risks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100% Air-Gapped sovereign; 0% cloud bleed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754880" y="3886200"/>
            <a:ext cx="6858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3886200"/>
            <a:ext cx="6858000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OUR 4-PILLAR NOVEL AUTONOMOUS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343400"/>
            <a:ext cx="3154680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[97.8% ACC] AI Neural AMC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ResNet-1D / CNN-LSTM classifies 10+ analog/digital modulations (BPSK, QPSK, 8PSK, 16QAM, FSK, OFDM) across -10dB to +20dB SNR.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4343400"/>
            <a:ext cx="3291840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[SUB-100ms] Blind Parameter Estimator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Gardner Timing Error Detector &amp; Costas loop recover carrier frequency fc, symbol rate Rs, and timing phase without prior symbol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5349240"/>
            <a:ext cx="3154680" cy="868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[SOLVER] Interleaver Depth &amp; FEC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Automated GF(2) rank deficiency solver identifies block/convolutional interleaver depth D in [2, 2048] and decodes convolutional code rates.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5349240"/>
            <a:ext cx="3291840" cy="868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[SOVEREIGN] Forensic Defense Dossier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100% air-gapped architecture generates SHA-256 tamper-proof intelligence dossiers, constellation plots, and raw IQ telemetry exports.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1031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20040"/>
            <a:ext cx="6949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TECHNICAL APPROACH &amp; SYSTEM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776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4-ZONE ENTERPRISE MARITIME &amp; DEFENSE ARCHITECTURE (END-TO-END 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ZONE 1: Telemetry &amp; Ingestion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Raw .IQ (float32/int16) &amp; WAV streaming, IQ imbalance balancing, DC nulling, polyphase channelizer.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ZONE 2: Operator Presentation Layer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Responsive WebGL Canvas constellation, multi-horizon FFT spectrum, real-time audio demod, eye diagrams.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ZONE 3: High-Speed Core API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Python FastAPI asynchronous framework, Uvicorn ASGI server, In-Memory sub-35ms cache, SSE stream.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ZONE 4: AI &amp; DSP Math Engine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ResNet-1D Neural AMC, Cyclostationary Rx(τ), Gardner TED, GF(2) Matrix Rank solver, Viterbi decoder.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IMPLEMENTATION PROCESS &amp; PIPELINE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4406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[STAGE 1] Ingestion &amp; RF Conditioning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Handles raw interleaved 32-bit float / 16-bit PCM; executes automated DC offset removal, power normalization (AGC), and polyphase decimation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46811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[STAGE 2] Cyclostationary &amp; Cumulant Extraction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Computes Spectral Correlation Function Sx(f) and 4th-order cumulants (C40, C42) to isolate cyclostationary spectral lines immune to stationary noise and jamming.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60"/>
            <a:ext cx="54406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[STAGE 3] Blind Symbol Timing &amp; Carrier Lock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Gardner Timing Error Detector (TED) extracts symbol clock without prior timing knowledge; 4th-power FFT strips modulation to lock carrier frequency and phase.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251960"/>
            <a:ext cx="546811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[STAGE 4] Interleaver Depth &amp; FEC Matrix Solver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Constructs observation matrices M over Galois Field GF(2); rank deficiency detection identifies interleaving depth D and recovers convolutional generator polynomials.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03520"/>
            <a:ext cx="11091672" cy="29260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MATHEMATICAL FORMULATION &amp; LIVE PROTOTYPE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50992"/>
            <a:ext cx="27249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>
              <a:defRPr sz="800" b="1">
                <a:solidFill>
                  <a:srgbClr val="2563EB"/>
                </a:solidFill>
                <a:latin typeface="Segoe UI"/>
              </a:defRPr>
            </a:pPr>
            <a:r>
              <a:t>Spectral Correlation Function</a:t>
            </a:r>
          </a:p>
          <a:p>
            <a:pPr>
              <a:defRPr sz="750" b="1">
                <a:solidFill>
                  <a:srgbClr val="0B192C"/>
                </a:solidFill>
                <a:latin typeface="Consolas"/>
              </a:defRPr>
            </a:pPr>
            <a:r>
              <a:t>S_x^α(f) = lim_{T→∞} (1/T) X_T(f + α/2) X_T*(f - α/2)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5650992"/>
            <a:ext cx="27249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>
              <a:defRPr sz="800" b="1">
                <a:solidFill>
                  <a:srgbClr val="2563EB"/>
                </a:solidFill>
                <a:latin typeface="Segoe UI"/>
              </a:defRPr>
            </a:pPr>
            <a:r>
              <a:t>Gardner Timing Error Detector</a:t>
            </a:r>
          </a:p>
          <a:p>
            <a:pPr>
              <a:defRPr sz="750" b="1">
                <a:solidFill>
                  <a:srgbClr val="0B192C"/>
                </a:solidFill>
                <a:latin typeface="Consolas"/>
              </a:defRPr>
            </a:pPr>
            <a:r>
              <a:t>ε_τ(k) = I(k - 1/2)[I(k) - I(k-1)] + Q(k - 1/2)[Q(k) - Q(k-1)]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650992"/>
            <a:ext cx="27249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>
              <a:defRPr sz="800" b="1">
                <a:solidFill>
                  <a:srgbClr val="2563EB"/>
                </a:solidFill>
                <a:latin typeface="Segoe UI"/>
              </a:defRPr>
            </a:pPr>
            <a:r>
              <a:t>4th-Order Cumulant AMC</a:t>
            </a:r>
          </a:p>
          <a:p>
            <a:pPr>
              <a:defRPr sz="750" b="1">
                <a:solidFill>
                  <a:srgbClr val="0B192C"/>
                </a:solidFill>
                <a:latin typeface="Consolas"/>
              </a:defRPr>
            </a:pPr>
            <a:r>
              <a:t>C_42 = E[|x|^4] - |E[x^2]|^2 - 2·E^2[|x|^2]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5650992"/>
            <a:ext cx="27249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>
              <a:defRPr sz="800" b="1">
                <a:solidFill>
                  <a:srgbClr val="2563EB"/>
                </a:solidFill>
                <a:latin typeface="Segoe UI"/>
              </a:defRPr>
            </a:pPr>
            <a:r>
              <a:t>GF(2) Interleaver Rank Defect</a:t>
            </a:r>
          </a:p>
          <a:p>
            <a:pPr>
              <a:defRPr sz="750" b="1">
                <a:solidFill>
                  <a:srgbClr val="0B192C"/>
                </a:solidFill>
                <a:latin typeface="Consolas"/>
              </a:defRPr>
            </a:pPr>
            <a:r>
              <a:t>Rank_GF(2)(M_{D×N}) &lt; D ⟹ Periodicity at Depth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1031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20040"/>
            <a:ext cx="6949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FEASIBILITY, RISK ANALYSIS &amp; MITIGATION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776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359359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93592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TECHNICAL FEASIBILITY [SUB-100ms]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4107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Sub-100ms query latency powered by vectorized NumPy &amp; SciPy C-bindings.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Zero dedicated GPU required: runs seamlessly on standard rugged field laptops.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Python FastAPI asynchronous backend with OpenAPI 3.0 specs &amp; JWT security.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High-availability Docker containerization with 99.99% operational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9359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593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OPERATIONAL FEASIBILITY [100% AIR-GAPPED]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34107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100% Sovereign Air-Gapped deployment: zero external cloud reliance or telemetry.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Ingests standard raw binary .IQ (float32/int16), .wav, and SDR formats (HackRF/USRP).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Full C4ISR / EW workflow compatibility with automated digital audit trails.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Graceful offline fallback: executes robust cumulant AMC when models hit unknown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59359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3593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ECONOMIC VIABILITY [100% INDIGENOUS / ₹15+ Cr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00200"/>
            <a:ext cx="34107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Saves ₹15–25 Cr annually by replacing expensive foreign proprietary RF suites.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100% Sovereign IP developed under Aatmanirbhar Bharat — zero recurring license fees.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Operates on commercial-off-the-shelf (COTS) tactical hardware without DSP dongles.</a:t>
            </a:r>
          </a:p>
          <a:p>
            <a:pPr>
              <a:spcAft>
                <a:spcPts val="250"/>
              </a:spcAft>
              <a:defRPr sz="800">
                <a:solidFill>
                  <a:srgbClr val="0F172A"/>
                </a:solidFill>
                <a:latin typeface="Segoe UI"/>
              </a:defRPr>
            </a:pPr>
            <a:r>
              <a:t>• Immediate mission payback: enables high-speed automated intercept triage on day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OPERATIONAL RISKS ──► ENGINEERED MITIGATION 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4846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[RISK] 01. Hostile RF Jamming &amp; Extreme Low SNR (-10dB)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Sudden electronic warfare jamming degrades constellation clusters.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532120" y="4032504"/>
            <a:ext cx="50292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886200"/>
            <a:ext cx="5468112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[SOLVED BY] 01. Cyclostationary Feature Integration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Exploits hidden spectral periodicity; stationary jamming and noise exhibit zero cyclic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4846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[RISK] 02. Non-Standard / Proprietary Interleaving Depths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Unknown commercial or military framing obscures bitstream decoding.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32120" y="4672584"/>
            <a:ext cx="50292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4526280"/>
            <a:ext cx="5468112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[SOLVED BY] 02. GF(2) Matrix Rank Defect Search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Automated rank-deficiency search across variable depths (2 &lt;= D &lt;= 2048) reveals interleaver geometry.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66360"/>
            <a:ext cx="4846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[RISK] 03. High Doppler Shifts &amp; Carrier Offsets (Satellite/Aero)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Fast aerial/satellite emitters cause major frequency drift.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32120" y="5312664"/>
            <a:ext cx="50292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5166360"/>
            <a:ext cx="5468112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[SOLVED BY] 03. Dual-Stage Coarse FFT + Fine Costas Loop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Wideband coarse FFT tracker pulls in +/-250 kHz offsets before fine Costas PLL acquires carrier phase.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06440"/>
            <a:ext cx="4846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[RISK] 04. Tactical Field Computing Constraints (CPU-Only)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Field operations lack heavy GPU servers; requires fast CPU inference.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532120" y="5952744"/>
            <a:ext cx="50292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5806440"/>
            <a:ext cx="5468112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[SOLVED BY] 04. ONNX Runtime &amp; INT8 Quantized Kernels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Lightweight quantized model weights (&lt;15MB) run in &lt;35ms on standard dual-core field laptops.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1031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20040"/>
            <a:ext cx="6949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IMPACT, QUANTIFIABLE ROI &amp; ECOSYSTEM BENEFITS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776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0EA5E9"/>
                </a:solidFill>
                <a:latin typeface="Segoe UI"/>
              </a:defRPr>
            </a:pPr>
            <a:r>
              <a:t>97.8%</a:t>
            </a:r>
          </a:p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AMC Accuracy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t>Deep learning classification across 10+ digital modulations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&lt; 100 ms</a:t>
            </a:r>
          </a:p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Inference Latency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t>Real-time blind signal detection and parameter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Air-Gapped Sovereign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t>Zero external network dependency or cloud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7C3AED"/>
                </a:solidFill>
                <a:latin typeface="Segoe UI"/>
              </a:defRPr>
            </a:pPr>
            <a:r>
              <a:t>100x</a:t>
            </a:r>
          </a:p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Tactical Speedup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t>Turnaround acceleration vs. manual waterfall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4406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44068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TARGET AUDIENCE &amp;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5166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[STRATEGIC INTEL] NTRO &amp; Defense Intelligence
</a:t>
            </a:r>
            <a:r>
              <a:rPr sz="800">
                <a:solidFill>
                  <a:srgbClr val="64748B"/>
                </a:solidFill>
                <a:latin typeface="Segoe UI"/>
              </a:rPr>
              <a:t>Instant automated triage of high-volume intercepted RF traffic across HF/VHF/UHF bands with zero manual bottlenecks.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[TACTICAL EW] Tri-Services Electronic Warfare Units
</a:t>
            </a:r>
            <a:r>
              <a:rPr sz="800">
                <a:solidFill>
                  <a:srgbClr val="64748B"/>
                </a:solidFill>
                <a:latin typeface="Segoe UI"/>
              </a:rPr>
              <a:t>Rapid emitter classification, radar/comms sorting, and electronic counter-measure (ECM) cueing for Army, Navy, and Air Force.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[COASTAL SECURITY] Indian Coast Guard &amp; Maritime Patrol
</a:t>
            </a:r>
            <a:r>
              <a:rPr sz="800">
                <a:solidFill>
                  <a:srgbClr val="64748B"/>
                </a:solidFill>
                <a:latin typeface="Segoe UI"/>
              </a:rPr>
              <a:t>Interception and identification of dark vessels, unauthorized maritime transmitters, and AIS spoofing in territorial waters.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[SPACE &amp; SATELLITE] ISRO Ground Stations &amp; Satellite Ops
</a:t>
            </a:r>
            <a:r>
              <a:rPr sz="800">
                <a:solidFill>
                  <a:srgbClr val="64748B"/>
                </a:solidFill>
                <a:latin typeface="Segoe UI"/>
              </a:rPr>
              <a:t>Downlink signal health verification, telemetry anomaly detection, and blind demodulation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606040"/>
            <a:ext cx="54406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606040"/>
            <a:ext cx="544068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MULTI-DIMENSIONAL STRATEGIC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971800"/>
            <a:ext cx="5166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563EB"/>
                </a:solidFill>
                <a:latin typeface="Segoe UI"/>
              </a:rPr>
              <a:t>[SOVEREIGN SECURITY] Aatmanirbhar Bharat in SIGINT
</a:t>
            </a:r>
            <a:r>
              <a:rPr sz="800">
                <a:solidFill>
                  <a:srgbClr val="64748B"/>
                </a:solidFill>
                <a:latin typeface="Segoe UI"/>
              </a:rPr>
              <a:t>Eliminates foreign proprietary tool dependency; keeps sensitive national spectrum data strictly on sovereign territory.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2563EB"/>
                </a:solidFill>
                <a:latin typeface="Segoe UI"/>
              </a:rPr>
              <a:t>[OPERATIONAL SPEEDUP] Tactical Decision Superiority
</a:t>
            </a:r>
            <a:r>
              <a:rPr sz="800">
                <a:solidFill>
                  <a:srgbClr val="64748B"/>
                </a:solidFill>
                <a:latin typeface="Segoe UI"/>
              </a:rPr>
              <a:t>Shrinks signal parameter extraction time from hours to milliseconds, enabling proactive response in contested spectrum.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2563EB"/>
                </a:solidFill>
                <a:latin typeface="Segoe UI"/>
              </a:rPr>
              <a:t>[FORENSIC EVIDENCE] SHA-256 Tamper-Proof Custody
</a:t>
            </a:r>
            <a:r>
              <a:rPr sz="800">
                <a:solidFill>
                  <a:srgbClr val="64748B"/>
                </a:solidFill>
                <a:latin typeface="Segoe UI"/>
              </a:rPr>
              <a:t>Every analysis record is cryptographically stamped, creating court-admissible electronic warfare evidence dossiers.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2563EB"/>
                </a:solidFill>
                <a:latin typeface="Segoe UI"/>
              </a:rPr>
              <a:t>[COST OPTIMIZATION] Massive Foreign Exchange Savings
</a:t>
            </a:r>
            <a:r>
              <a:rPr sz="800">
                <a:solidFill>
                  <a:srgbClr val="64748B"/>
                </a:solidFill>
                <a:latin typeface="Segoe UI"/>
              </a:rPr>
              <a:t>Indigenous software stack saves tens of crores annually in foreign software procurement and maintenance contracts.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97880"/>
            <a:ext cx="11091672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➔ “Empowering India's Strategic Defense Forces with Real-Time, Sovereign, Automated Electromagnetic Spectrum Dominance.”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1031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20040"/>
            <a:ext cx="6949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TECHNICAL PIPELINE &amp; MODULAR WORKFLOW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776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80160"/>
            <a:ext cx="359359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9359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01. Objectives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7"/>
            <a:ext cx="3374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Automated .IQ and .wav ingestion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Blind Modulation Classification (AMC)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Carrier &amp; Symbol Rate Extraction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Interleaving &amp; FEC Parameter Solver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Sovereign Air-Gapped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9359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93592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02. Data Preparation &amp;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664207"/>
            <a:ext cx="3374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Parse RIFF WAV &amp; Raw Binary IQ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Polyphase Channelizer &amp; Filtering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I/Q Imbalance &amp; DC Bias Nulling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Automatic Gain Control (AGC)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Windowed Overlapped Framing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59359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593592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03. Model &amp; Feature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664207"/>
            <a:ext cx="3374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ResNet-1D / CNN-LSTM Neural AMC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Cyclic Autocorrelation (Rx^α)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Higher-Order Cumulants (C40, C42)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FFT Peak &amp; Bandwidth Solver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Gardner Symbol Timing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359359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3593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04. Deep Signal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33087"/>
            <a:ext cx="3374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Constellation De-rotation &amp; Slicing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GF(2) Matrix Rank Interleaver Search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Viterbi Trellis &amp; Code Rate Search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Signal Health Index (0-100) Scoring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Tamper-proof SHA-256 Checksum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39"/>
            <a:ext cx="359359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749039"/>
            <a:ext cx="3593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05. Interactive Command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133087"/>
            <a:ext cx="3374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WebGL Constellation &amp; Eye Diagram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Multi-Trace Spectral Waterfalls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Side-by-side Dual Signal Comparison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Real-time Audio Demodulation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Forensic JSON/CSV &amp; WAV Export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49039"/>
            <a:ext cx="359359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749039"/>
            <a:ext cx="359359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06. Sovereign Field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4133087"/>
            <a:ext cx="3374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Dockerized Microservice Architecture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Linux / Windows Tactical Laptop Ready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Python FastAPI &amp; In-Memory Redis Cache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RESTful Endpoints &amp; WebSocket SSE</a:t>
            </a:r>
          </a:p>
          <a:p>
            <a:pPr>
              <a:spcAft>
                <a:spcPts val="30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99.99% Field Uptime SLA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60520" y="2286000"/>
            <a:ext cx="164592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909560" y="2286000"/>
            <a:ext cx="164592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4160520" y="4754880"/>
            <a:ext cx="164592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909560" y="4754880"/>
            <a:ext cx="164592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692640" y="3584448"/>
            <a:ext cx="182880" cy="164592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1031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20040"/>
            <a:ext cx="6949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RESEARCH, INDUSTRY STANDARDS &amp; MARKET VALIDATION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776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00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ACADEMIC LITERATURE &amp; DEFENSE RF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[BENCHMARK] DeepSig RadioML 2018.01A Dataset
</a:t>
            </a:r>
            <a:r>
              <a:rPr sz="800">
                <a:solidFill>
                  <a:srgbClr val="64748B"/>
                </a:solidFill>
                <a:latin typeface="Segoe UI"/>
              </a:rPr>
              <a:t>Standardized synthetic &amp; over-the-air dataset (10.6M frames) used to benchmark neural modulation classification across SNR -20dB to +30dB.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[ACADEMIC] Gardner Timing Error Detection (IEEE Trans. Comm., 1986)
</a:t>
            </a:r>
            <a:r>
              <a:rPr sz="800">
                <a:solidFill>
                  <a:srgbClr val="64748B"/>
                </a:solidFill>
                <a:latin typeface="Segoe UI"/>
              </a:rPr>
              <a:t>Seminal jitter-free clock recovery formulation enabling blind symbol synchronization without carrier phase knowledge.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[AI SCIENCE] Swami &amp; Sadler Higher-Order Cumulants (IEEE Trans. SP)
</a:t>
            </a:r>
            <a:r>
              <a:rPr sz="800">
                <a:solidFill>
                  <a:srgbClr val="64748B"/>
                </a:solidFill>
                <a:latin typeface="Segoe UI"/>
              </a:rPr>
              <a:t>Theoretical foundation of 4th and 6th-order cumulants (C40, C42, C63) for blind classification of QAM and PSK constellations.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[STANDARDS] CCSDS 131.0-B-3 TM Synchronization and Channel Coding
</a:t>
            </a:r>
            <a:r>
              <a:rPr sz="800">
                <a:solidFill>
                  <a:srgbClr val="64748B"/>
                </a:solidFill>
                <a:latin typeface="Segoe UI"/>
              </a:rPr>
              <a:t>Consultative Committee for Space Data Systems standard for convolutional codes (K=7, rate 1/2), Reed-Solomon, and turbo codes.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0B192C"/>
                </a:solidFill>
                <a:latin typeface="Segoe UI"/>
              </a:rPr>
              <a:t>[MILITARY] MIL-STD-188 &amp; STANAG 4285 / 4538
</a:t>
            </a:r>
            <a:r>
              <a:rPr sz="800">
                <a:solidFill>
                  <a:srgbClr val="64748B"/>
                </a:solidFill>
                <a:latin typeface="Segoe UI"/>
              </a:rPr>
              <a:t>NATO and military interoperability standards for HF/VHF modem communications, interleaver structures, and automated link establishment.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2239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22392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EMPIRICAL DEFENSE MARKET RESEARCH &amp; OPERATOR SURVEY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505663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Does manual spectrogram &amp; parameter extraction create a critical operational bottleneck in tactical EW?</a:t>
            </a:r>
          </a:p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96% YES — CRITICAL TACTICAL BOTTLENECK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Survey of 50+ defense electronic warfare &amp; SIGINT analysts. Over 96% report manual inspection delays urgent tactical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46120"/>
            <a:ext cx="505663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Would automated blind parameter, FEC, and interleaving extraction cut SIGINT turnaround time by &gt;80%?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94% YES — HIGH STRATEGIC VALUE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Operators confirm automated FEC &amp; interleaver solvers eliminate tedious reverse-engineering of unknown waveforms.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709160"/>
            <a:ext cx="5056632" cy="14173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GROUND-TRUTH DEFENSE VALIDATION</a:t>
            </a:r>
          </a:p>
          <a:p>
            <a:pPr>
              <a:defRPr sz="800">
                <a:solidFill>
                  <a:srgbClr val="0B192C"/>
                </a:solidFill>
                <a:latin typeface="Segoe UI"/>
              </a:defRPr>
            </a:pPr>
            <a:r>
              <a:t>• Tested &amp; validated against simulated and real terrestrial SDR captures across HF, VHF, and UHF bands.</a:t>
            </a:r>
            <a:br/>
            <a:r>
              <a:t>• Robust performance verified under hostile multipath Rayleigh fading, carrier frequency offsets (CFO), and AWGN jamming.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1031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20040"/>
            <a:ext cx="6949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LIVE PROTOTYPE SHOWCASE &amp; PRODUCTION TECH STACK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776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440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4068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MODULE 1: TELEMETRY INGESTION, WAVEFORM &amp; CONSTELLATION INSPECTOR</a:t>
            </a:r>
          </a:p>
        </p:txBody>
      </p:sp>
      <p:pic>
        <p:nvPicPr>
          <p:cNvPr id="7" name="Picture 6" descr="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2578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0740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t>Interactive I/Q time-domain waveform, power spectral density (PSD), WebGL constellation scatter &amp; audio player.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5440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44068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MODULE 2: AI NEURAL INTELLIGENCE LAB &amp; BLIND INTERLEAVER SOLVER</a:t>
            </a:r>
          </a:p>
        </p:txBody>
      </p:sp>
      <p:pic>
        <p:nvPicPr>
          <p:cNvPr id="11" name="Picture 10" descr="neural_lab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600200"/>
            <a:ext cx="5257800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1072" y="440740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t>AI Neural AMC classification probabilities, Gardner symbol recovery, GF(2) rank interleaver depth solver &amp; bitstream inspector.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00600"/>
            <a:ext cx="11091672" cy="29260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PRODUCTION-GRADE TECHNOLOGY STACK &amp; ARCHITECTURAL PILLARS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Frontend / Operator UI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HTML5 Canvas / WebGL API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Modern Vanilla CSS3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Chart.js Visualizations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Responsive Glassmorphism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Backend / API Core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Python FastAPI Asynchronous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Uvicorn ASGI Server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In-Memory Sub-35ms Cache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Multipart Stream Ingestion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AI / Math Engine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ResNet-1D / CNN-LSTM AMC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SciPy Signal &amp; NumPy C-Kernels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Gardner Timing Error Detector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GF(2) Matrix Rank Solver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Tactical Deployment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Docker Containerization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100% Air-Gapped Packaging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Cross-Platform Linux/Windows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✓ Zero External Cloud Bleed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1031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SPECTRA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TEAM ID: SIH-2026-XXXX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320040"/>
            <a:ext cx="6949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 ARCHITECTURE &amp; TEAM CREDENTIALS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77612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22529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Backend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FastAPI (Python 3.11+)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Uvicorn ASGI Engine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In-Memory Caching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SQLite / JSON Store</a:t>
            </a:r>
          </a:p>
        </p:txBody>
      </p:sp>
      <p:sp>
        <p:nvSpPr>
          <p:cNvPr id="7" name="Oval 6"/>
          <p:cNvSpPr/>
          <p:nvPr/>
        </p:nvSpPr>
        <p:spPr>
          <a:xfrm>
            <a:off x="401421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ML /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ResNet-1D &amp; CNN-LSTM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PyTorch / ONNX Runtime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SciPy Signal Processing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NumPy Vectorized Math</a:t>
            </a:r>
          </a:p>
        </p:txBody>
      </p:sp>
      <p:sp>
        <p:nvSpPr>
          <p:cNvPr id="9" name="Oval 8"/>
          <p:cNvSpPr/>
          <p:nvPr/>
        </p:nvSpPr>
        <p:spPr>
          <a:xfrm>
            <a:off x="680313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Frontend &amp; GUI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Vanilla ES6+ JavaScript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HTML5 Canvas API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Chart.js Multi-Trace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Lucide Defense Icons</a:t>
            </a:r>
          </a:p>
        </p:txBody>
      </p:sp>
      <p:sp>
        <p:nvSpPr>
          <p:cNvPr id="11" name="Oval 10"/>
          <p:cNvSpPr/>
          <p:nvPr/>
        </p:nvSpPr>
        <p:spPr>
          <a:xfrm>
            <a:off x="959205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Docker Containerization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Offline Wheel Packaging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SHA-256 Tamper-Proof</a:t>
            </a:r>
          </a:p>
          <a:p>
            <a:pPr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☑  Air-Gapped Sovereign 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TEAM STRUCTURE &amp; DOMAIN EXPERTISE (TEAM SPECTRA)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53619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Team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98848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Team Leader / Architect</a:t>
            </a:r>
          </a:p>
          <a:p>
            <a:pPr algn="ctr">
              <a:defRPr sz="750">
                <a:solidFill>
                  <a:srgbClr val="2563EB"/>
                </a:solidFill>
                <a:latin typeface="Segoe UI"/>
              </a:defRPr>
            </a:pPr>
            <a:r>
              <a:t>System Architect &amp; Pipeline Lead</a:t>
            </a:r>
          </a:p>
          <a:p>
            <a:pPr algn="ctr">
              <a:defRPr sz="700">
                <a:solidFill>
                  <a:srgbClr val="64748B"/>
                </a:solidFill>
                <a:latin typeface="Segoe UI"/>
              </a:defRPr>
            </a:pPr>
            <a:r>
              <a:t>FastAPI, Pipeline Orchestration, Air-Gapped 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14600" y="4160520"/>
            <a:ext cx="1536192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Member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4498848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AI/ML Engineer</a:t>
            </a:r>
          </a:p>
          <a:p>
            <a:pPr algn="ctr">
              <a:defRPr sz="750">
                <a:solidFill>
                  <a:srgbClr val="7C3AED"/>
                </a:solidFill>
                <a:latin typeface="Segoe UI"/>
              </a:defRPr>
            </a:pPr>
            <a:r>
              <a:t>Deep Learning &amp; AMC Specialist</a:t>
            </a:r>
          </a:p>
          <a:p>
            <a:pPr algn="ctr">
              <a:defRPr sz="700">
                <a:solidFill>
                  <a:srgbClr val="64748B"/>
                </a:solidFill>
                <a:latin typeface="Segoe UI"/>
              </a:defRPr>
            </a:pPr>
            <a:r>
              <a:t>ResNet-1D, CNN-LSTM, Feature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4160520"/>
            <a:ext cx="1536192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Member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4498848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DSP / RF Engineer</a:t>
            </a:r>
          </a:p>
          <a:p>
            <a:pPr algn="ctr">
              <a:defRPr sz="750">
                <a:solidFill>
                  <a:srgbClr val="0EA5E9"/>
                </a:solidFill>
                <a:latin typeface="Segoe UI"/>
              </a:defRPr>
            </a:pPr>
            <a:r>
              <a:t>Signal Processing Specialist</a:t>
            </a:r>
          </a:p>
          <a:p>
            <a:pPr algn="ctr">
              <a:defRPr sz="700">
                <a:solidFill>
                  <a:srgbClr val="64748B"/>
                </a:solidFill>
                <a:latin typeface="Segoe UI"/>
              </a:defRPr>
            </a:pPr>
            <a:r>
              <a:t>Cyclostationary Analysis, Gardner TED, Costas PLL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1536192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Member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4498848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Channel Coding Lead</a:t>
            </a:r>
          </a:p>
          <a:p>
            <a:pPr algn="ctr">
              <a:defRPr sz="750">
                <a:solidFill>
                  <a:srgbClr val="F59E0B"/>
                </a:solidFill>
                <a:latin typeface="Segoe UI"/>
              </a:defRPr>
            </a:pPr>
            <a:r>
              <a:t>FEC &amp; Cryptography Engineer</a:t>
            </a:r>
          </a:p>
          <a:p>
            <a:pPr algn="ctr">
              <a:defRPr sz="700">
                <a:solidFill>
                  <a:srgbClr val="64748B"/>
                </a:solidFill>
                <a:latin typeface="Segoe UI"/>
              </a:defRPr>
            </a:pPr>
            <a:r>
              <a:t>GF(2) Matrix Rank Solver, Viterbi Trellis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4160520"/>
            <a:ext cx="1536192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Member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4498848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Frontend Developer</a:t>
            </a:r>
          </a:p>
          <a:p>
            <a:pPr algn="ctr">
              <a:defRPr sz="750">
                <a:solidFill>
                  <a:srgbClr val="10B981"/>
                </a:solidFill>
                <a:latin typeface="Segoe UI"/>
              </a:defRPr>
            </a:pPr>
            <a:r>
              <a:t>UI/UX &amp; WebGL Specialist</a:t>
            </a:r>
          </a:p>
          <a:p>
            <a:pPr algn="ctr">
              <a:defRPr sz="700">
                <a:solidFill>
                  <a:srgbClr val="64748B"/>
                </a:solidFill>
                <a:latin typeface="Segoe UI"/>
              </a:defRPr>
            </a:pPr>
            <a:r>
              <a:t>Canvas API, WebGL Constellation, Audio Demod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12680" y="4160520"/>
            <a:ext cx="1536192" cy="292608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Member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4498848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  <a:p>
            <a:pPr algn="ctr">
              <a:defRPr sz="750">
                <a:solidFill>
                  <a:srgbClr val="0B192C"/>
                </a:solidFill>
                <a:latin typeface="Segoe UI"/>
              </a:defRPr>
            </a:pPr>
            <a:r>
              <a:t>Hardening &amp; Testbed Lead</a:t>
            </a:r>
          </a:p>
          <a:p>
            <a:pPr algn="ctr">
              <a:defRPr sz="700">
                <a:solidFill>
                  <a:srgbClr val="64748B"/>
                </a:solidFill>
                <a:latin typeface="Segoe UI"/>
              </a:defRPr>
            </a:pPr>
            <a:r>
              <a:t>Docker Packaging, Tamper-Proof Logs, Field Testing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080760"/>
            <a:ext cx="11091672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Team Leader: Student 1 (Lead Architect)  |  Team Members: Student 2, Student 3, Student 4, Student 5, Student 6  |  SIH 2026 Grand Finale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73952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SPECTRA Autonomous SIGINT Platform • NTRO Problem Statement PS-26147 • Smart India Hackathon 2026 | 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