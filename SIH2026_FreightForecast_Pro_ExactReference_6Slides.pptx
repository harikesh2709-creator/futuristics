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1325880"/>
            <a:ext cx="9601200" cy="548640"/>
          </a:xfrm>
        </p:spPr>
        <p:txBody>
          <a:bodyPr/>
          <a:lstStyle/>
          <a:p>
            <a:pPr algn="ctr"/>
            <a:r>
              <a:rPr sz="2600" b="1">
                <a:solidFill>
                  <a:srgbClr val="0F172A"/>
                </a:solidFill>
                <a:latin typeface="Times New Roman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9601200" cy="822960"/>
          </a:xfrm>
        </p:spPr>
        <p:txBody>
          <a:bodyPr/>
          <a:lstStyle/>
          <a:p>
            <a:pPr algn="ctr"/>
            <a:r>
              <a:rPr sz="3600" b="1">
                <a:solidFill>
                  <a:srgbClr val="1E3A8A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6035040" cy="420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700" b="1">
                <a:solidFill>
                  <a:srgbClr val="0F172A"/>
                </a:solidFill>
                <a:latin typeface="Times New Roman"/>
              </a:rPr>
              <a:t>Problem Statement ID - </a:t>
            </a:r>
            <a:r>
              <a:rPr sz="1700" b="0">
                <a:solidFill>
                  <a:srgbClr val="0F172A"/>
                </a:solidFill>
                <a:latin typeface="Times New Roman"/>
              </a:rPr>
              <a:t>SIH26006 / SIH2026-LOG-01</a:t>
            </a:r>
            <a:endParaRPr lang="en-US" dirty="0"/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700" b="1">
                <a:solidFill>
                  <a:srgbClr val="0F172A"/>
                </a:solidFill>
                <a:latin typeface="Times New Roman"/>
              </a:rPr>
              <a:t>Problem Statement Title - </a:t>
            </a:r>
            <a:r>
              <a:rPr sz="1700" b="0">
                <a:solidFill>
                  <a:srgbClr val="0F172A"/>
                </a:solidFill>
                <a:latin typeface="Times New Roman"/>
              </a:rPr>
              <a:t>FreightForecast Pro: AI Freight Forecasting &amp; Berth-Draught Vessel Routing System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700" b="1">
                <a:solidFill>
                  <a:srgbClr val="0F172A"/>
                </a:solidFill>
                <a:latin typeface="Times New Roman"/>
              </a:rPr>
              <a:t>Theme - </a:t>
            </a:r>
            <a:r>
              <a:rPr sz="1700" b="0">
                <a:solidFill>
                  <a:srgbClr val="0F172A"/>
                </a:solidFill>
                <a:latin typeface="Times New Roman"/>
              </a:rPr>
              <a:t>Smart Logistics / Maritime &amp; Port Supply Chain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700" b="1">
                <a:solidFill>
                  <a:srgbClr val="0F172A"/>
                </a:solidFill>
                <a:latin typeface="Times New Roman"/>
              </a:rPr>
              <a:t>PS Category - </a:t>
            </a:r>
            <a:r>
              <a:rPr sz="1700" b="0">
                <a:solidFill>
                  <a:srgbClr val="0F172A"/>
                </a:solidFill>
                <a:latin typeface="Times New Roman"/>
              </a:rPr>
              <a:t>Software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700" b="1">
                <a:solidFill>
                  <a:srgbClr val="0F172A"/>
                </a:solidFill>
                <a:latin typeface="Times New Roman"/>
              </a:rPr>
              <a:t>Team ID - </a:t>
            </a:r>
            <a:r>
              <a:rPr sz="1700" b="0">
                <a:solidFill>
                  <a:srgbClr val="0F172A"/>
                </a:solidFill>
                <a:latin typeface="Times New Roman"/>
              </a:rPr>
              <a:t>[As Registered on SIH Portal]</a:t>
            </a:r>
          </a:p>
          <a:p>
            <a:pPr>
              <a:spcBef>
                <a:spcPts val="1400"/>
              </a:spcBef>
              <a:spcAft>
                <a:spcPts val="200"/>
              </a:spcAft>
            </a:pPr>
            <a:r>
              <a:rPr sz="1700" b="1">
                <a:solidFill>
                  <a:srgbClr val="0F172A"/>
                </a:solidFill>
                <a:latin typeface="Times New Roman"/>
              </a:rPr>
              <a:t>• </a:t>
            </a:r>
            <a:r>
              <a:rPr sz="1700" b="1">
                <a:solidFill>
                  <a:srgbClr val="0F172A"/>
                </a:solidFill>
                <a:latin typeface="Times New Roman"/>
              </a:rPr>
              <a:t>Team Name – </a:t>
            </a:r>
            <a:r>
              <a:rPr sz="1700" b="0">
                <a:solidFill>
                  <a:srgbClr val="0F172A"/>
                </a:solidFill>
                <a:latin typeface="Times New Roman"/>
              </a:rPr>
              <a:t>Team 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46304"/>
            <a:ext cx="7680960" cy="658368"/>
          </a:xfrm>
        </p:spPr>
        <p:txBody>
          <a:bodyPr wrap="square"/>
          <a:lstStyle/>
          <a:p>
            <a:pPr eaLnBrk="1" hangingPunct="1" algn="ctr"/>
            <a:r>
              <a:rPr sz="1350" b="1" i="1">
                <a:solidFill>
                  <a:srgbClr val="0F172A"/>
                </a:solidFill>
                <a:latin typeface="Arial"/>
              </a:rPr>
              <a:t>FreightForecast Pro: AI-Powered Maritime Bulk Freight Rate Forecasting</a:t>
            </a:r>
          </a:p>
          <a:p>
            <a:pPr algn="ctr"/>
            <a:r>
              <a:rPr sz="1350" b="1" i="1">
                <a:solidFill>
                  <a:srgbClr val="0F172A"/>
                </a:solidFill>
                <a:latin typeface="Arial"/>
              </a:rPr>
              <a:t>&amp; Vessel Chartering Optimizer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82880" y="182880"/>
            <a:ext cx="1691640" cy="59436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28600" y="868680"/>
            <a:ext cx="53035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Problem: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Global ocean freight rates fluctuate by ±35% monthly due to geopolitical shocks and seasonal Bay of Bengal monsoons. India's steel and power utilities import 180M+ MT of bulk coal without forward visibility, suffering multi-million dollar budget overruns, dead-freight penalties, and $15,000–$30,000/day port demurrage fees.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806440" y="868680"/>
            <a:ext cx="60807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Our Idea :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  <a:latin typeface="Arial"/>
              </a:rPr>
              <a:t>FreightForecast Pro is an AI-powered maritime decision platform with a 3-layer approach delivering 90-day forward freight rate forecasts, dynamic tidal draught optimization, and automated spot-versus-forward hedging. It transforms fragmented Baltic fixtures, satellite AIS telemetry, and tidal circulars into actionable chartering intelligence.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228600" y="2331720"/>
            <a:ext cx="3977639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Proposed Solution :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E3A8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When spot freight rates surge or seasonal disruptions strike, the system seamlessly activates a 3-layer architecture — Baltic Fixture Ingestion (primary), Satellite AIS Fleet Telematics (secondary), and Port Trust Tidal Hydrodynamics (tertiary).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E3A8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A smart Holt-Winters forecasting engine (α=0.28, β=0.05, γ=0.62) coupled with 10,000-run Monte Carlo simulations generates predictive rate curves with 1.7% MAPE.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E3A8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Dynamic Under-Keel Clearance (UKC ≥ 1.5m) solver synchronizes vessel intake with hourly astronomical tide curves to eliminate grounding risks and dead-freight penalties.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E3A8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Automated COA Hedging Advisor identifies cyclical market entry windows to lock 3M/12M forward fixtures at cycle-bottom rates.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8275320" y="2331720"/>
            <a:ext cx="3657600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Innovation/Uniqueness: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E3A8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India's first 3-layer maritime freight forecasting and tidal berth optimizer.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E3A8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Transforms raw non-standard AIS transponder pings and bathymetric gazettes into real-time anchorage demurrage risk alerts.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E3A8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Proprietary Market Entry Score (0–100) dynamically advising charterers when to lock forward COA fixtures before cyclical spot freight spikes.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E3A8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Lab-based Monte Carlo Simulation Framework lowers commercial chartering risks and trains the predictive model for real-world supply chain robustness.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5623560" y="868680"/>
            <a:ext cx="18288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11680" y="164592"/>
            <a:ext cx="80467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Arial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82880" y="182880"/>
            <a:ext cx="1691640" cy="59436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28600" y="960120"/>
            <a:ext cx="489204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rial"/>
              </a:rPr>
              <a:t>Hardware &amp; Software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Baltic Exchange &amp; AIS Ingestion Engine: </a:t>
            </a:r>
            <a:r>
              <a:rPr sz="1050">
                <a:solidFill>
                  <a:srgbClr val="334155"/>
                </a:solidFill>
                <a:latin typeface="Arial"/>
              </a:rPr>
              <a:t>Primary freight rate source for Capesize (BCI), Panamax (BPI), and satellite AIS telemetry.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Holt-Winters Forecasting Engine: </a:t>
            </a:r>
            <a:r>
              <a:rPr sz="1050">
                <a:solidFill>
                  <a:srgbClr val="334155"/>
                </a:solidFill>
                <a:latin typeface="Arial"/>
              </a:rPr>
              <a:t>Triple Exponential Smoothing (α=0.28, β=0.05, γ=0.62) with 10k Monte Carlo bounds.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SciPy Dynamic Draught Solver: </a:t>
            </a:r>
            <a:r>
              <a:rPr sz="1050">
                <a:solidFill>
                  <a:srgbClr val="334155"/>
                </a:solidFill>
                <a:latin typeface="Arial"/>
              </a:rPr>
              <a:t>Linear programming algorithm optimizing vessel parcel intake against astronomical tide curves.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Python / NumPy / SciPy: </a:t>
            </a:r>
            <a:r>
              <a:rPr sz="1050">
                <a:solidFill>
                  <a:srgbClr val="334155"/>
                </a:solidFill>
                <a:latin typeface="Arial"/>
              </a:rPr>
              <a:t>Simulate, validate, and benchmark maritime freight rate volatility and laytime limits.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FastAPI &amp; Uvicorn (ASGI): </a:t>
            </a:r>
            <a:r>
              <a:rPr sz="1050">
                <a:solidFill>
                  <a:srgbClr val="334155"/>
                </a:solidFill>
                <a:latin typeface="Arial"/>
              </a:rPr>
              <a:t>Asynchronous high-throughput microservices architecture delivering real-time calculation endpoints.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Redis In-Memory Cache: </a:t>
            </a:r>
            <a:r>
              <a:rPr sz="1050">
                <a:solidFill>
                  <a:srgbClr val="334155"/>
                </a:solidFill>
                <a:latin typeface="Arial"/>
              </a:rPr>
              <a:t>Sub-35 millisecond query response time for instantaneous scenario testing and live fleet lookups.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Leaflet.js &amp; HTML5 Canvas: </a:t>
            </a:r>
            <a:r>
              <a:rPr sz="1050">
                <a:solidFill>
                  <a:srgbClr val="334155"/>
                </a:solidFill>
                <a:latin typeface="Arial"/>
              </a:rPr>
              <a:t>Interactive nautical spatial charts with real-time vessel positions and route progress.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PostgreSQL &amp; PostGIS: </a:t>
            </a:r>
            <a:r>
              <a:rPr sz="1050">
                <a:solidFill>
                  <a:srgbClr val="334155"/>
                </a:solidFill>
                <a:latin typeface="Arial"/>
              </a:rPr>
              <a:t>Relational and geospatial database storing port bathymetry, berth constraints, and 5-year fixture history.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5257800" y="960120"/>
            <a:ext cx="18288" cy="5303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394960" y="960120"/>
            <a:ext cx="2743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 u="sng">
                <a:solidFill>
                  <a:srgbClr val="1E3A8A"/>
                </a:solidFill>
                <a:latin typeface="Arial"/>
              </a:rPr>
              <a:t>FLOW CHART</a:t>
            </a:r>
          </a:p>
        </p:txBody>
      </p:sp>
      <p:pic>
        <p:nvPicPr>
          <p:cNvPr id="17413" name="Picture 17412" descr="drawio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280160"/>
            <a:ext cx="6537960" cy="315468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5394960" y="452628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 u="sng">
                <a:solidFill>
                  <a:srgbClr val="1E3A8A"/>
                </a:solidFill>
                <a:latin typeface="Arial"/>
              </a:rPr>
              <a:t>3 LAYER APPROACH</a:t>
            </a:r>
          </a:p>
        </p:txBody>
      </p:sp>
      <p:pic>
        <p:nvPicPr>
          <p:cNvPr id="17415" name="Picture 17414" descr="ref_slide3_3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800600"/>
            <a:ext cx="2971800" cy="1417320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8503920" y="4572000"/>
            <a:ext cx="3429000" cy="1645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595360" y="4645152"/>
            <a:ext cx="324612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rial"/>
              </a:rPr>
              <a:t>GitHub link: </a:t>
            </a:r>
          </a:p>
          <a:p>
            <a:r>
              <a:rPr sz="950" b="1">
                <a:solidFill>
                  <a:srgbClr val="2563EB"/>
                </a:solidFill>
                <a:latin typeface="Arial"/>
              </a:rPr>
              <a:t>https://github.com/harikesh2709-creator/FUTURISTICS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YouTube video : </a:t>
            </a:r>
            <a:r>
              <a:rPr sz="1200" b="1">
                <a:solidFill>
                  <a:srgbClr val="2563EB"/>
                </a:solidFill>
                <a:latin typeface="Arial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DC2626"/>
                </a:solidFill>
                <a:latin typeface="Arial"/>
              </a:rPr>
              <a:t>Above 40% of the prototype is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11680" y="164592"/>
            <a:ext cx="80467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Arial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82880" y="182880"/>
            <a:ext cx="1691640" cy="59436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943600" y="960120"/>
            <a:ext cx="18288" cy="5303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228600" y="960120"/>
            <a:ext cx="55321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Feasibility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Cloud-native SaaS simulated freight data, avoiding early physical hardware dependency on ships.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Converts Baltic Exchange historical indices and AIS pings into forward freight predictions.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Validation with official datasets: Ensures accurate simulation by comparing with real Baltic fixture records.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Safe testing environment: Automated voyage backtesting; zero risk to maritime operations.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Algorithm flexibility: Controlled seasonal decomposition allows the AI algorithm to be trained for any monsoon condition before real-time deployment.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72200" y="960120"/>
            <a:ext cx="5715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Commercial feasibility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Market Validation: Growing interest in maritime logistics optimization shows demand for resilient freight prediction tools.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Technical Readiness: ~85% feasible using simulated freight fixtures compared with publicly available Baltic data.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Timeline: 5 days prototype using stimulated freight datasets and comparison with real Baltic fixture indices.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Success Likelihood: High (~90%) if simulation accurately models freight seasonality and AI reliably forecasts rate softenings.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28600" y="3657600"/>
            <a:ext cx="55321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Challenges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Fast-Moving spot market rates cause frequent unpredictability and broker volatility.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Commercial dry bulk shipments vary in vessel parcel size, LOA, and draft restrictions.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Real-time hydrodynamic and AIS calculations consume significant server computation.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Freight and AIS fixture data can be noisy or incomplete during adverse oceanic weather.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172200" y="3657600"/>
            <a:ext cx="5715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Strategy: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Adaptive rate estimation and volatility compensation using Holt-Winters filtering.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AI-based pattern recognition trained on open-source maritime datasets to decode market trends.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Edge-optimized APIs on FastAPI, dynamic task scheduling, and sub-35ms Redis caching.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Fuse Baltic indices, simulated AIS telemetry, and tidal data; implement anomaly filtering to reject corrupted data feeds.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11680" y="164592"/>
            <a:ext cx="80467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Arial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82880" y="182880"/>
            <a:ext cx="1691640" cy="59436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6263640" y="960120"/>
            <a:ext cx="18288" cy="5303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228600" y="960120"/>
            <a:ext cx="58521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Direct Impact on Target Users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Steel Mills &amp; Power Utilities (SAIL, Tata Steel): </a:t>
            </a:r>
            <a:r>
              <a:rPr sz="1050">
                <a:solidFill>
                  <a:srgbClr val="334155"/>
                </a:solidFill>
                <a:latin typeface="Arial"/>
              </a:rPr>
              <a:t>Enables resilient coking coal procurement in volatile freight-swing environments (post-cyclone, Red Sea disruptions).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Port Authorities (Paradip, Haldia, Vizag): </a:t>
            </a:r>
            <a:r>
              <a:rPr sz="1050">
                <a:solidFill>
                  <a:srgbClr val="334155"/>
                </a:solidFill>
                <a:latin typeface="Arial"/>
              </a:rPr>
              <a:t>Provides ~30% faster vessel turnaround times, improving berth allocation in congested tidal zones.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Chartering Executives: </a:t>
            </a:r>
            <a:r>
              <a:rPr sz="1050">
                <a:solidFill>
                  <a:srgbClr val="334155"/>
                </a:solidFill>
                <a:latin typeface="Arial"/>
              </a:rPr>
              <a:t>Ensures accurate rate forecasting where spot broker quotes are delayed or opaque (remote trade corridors).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 b="1">
                <a:solidFill>
                  <a:srgbClr val="0F172A"/>
                </a:solidFill>
                <a:latin typeface="Arial"/>
              </a:rPr>
              <a:t>Transport &amp; Shipping Fleets: </a:t>
            </a:r>
            <a:r>
              <a:rPr sz="1050">
                <a:solidFill>
                  <a:srgbClr val="334155"/>
                </a:solidFill>
                <a:latin typeface="Arial"/>
              </a:rPr>
              <a:t>Ensures reliable, uninterrupted vessel routing even under shallow riverine draft or seasonal monsoon restrictions.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28600" y="3794760"/>
            <a:ext cx="585216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Strategic Impact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Offers broker-independent rate intelligence, highly resilient to spot volatility, dead-freight, and shipping surges.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Strengthens India's maritime supply chain sovereignty, reducing foreign exchange outgo on unhedged freight.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Impact: Contributes to Atmanirbhar Bharat by establishing indigenous maritime analytics capability for national logistics infrastructure.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46520" y="960120"/>
            <a:ext cx="54406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Economic &amp; Strategic Benefits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Reduces maritime shipping and chartering costs by 14.2%–18.5%, promoting indigenous logistics optimization.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₹4,750 crore total addressable market by 2030 in Indian port logistics, power generation, and steel manufacturing.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Superior cost effectiveness over traditional freight consultants through AI-enabled cognitive efficiency.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Arial"/>
              </a:rPr>
              <a:t>• </a:t>
            </a:r>
            <a:r>
              <a:rPr sz="1050">
                <a:solidFill>
                  <a:srgbClr val="0F172A"/>
                </a:solidFill>
                <a:latin typeface="Arial"/>
              </a:rPr>
              <a:t>Encourages public-private partnerships (PPP) for scalable Indian maritime technology.</a:t>
            </a:r>
          </a:p>
        </p:txBody>
      </p:sp>
      <p:pic>
        <p:nvPicPr>
          <p:cNvPr id="17414" name="Picture 17413" descr="ref_slide5_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611880"/>
            <a:ext cx="4983480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11680" y="164592"/>
            <a:ext cx="80467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F172A"/>
                </a:solidFill>
                <a:latin typeface="Arial"/>
              </a:rPr>
              <a:t>Research and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82880" y="182880"/>
            <a:ext cx="1691640" cy="59436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943600" y="960120"/>
            <a:ext cx="18288" cy="5303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228600" y="2606040"/>
            <a:ext cx="11658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228600" y="4434840"/>
            <a:ext cx="116586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228600" y="960120"/>
            <a:ext cx="5532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Arial"/>
              </a:rPr>
              <a:t>Gap &amp; Problem Identification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Quote recent studies documenting the rise in ocean freight volatility and demurrage losses in Indian ports. </a:t>
            </a:r>
            <a:r>
              <a:rPr sz="1000" u="sng">
                <a:solidFill>
                  <a:srgbClr val="2563EB"/>
                </a:solidFill>
                <a:latin typeface="Arial"/>
              </a:rPr>
              <a:t>link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Show comparative performance of traditional unhedged spot procurement vs. AI predictive forward hedging. </a:t>
            </a:r>
            <a:r>
              <a:rPr sz="1000" u="sng">
                <a:solidFill>
                  <a:srgbClr val="2563EB"/>
                </a:solidFill>
                <a:latin typeface="Arial"/>
              </a:rPr>
              <a:t>link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172200" y="960120"/>
            <a:ext cx="57150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Arial"/>
              </a:rPr>
              <a:t>Economic &amp; Strategic Landscape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Market forecasts: cite projected growth of India’s maritime dry bulk shipping sector and expected savings from digital chartering </a:t>
            </a:r>
            <a:r>
              <a:rPr sz="1000" u="sng">
                <a:solidFill>
                  <a:srgbClr val="2563EB"/>
                </a:solidFill>
                <a:latin typeface="Arial"/>
              </a:rPr>
              <a:t>1. link</a:t>
            </a:r>
            <a:r>
              <a:rPr sz="1000">
                <a:solidFill>
                  <a:srgbClr val="0F172A"/>
                </a:solidFill>
                <a:latin typeface="Arial"/>
              </a:rPr>
              <a:t> </a:t>
            </a:r>
            <a:r>
              <a:rPr sz="1000" u="sng">
                <a:solidFill>
                  <a:srgbClr val="2563EB"/>
                </a:solidFill>
                <a:latin typeface="Arial"/>
              </a:rPr>
              <a:t>2. link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28600" y="2697480"/>
            <a:ext cx="5532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Arial"/>
              </a:rPr>
              <a:t>Literature Survey &amp; Competitive Analysis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Summarize latest global and Indian research on maritime chartering intelligence and freight indices (Baltic Dry Index, Platts, Clarksons). </a:t>
            </a:r>
            <a:r>
              <a:rPr sz="1000" u="sng">
                <a:solidFill>
                  <a:srgbClr val="2563EB"/>
                </a:solidFill>
                <a:latin typeface="Arial"/>
              </a:rPr>
              <a:t>1. link</a:t>
            </a:r>
            <a:r>
              <a:rPr sz="1000">
                <a:solidFill>
                  <a:srgbClr val="0F172A"/>
                </a:solidFill>
                <a:latin typeface="Arial"/>
              </a:rPr>
              <a:t> </a:t>
            </a:r>
            <a:r>
              <a:rPr sz="1000" u="sng">
                <a:solidFill>
                  <a:srgbClr val="2563EB"/>
                </a:solidFill>
                <a:latin typeface="Arial"/>
              </a:rPr>
              <a:t>2. link</a:t>
            </a:r>
            <a:r>
              <a:rPr sz="1000">
                <a:solidFill>
                  <a:srgbClr val="0F172A"/>
                </a:solidFill>
                <a:latin typeface="Arial"/>
              </a:rPr>
              <a:t> </a:t>
            </a:r>
            <a:r>
              <a:rPr sz="1000" u="sng">
                <a:solidFill>
                  <a:srgbClr val="2563EB"/>
                </a:solidFill>
                <a:latin typeface="Arial"/>
              </a:rPr>
              <a:t>3. link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Present findings from peer-reviewed experiments comparing Holt-Winters, ARIMA, and LSTM models in maritime bulk shipping. </a:t>
            </a:r>
            <a:r>
              <a:rPr sz="1000" u="sng">
                <a:solidFill>
                  <a:srgbClr val="2563EB"/>
                </a:solidFill>
                <a:latin typeface="Arial"/>
              </a:rPr>
              <a:t>1. link</a:t>
            </a:r>
            <a:r>
              <a:rPr sz="1000">
                <a:solidFill>
                  <a:srgbClr val="0F172A"/>
                </a:solidFill>
                <a:latin typeface="Arial"/>
              </a:rPr>
              <a:t> </a:t>
            </a:r>
            <a:r>
              <a:rPr sz="1000" u="sng">
                <a:solidFill>
                  <a:srgbClr val="2563EB"/>
                </a:solidFill>
                <a:latin typeface="Arial"/>
              </a:rPr>
              <a:t>2. link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172200" y="2697480"/>
            <a:ext cx="5715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Arial"/>
              </a:rPr>
              <a:t>Field Tests &amp; Simulation Results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Include results from your own simulation/bench tests (e.g., 18.5% freight cost reduction, 0% grounding risk in Haldia simulation). </a:t>
            </a:r>
            <a:r>
              <a:rPr sz="1000" u="sng">
                <a:solidFill>
                  <a:srgbClr val="2563EB"/>
                </a:solidFill>
                <a:latin typeface="Arial"/>
              </a:rPr>
              <a:t>link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Reference international proof-of-concept studies showing automated chartering algorithms saving millions in demurrage </a:t>
            </a:r>
            <a:r>
              <a:rPr sz="1000" u="sng">
                <a:solidFill>
                  <a:srgbClr val="2563EB"/>
                </a:solidFill>
                <a:latin typeface="Arial"/>
              </a:rPr>
              <a:t>link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28600" y="4526280"/>
            <a:ext cx="5532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Arial"/>
              </a:rPr>
              <a:t>Technology Benchmarking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Compare accuracy, latency, and predictive horizon of traditional econometric models vs. FreightForecast Pro (e.g., 1.7% MAPE vs. 8.4% traditional error). </a:t>
            </a:r>
            <a:r>
              <a:rPr sz="1000" u="sng">
                <a:solidFill>
                  <a:srgbClr val="2563EB"/>
                </a:solidFill>
                <a:latin typeface="Arial"/>
              </a:rPr>
              <a:t>link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Highlight integration of AI-driven forecasting algorithms and real-time AIS spatial telemetry for demurrage avoidance. </a:t>
            </a:r>
            <a:r>
              <a:rPr sz="1000" u="sng">
                <a:solidFill>
                  <a:srgbClr val="2563EB"/>
                </a:solidFill>
                <a:latin typeface="Arial"/>
              </a:rPr>
              <a:t>link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172200" y="4526280"/>
            <a:ext cx="5715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Arial"/>
              </a:rPr>
              <a:t>Policy &amp; Ecosystem Analysis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• </a:t>
            </a:r>
            <a:r>
              <a:rPr sz="1000">
                <a:solidFill>
                  <a:srgbClr val="0F172A"/>
                </a:solidFill>
                <a:latin typeface="Arial"/>
              </a:rPr>
              <a:t>Mention government and Ministry of Ports, Shipping and Waterways initiatives (Maritime Amrit Kaal Vision 2047, Sagarmala, PM GatiShakti alignments). </a:t>
            </a:r>
            <a:r>
              <a:rPr sz="1000" u="sng">
                <a:solidFill>
                  <a:srgbClr val="2563EB"/>
                </a:solidFill>
                <a:latin typeface="Arial"/>
              </a:rPr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