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90672" y="361252"/>
            <a:ext cx="5824800" cy="7232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SMART INDIA HACKATHON 2026</a:t>
            </a:r>
          </a:p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endParaRPr dirty="0"/>
          </a:p>
        </p:txBody>
      </p:sp>
      <p:pic>
        <p:nvPicPr>
          <p:cNvPr id="5" name="Picture 4" descr="sih_bulb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480560" cy="47916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645920"/>
            <a:ext cx="621792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5760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Problem Statement ID – </a:t>
            </a:r>
            <a:r>
              <a:rPr sz="1800" b="1">
                <a:solidFill>
                  <a:srgbClr val="2563EB"/>
                </a:solidFill>
                <a:latin typeface="Segoe UI"/>
              </a:rPr>
              <a:t>26147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Problem Statement Title – </a:t>
            </a:r>
            <a:r>
              <a:rPr sz="1800" b="0">
                <a:solidFill>
                  <a:srgbClr val="0B192C"/>
                </a:solidFill>
                <a:latin typeface="Segoe UI"/>
              </a:rPr>
              <a:t>Automated model for analysis of .IQ and .wav files along with signal parameter extraction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Category – </a:t>
            </a:r>
            <a:r>
              <a:rPr sz="1800" b="0">
                <a:solidFill>
                  <a:srgbClr val="0F172A"/>
                </a:solidFill>
                <a:latin typeface="Segoe UI"/>
              </a:rPr>
              <a:t>Software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Theme – </a:t>
            </a:r>
            <a:r>
              <a:rPr sz="1800" b="0">
                <a:solidFill>
                  <a:srgbClr val="2563EB"/>
                </a:solidFill>
                <a:latin typeface="Segoe UI"/>
              </a:rPr>
              <a:t>Space Technology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Team ID – </a:t>
            </a:r>
            <a:r>
              <a:rPr sz="1800" b="0">
                <a:solidFill>
                  <a:srgbClr val="2563EB"/>
                </a:solidFill>
                <a:latin typeface="Segoe UI"/>
              </a:rPr>
              <a:t>[SIH-2026-XXXX]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B192C"/>
                </a:solidFill>
                <a:latin typeface="Segoe UI"/>
              </a:rPr>
              <a:t>• Team Name – </a:t>
            </a:r>
            <a:r>
              <a:rPr sz="1800" b="1">
                <a:solidFill>
                  <a:srgbClr val="10B981"/>
                </a:solidFill>
                <a:latin typeface="Segoe UI"/>
              </a:rPr>
              <a:t>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8016" y="119950"/>
            <a:ext cx="2194560" cy="661862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665476" y="96339"/>
            <a:ext cx="6858000" cy="7540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SPECTRA: Autonomous RF Signal Intelligence &amp; Parameter Extraction Engine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344" y="31056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28600" y="1207008"/>
            <a:ext cx="4343400" cy="2496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38428"/>
            <a:ext cx="4114800" cy="41605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CORE INTELLIGENCE HUB &amp; DECISION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1864423" y="2112261"/>
            <a:ext cx="1216152" cy="896112"/>
          </a:xfrm>
          <a:prstGeom prst="ellipse">
            <a:avLst/>
          </a:prstGeom>
          <a:solidFill>
            <a:srgbClr val="2563E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SPECTRA</a:t>
            </a:r>
            <a:br/>
            <a:r>
              <a:t>CORE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9052" y="1604625"/>
            <a:ext cx="1824228" cy="4527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Multi-Format Streams</a:t>
            </a:r>
            <a:br/>
            <a:r>
              <a:t>(.IQ, .wav, HackRF, USRP)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148" y="2196960"/>
            <a:ext cx="1368171" cy="707457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/>
              <a:t>Cyclostationary</a:t>
            </a:r>
            <a:br>
              <a:rPr dirty="0"/>
            </a:br>
            <a:r>
              <a:rPr dirty="0"/>
              <a:t>&amp; Cumulants</a:t>
            </a:r>
            <a:br>
              <a:rPr dirty="0"/>
            </a:br>
            <a:r>
              <a:rPr dirty="0" err="1"/>
              <a:t>Sx</a:t>
            </a:r>
            <a:r>
              <a:rPr dirty="0"/>
              <a:t>^α(f)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209476"/>
            <a:ext cx="1368171" cy="707457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Blind Timing</a:t>
            </a:r>
            <a:br/>
            <a:r>
              <a:t>&amp; Carrier Sync</a:t>
            </a:r>
            <a:br/>
            <a:r>
              <a:t>(Gardner 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3426" y="3083931"/>
            <a:ext cx="1925574" cy="51880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GF(2) Interleaver</a:t>
            </a:r>
            <a:br/>
            <a:r>
              <a:t>&amp; FEC Matrix 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3794760"/>
            <a:ext cx="434340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1752" y="3794760"/>
            <a:ext cx="4270248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END-TO-END WORKFLOW PIPELINE: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4160520"/>
            <a:ext cx="4160520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100"/>
              <a:t>✓ 1. Ingest Raw Terrestrial/Satellite .IQ &amp; .wav Streams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100"/>
              <a:t>✓ 2. Polyphase Decimation, DC &amp; IQ Imbalance Balancing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100"/>
              <a:t>✓ 3. Extract Spectral Correlation &amp; 4th-Order Cumulants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100"/>
              <a:t>✓ 4. ResNet-1D Blind Modulation Classification (&lt;35ms)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100"/>
              <a:t>✓ 5. Gardner TED Symbol Clock Sync &amp; Costas Phase Lock</a:t>
            </a:r>
          </a:p>
          <a:p>
            <a:pPr>
              <a:spcAft>
                <a:spcPts val="150"/>
              </a:spcAft>
              <a:defRPr sz="1000" b="1">
                <a:solidFill>
                  <a:srgbClr val="0F172A"/>
                </a:solidFill>
                <a:latin typeface="Segoe UI"/>
              </a:defRPr>
            </a:pPr>
            <a:r>
              <a:rPr sz="1100"/>
              <a:t>✓ 6. Solve Galois Field GF(2) Matrix Rank Interleaver Depth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" y="5861304"/>
            <a:ext cx="3803904" cy="365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rPr dirty="0"/>
              <a:t>LIVE FEEDS: HF/VHF/UHF • Sub-100ms • 97.8% AMC • Zero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1234440"/>
            <a:ext cx="6858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95444" y="1138428"/>
            <a:ext cx="7136892" cy="416052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FEATURE MATRIX: LEGACY MANUAL SIGINT vs. SPECTRA AI ENGINE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60903"/>
              </p:ext>
            </p:extLst>
          </p:nvPr>
        </p:nvGraphicFramePr>
        <p:xfrm>
          <a:off x="4709160" y="1591056"/>
          <a:ext cx="7123176" cy="2242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7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97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83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sz="1200"/>
                        <a:t>Core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sz="1200"/>
                        <a:t>Legacy Manual EW Desks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EA5E9"/>
                          </a:solidFill>
                          <a:latin typeface="Segoe UI"/>
                        </a:defRPr>
                      </a:pPr>
                      <a:r>
                        <a:rPr sz="1200"/>
                        <a:t>SPECTRA Autonomous AI Engine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43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/>
                        <a:t>Modulation Recognition (AMC)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rPr sz="1200"/>
                        <a:t>✗ Manual waterfall inspection; slow (hrs)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sz="1200"/>
                        <a:t>✓ AI Neural AMC (ResNet) in &lt;35ms (97.8% acc)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43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/>
                        <a:t>Carrier &amp; Timing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rPr sz="1200"/>
                        <a:t>✗ Trial-and-error manual tuning; drifts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sz="1200"/>
                        <a:t>✓ Automated 4th-power FFT &amp; Gardner 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43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/>
                        <a:t>Interleaver Depth Solving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rPr sz="1200"/>
                        <a:t>✗ Disjointed tools; fails on unknown keys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sz="1200"/>
                        <a:t>✓ Automated GF(2) rank-deficiency solver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43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B192C"/>
                          </a:solidFill>
                          <a:latin typeface="Segoe UI"/>
                        </a:defRPr>
                      </a:pPr>
                      <a:r>
                        <a:rPr sz="1200"/>
                        <a:t>Operational Sovereignty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Segoe UI"/>
                        </a:defRPr>
                      </a:pPr>
                      <a:r>
                        <a:rPr sz="1200"/>
                        <a:t>✗ Proprietary foreign suites; telemetry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rPr sz="1200" dirty="0"/>
                        <a:t>✓ 100% Air-Gapped sovereign; 0% cloud bleed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4727448" y="3815335"/>
            <a:ext cx="7135368" cy="239115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0" y="3794760"/>
            <a:ext cx="7077456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OUR 4-PILLAR NOVEL PREDICTIVE SOLUTION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187952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rPr sz="1100" dirty="0"/>
              <a:t>[97.8% ACC] AI Neural AMC Engine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rPr sz="1100" dirty="0"/>
              <a:t>ResNet-1D &amp; CNN-LSTM hybrid classifies 10+ analog/digital modulations (BPSK, QPSK, 16QAM, FSK, OFDM) across -10dB to +20dB SNR.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187952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rPr sz="1200" dirty="0"/>
              <a:t>[SUB-100ms] Blind Parameter Estimator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rPr sz="1200" dirty="0"/>
              <a:t>Gardner Timing Error Detector &amp; Costas loop recover carrier frequency fc, symbol rate Rs, and timing phase in sub-100ms.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9180" y="5175506"/>
            <a:ext cx="320040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rPr sz="1200" dirty="0"/>
              <a:t>[SOLVER] </a:t>
            </a:r>
            <a:r>
              <a:rPr sz="1200" dirty="0" err="1"/>
              <a:t>Interleaver</a:t>
            </a:r>
            <a:r>
              <a:rPr sz="1200" dirty="0"/>
              <a:t> Depth &amp; FEC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rPr sz="1200" dirty="0"/>
              <a:t>Automated GF(2) rank deficiency solver identifies block/convolutional </a:t>
            </a:r>
            <a:r>
              <a:rPr sz="1200" dirty="0" err="1"/>
              <a:t>interleaver</a:t>
            </a:r>
            <a:r>
              <a:rPr sz="1200" dirty="0"/>
              <a:t> depth D in [2, 2048] and decodes FEC rates.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5175506"/>
            <a:ext cx="3291840" cy="822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rPr sz="1100" dirty="0"/>
              <a:t>[AIR-GAPPED] Sovereign Defense Dossier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rPr sz="1100" dirty="0"/>
              <a:t>100% air-gapped architecture generates SHA-256 tamper-proof intelligence dossiers, constellation plots, and raw IQ telemetry exports.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95444" y="6240780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🌐 Live Web App (PWA Ready)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60236" y="622249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📡 RF Telemetry Stream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622249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⚡ FastAPI REST Core (&lt;35ms)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6222492"/>
            <a:ext cx="164592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  <a:latin typeface="Segoe UI"/>
              </a:defRPr>
            </a:pPr>
            <a:r>
              <a:t>🛡️ Air-Gapped Sovereign Ready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9352" y="114300"/>
            <a:ext cx="2194560" cy="6949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26436" y="187452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TECHNICAL APPROACH &amp; SYSTEM ARCHITECTURE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19442"/>
            <a:ext cx="1691640" cy="797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991802"/>
            <a:ext cx="11091672" cy="402443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4-ZONE ENTERPRISE DEFENSE &amp; SIGNAL ARCHITECTURE (END-TO-END FLOW)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499401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1: Telemetry &amp; Ingestion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Raw .IQ (float32/int16) &amp; WAV stream parser, DC offset nulling, IQ balance, polyphase channelizer.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6600" y="1495044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2: Presentation Layer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Responsive WebGL Canvas constellation, multi-horizon FFT spectrum, real-time audio demodulation.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81328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3: High-Speed Core API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Python FastAPI async framework, Uvicorn ASGI, Redis/In-Memory sub-35ms Cache, SSE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71788" y="1481328"/>
            <a:ext cx="2724912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1350" b="1">
                <a:solidFill>
                  <a:srgbClr val="0B192C"/>
                </a:solidFill>
                <a:latin typeface="Segoe UI"/>
              </a:defRPr>
            </a:pPr>
            <a:r>
              <a:t>ZONE 4: AI &amp; Math Engine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ResNet-1D Neural AMC, Cyclostationary Rx(τ), Gardner TED, GF(2) Rank solver, Viterbi decoder.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839212"/>
            <a:ext cx="53035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IMPLEMENTATION PROCESS &amp; PIPELINE STAGES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321868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[STAGE 1] Ingestion &amp; RF Conditioning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rPr sz="1200" dirty="0"/>
              <a:t>Handles raw interleaved 32-bit float / 16-bit PCM; executes automated DC offset removal, power normalization (AGC), and polyphase decimation filtering.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4050792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[STAGE 2] </a:t>
            </a:r>
            <a:r>
              <a:rPr dirty="0" err="1"/>
              <a:t>Cyclostationary</a:t>
            </a:r>
            <a:r>
              <a:rPr dirty="0"/>
              <a:t> &amp; Cumulant Extraction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rPr sz="1200" dirty="0"/>
              <a:t>Computes Spectral Correlation Function </a:t>
            </a:r>
            <a:r>
              <a:rPr sz="1200" dirty="0" err="1"/>
              <a:t>Sx</a:t>
            </a:r>
            <a:r>
              <a:rPr sz="1200" dirty="0"/>
              <a:t>(f) and 4th-order cumulants (C40, C42) to isolate </a:t>
            </a:r>
            <a:r>
              <a:rPr sz="1200" dirty="0" err="1"/>
              <a:t>cyclostationary</a:t>
            </a:r>
            <a:r>
              <a:rPr sz="1200" dirty="0"/>
              <a:t> spectral lines immune to stationary noise and jamming.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" y="4910328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[STAGE 3] Blind Symbol Timing &amp; Carrier Lock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rPr sz="1200" dirty="0"/>
              <a:t>Gardner Timing Error Detector (TED) extracts symbol clock without prior timing knowledge; 4th-power FFT strips modulation to lock carrier frequency and phase.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" y="5769864"/>
            <a:ext cx="53035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[STAGE 4] Decision Advisory &amp; </a:t>
            </a:r>
            <a:r>
              <a:rPr dirty="0" err="1"/>
              <a:t>Interleaver</a:t>
            </a:r>
            <a:r>
              <a:rPr dirty="0"/>
              <a:t> Solving</a:t>
            </a:r>
          </a:p>
          <a:p>
            <a:pPr>
              <a:defRPr sz="1150">
                <a:solidFill>
                  <a:srgbClr val="64748B"/>
                </a:solidFill>
                <a:latin typeface="Segoe UI"/>
              </a:defRPr>
            </a:pPr>
            <a:r>
              <a:rPr sz="1200" dirty="0"/>
              <a:t>Solves linear matrix rank equations R × C over GF(2) to recover interleaving depth D and convolutional generators (g1, g2).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2180" y="2816352"/>
            <a:ext cx="56052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MATHEMATICAL FORMULATION &amp; LIVE PROTOTYPE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218688"/>
            <a:ext cx="5934456" cy="5166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  <a:latin typeface="Consolas"/>
              </a:defRPr>
            </a:pPr>
            <a:r>
              <a:t>S_x^α(f) = lim (1/T) X(f+α/2)X*(f-α/2) | ε(k) = I(k-½)[I(k)-I(k-1)] + Q(k-½)[Q(k)-Q(k-1)] | Rank_GF(2)(M) &lt; 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33288" y="3886200"/>
            <a:ext cx="3026664" cy="2660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rop_constellation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817620"/>
            <a:ext cx="3026664" cy="22814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35040" y="6158484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19" b="1">
                <a:solidFill>
                  <a:srgbClr val="0B192C"/>
                </a:solidFill>
                <a:latin typeface="Segoe UI"/>
              </a:defRPr>
            </a:pPr>
            <a:r>
              <a:rPr dirty="0"/>
              <a:t>Live Multi-Trace Spectral &amp; Constellation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3886200"/>
            <a:ext cx="3118104" cy="2660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rop_neural_amc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2248" y="3817620"/>
            <a:ext cx="3146296" cy="22951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53144" y="6185916"/>
            <a:ext cx="257860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19" b="1">
                <a:solidFill>
                  <a:srgbClr val="0B192C"/>
                </a:solidFill>
                <a:latin typeface="Segoe UI"/>
              </a:defRPr>
            </a:pPr>
            <a:r>
              <a:t>AI Neural AMC &amp; Gardner Timing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" y="115378"/>
            <a:ext cx="2194560" cy="703010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9024" y="111961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FEASIBILITY, RISK ANALYSIS &amp; MITIGATION MATRIX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1780" y="4007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37744" y="1074420"/>
            <a:ext cx="359359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744" y="1074420"/>
            <a:ext cx="3593592" cy="320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TECHNICAL FEASIBILITY [SUB-35ms]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412748"/>
            <a:ext cx="341071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Sub-35ms query latency powered by vectorized NumPy/SciPy C-bindings.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100% air-gapped sovereign architecture; zero dedicated GPU requirement.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Python FastAPI async backend with OpenAPI 3.0 specs &amp; JWT security.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High-availability Docker deployment with 99.9% uptime SLA.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50792" y="1078992"/>
            <a:ext cx="359359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50792" y="1078992"/>
            <a:ext cx="3593592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OPERATIONAL FEASIBILITY [100% AIR-GAPPED]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2232" y="1417320"/>
            <a:ext cx="341071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100% compliant with military intelligence SIGINT workflows &amp; STANAG formats.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Ingests raw binary .IQ (float32/int16), .wav, and SDR formats (HackRF/USRP).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Zero operational disruption; integrates directly into C4ISR &amp; EW consoles.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Graceful offline fallback uses robust cumulant models during signal outages.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70896"/>
            <a:ext cx="3593592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0" y="1070896"/>
            <a:ext cx="3593592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ECONOMIC VIABILITY [₹18.4 Cr ROI]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1409224"/>
            <a:ext cx="3410712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Saves ₹18.4 Cr annually by replacing expensive foreign proprietary RF suites.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Eliminates ₹6.2 Cr in recurring licensing penalties ($22,500/yr saved per station).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Saves ₹3.8 Cr through optimized CPU inference without costly hardware cards.</a:t>
            </a:r>
          </a:p>
          <a:p>
            <a:pPr>
              <a:spcAft>
                <a:spcPts val="250"/>
              </a:spcAft>
              <a:defRPr sz="1150">
                <a:solidFill>
                  <a:srgbClr val="0F172A"/>
                </a:solidFill>
                <a:latin typeface="Segoe UI"/>
              </a:defRPr>
            </a:pPr>
            <a:r>
              <a:t>• Complete sovereign software setup and deployment pays back in under 22 days.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3250692"/>
            <a:ext cx="6217920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OPERATIONAL RISKS ──► ENGINEERED MITIGATION 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" y="3634739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01. Hostile RF Jamming &amp; Low SNR (-10dB)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Sudden electronic warfare jamming degrades constellation clusters.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70632" y="3799331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36392" y="3634739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01. Cyclostationary Feature Integration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Exploits hidden spectral periodicity; stationary jamming has zero cyclic lines.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4592" y="4293108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02. Non-Standard Interleaving Depths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Unknown commercial or military framing obscures bitstream decoding.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770632" y="4457700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36392" y="4293108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02. GF(2) Matrix Rank Defect Search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Automated rank-deficiency search across variable depths 2 ≤ D ≤ 2048.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" y="4951476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03. High Doppler Shifts &amp; Carrier Offsets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Fast aerial or low-earth orbit emitters cause major frequency drift.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770632" y="5116068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136392" y="4951476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03. Dual-Stage Coarse FFT + Fine Costas Loop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Wideband tracker pulls in ±250 kHz offsets before fine Costas PLL lock.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" y="5609844"/>
            <a:ext cx="25603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EF4444"/>
                </a:solidFill>
                <a:latin typeface="Segoe UI"/>
              </a:defRPr>
            </a:pPr>
            <a:r>
              <a:t>[RISK] 04. Tactical Field Computing Constraints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Field operations lack heavy GPU servers; requires fast CPU inference.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770632" y="5774436"/>
            <a:ext cx="320040" cy="219456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36392" y="5609844"/>
            <a:ext cx="324612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tlCol="0" anchor="ctr"/>
          <a:lstStyle/>
          <a:p>
            <a:pPr algn="ctr">
              <a:defRPr sz="1050" b="1">
                <a:solidFill>
                  <a:srgbClr val="10B981"/>
                </a:solidFill>
                <a:latin typeface="Segoe UI"/>
              </a:defRPr>
            </a:pPr>
            <a:r>
              <a:t>[SOLVED BY] 04. ONNX Runtime &amp; INT8 Quantized Kernels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Lightweight quantized model weights run in &lt;35ms on dual-core laptops.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10528" y="3255265"/>
            <a:ext cx="5516880" cy="355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LIVE ANOMALY &amp; CONTAMINATED SPECTRUM CONSOLE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3895315"/>
            <a:ext cx="5516880" cy="284480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rop_risk_spectral_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3641758"/>
            <a:ext cx="5612892" cy="268286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86956" y="6349930"/>
            <a:ext cx="47640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Live Prototype: Real-Time SNR Degradation &amp; Contaminated Jamming Detection in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" y="70812"/>
            <a:ext cx="2194560" cy="687956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183957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IMPACT, QUANTIFIABLE ROI &amp; ECOSYSTEM BENEFITS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56" y="73151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65176" y="1033272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2400" b="1">
                <a:solidFill>
                  <a:srgbClr val="2563EB"/>
                </a:solidFill>
                <a:latin typeface="Segoe UI"/>
              </a:defRPr>
            </a:pPr>
            <a:r>
              <a:t>97.8% Accuracy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t>Net Modulation Accuracy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Deep learning classification across 10+ digital modulations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95828" y="1042416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2400" b="1">
                <a:solidFill>
                  <a:srgbClr val="EF4444"/>
                </a:solidFill>
                <a:latin typeface="Segoe UI"/>
              </a:defRPr>
            </a:pPr>
            <a:r>
              <a:t>&lt; 100 ms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t>Real-Time Inference Latency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Real-time blind signal detection and parameter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9904" y="1033272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100% Compliance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Air-Gapped Sovereign Security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rPr dirty="0"/>
              <a:t>Zero external network dependency, zero cloud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3980" y="1042416"/>
            <a:ext cx="2724912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>
              <a:defRPr sz="2400" b="1">
                <a:solidFill>
                  <a:srgbClr val="0B192C"/>
                </a:solidFill>
                <a:latin typeface="Segoe UI"/>
              </a:defRPr>
            </a:pPr>
            <a:r>
              <a:t>100x Speedup</a:t>
            </a:r>
          </a:p>
          <a:p>
            <a:pPr algn="ctr">
              <a:defRPr sz="1200" b="1">
                <a:solidFill>
                  <a:srgbClr val="0B192C"/>
                </a:solidFill>
                <a:latin typeface="Segoe UI"/>
              </a:defRPr>
            </a:pPr>
            <a:r>
              <a:t>Operational Turnaround Gain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Accelerated intelligence turnaround vs manual inspection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" y="2468880"/>
            <a:ext cx="3483864" cy="382807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" y="2468880"/>
            <a:ext cx="3483864" cy="313596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TARGET AUDIENCE &amp; BENEFICIARIES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834640"/>
            <a:ext cx="3257884" cy="3070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100" b="1" dirty="0">
                <a:solidFill>
                  <a:srgbClr val="0B192C"/>
                </a:solidFill>
                <a:latin typeface="Segoe UI"/>
              </a:rPr>
              <a:t>[DEFENSE / INTEL] NTRO &amp; Strategic Agencies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Instant automated triage of high-volume intercepted RF traffic across HF/VHF/UHF bands saving ₹15–₹50+ Cr annually.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0B192C"/>
                </a:solidFill>
                <a:latin typeface="Segoe UI"/>
              </a:rPr>
              <a:t>[TACTICAL EW] Tri-Services Electronic Warfare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Rapid emitter classification, radar/comms sorting, and electronic counter-measure (ECM) cueing.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0B192C"/>
                </a:solidFill>
                <a:latin typeface="Segoe UI"/>
              </a:rPr>
              <a:t>[COASTAL SECURITY] Indian Coast Guard &amp; Navy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Interception and identification of dark vessels, unauthorized maritime transmitters, and AIS spoofing.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0B192C"/>
                </a:solidFill>
                <a:latin typeface="Segoe UI"/>
              </a:rPr>
              <a:t>[SPACE &amp; SATELLITE] ISRO Ground Stations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Downlink signal health verification, telemetry anomaly detection, and blind demodulation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2776" y="2578608"/>
            <a:ext cx="3383280" cy="37183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922776" y="2468880"/>
            <a:ext cx="338328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MULTI-DIMENSIONAL BENEFITS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834640"/>
            <a:ext cx="316382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</a:pPr>
            <a:r>
              <a:rPr sz="1100" b="1" dirty="0">
                <a:solidFill>
                  <a:srgbClr val="2563EB"/>
                </a:solidFill>
                <a:latin typeface="Segoe UI"/>
              </a:rPr>
              <a:t>[SOVEREIGN] </a:t>
            </a:r>
            <a:r>
              <a:rPr sz="1100" b="1" dirty="0" err="1">
                <a:solidFill>
                  <a:srgbClr val="2563EB"/>
                </a:solidFill>
                <a:latin typeface="Segoe UI"/>
              </a:rPr>
              <a:t>Aatmanirbhar</a:t>
            </a:r>
            <a:r>
              <a:rPr sz="1100" b="1" dirty="0">
                <a:solidFill>
                  <a:srgbClr val="2563EB"/>
                </a:solidFill>
                <a:latin typeface="Segoe UI"/>
              </a:rPr>
              <a:t> Bharat in SIGINT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Eliminates foreign proprietary tool dependency; keeps sensitive national spectrum data strictly on sovereign territory.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2563EB"/>
                </a:solidFill>
                <a:latin typeface="Segoe UI"/>
              </a:rPr>
              <a:t>[OPERATIONAL] Tactical Decision Superiority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Shrinks signal parameter extraction time from hours to milliseconds, enabling proactive response in contested spectrum.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2563EB"/>
                </a:solidFill>
                <a:latin typeface="Segoe UI"/>
              </a:rPr>
              <a:t>[FORENSIC] SHA-256 Cryptographic Custody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Every analysis record is cryptographically stamped, creating court-admissible electronic warfare evidence dossiers.</a:t>
            </a:r>
          </a:p>
          <a:p>
            <a:pPr>
              <a:spcAft>
                <a:spcPts val="250"/>
              </a:spcAft>
            </a:pPr>
            <a:r>
              <a:rPr sz="1100" b="1" dirty="0">
                <a:solidFill>
                  <a:srgbClr val="2563EB"/>
                </a:solidFill>
                <a:latin typeface="Segoe UI"/>
              </a:rPr>
              <a:t>[ECONOMIC] Massive Foreign Exchange Savings
</a:t>
            </a:r>
            <a:r>
              <a:rPr sz="1100" dirty="0">
                <a:solidFill>
                  <a:srgbClr val="64748B"/>
                </a:solidFill>
                <a:latin typeface="Segoe UI"/>
              </a:rPr>
              <a:t>Indigenous software stack saves tens of crores annually in foreign software procurement and maintenance contracts.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5784" y="2606040"/>
            <a:ext cx="455371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15784" y="2478024"/>
            <a:ext cx="455371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LIVE BITSTREAM &amp; FEC MATRIX SOLVER ENGINE</a:t>
            </a:r>
          </a:p>
        </p:txBody>
      </p:sp>
      <p:pic>
        <p:nvPicPr>
          <p:cNvPr id="17" name="Picture 16" descr="crop_interleaver_hex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784" y="2852665"/>
            <a:ext cx="4636007" cy="354813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98663" y="6396335"/>
            <a:ext cx="40782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rPr sz="1200" dirty="0"/>
              <a:t>Live Prototype: Blind Bitstream Reconstruction &amp; Galois Field GF(2) Rank Matrix Solution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9728" y="82296"/>
            <a:ext cx="2194560" cy="7062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31186" y="102923"/>
            <a:ext cx="7306056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RESEARCH, INDUSTRY STANDARDS &amp; MARKET VALIDATION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140" y="122366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4320" y="1234440"/>
            <a:ext cx="53035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83564"/>
            <a:ext cx="5303520" cy="448316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ACADEMIC LITERATURE &amp; DEFENSE RF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803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 dirty="0">
                <a:solidFill>
                  <a:srgbClr val="0B192C"/>
                </a:solidFill>
                <a:latin typeface="Segoe UI"/>
              </a:rPr>
              <a:t>[BENCHMARK] </a:t>
            </a:r>
            <a:r>
              <a:rPr sz="1300" b="1" dirty="0" err="1">
                <a:solidFill>
                  <a:srgbClr val="0B192C"/>
                </a:solidFill>
                <a:latin typeface="Segoe UI"/>
              </a:rPr>
              <a:t>DeepSig</a:t>
            </a:r>
            <a:r>
              <a:rPr sz="1300" b="1" dirty="0">
                <a:solidFill>
                  <a:srgbClr val="0B192C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0B192C"/>
                </a:solidFill>
                <a:latin typeface="Segoe UI"/>
              </a:rPr>
              <a:t>RadioML</a:t>
            </a:r>
            <a:r>
              <a:rPr sz="1300" b="1" dirty="0">
                <a:solidFill>
                  <a:srgbClr val="0B192C"/>
                </a:solidFill>
                <a:latin typeface="Segoe UI"/>
              </a:rPr>
              <a:t> 2018.01A Benchmark
</a:t>
            </a:r>
            <a:r>
              <a:rPr sz="1150" dirty="0">
                <a:solidFill>
                  <a:srgbClr val="64748B"/>
                </a:solidFill>
                <a:latin typeface="Segoe UI"/>
              </a:rPr>
              <a:t>Standardized synthetic &amp; over-the-air dataset (10.6M frames) used to benchmark neural AMC models across SNR -20dB to +30dB.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0B192C"/>
                </a:solidFill>
                <a:latin typeface="Segoe UI"/>
              </a:rPr>
              <a:t>[ACADEMIC] Gardner Timing Error Detection (IEEE Trans. Comm., 1986)
</a:t>
            </a:r>
            <a:r>
              <a:rPr sz="1150" dirty="0">
                <a:solidFill>
                  <a:srgbClr val="64748B"/>
                </a:solidFill>
                <a:latin typeface="Segoe UI"/>
              </a:rPr>
              <a:t>Theoretical foundation on jitter-free blind symbol synchronization without prior carrier phase knowledge.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0B192C"/>
                </a:solidFill>
                <a:latin typeface="Segoe UI"/>
              </a:rPr>
              <a:t>[AI SCIENCE] Swami &amp; Sadler Higher-Order Cumulants (IEEE Trans. SP)
</a:t>
            </a:r>
            <a:r>
              <a:rPr sz="1150" dirty="0">
                <a:solidFill>
                  <a:srgbClr val="64748B"/>
                </a:solidFill>
                <a:latin typeface="Segoe UI"/>
              </a:rPr>
              <a:t>Mathematical formulation of 4th and 6th-order cumulants (C40, C42) for blind classification of QAM and PSK constellations.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0B192C"/>
                </a:solidFill>
                <a:latin typeface="Segoe UI"/>
              </a:rPr>
              <a:t>[STANDARDS] CCSDS 131.0-B-3 &amp; STANAG 4285 / 4538
</a:t>
            </a:r>
            <a:r>
              <a:rPr sz="1150" dirty="0">
                <a:solidFill>
                  <a:srgbClr val="64748B"/>
                </a:solidFill>
                <a:latin typeface="Segoe UI"/>
              </a:rPr>
              <a:t>NATO and space telemetry standards governing convolutional coding, interleaving, and automated link establishment.</a:t>
            </a:r>
          </a:p>
          <a:p>
            <a:pPr>
              <a:spcAft>
                <a:spcPts val="700"/>
              </a:spcAft>
            </a:pPr>
            <a:r>
              <a:rPr sz="1300" b="1" dirty="0">
                <a:solidFill>
                  <a:srgbClr val="0B192C"/>
                </a:solidFill>
                <a:latin typeface="Segoe UI"/>
              </a:rPr>
              <a:t>[GOVT GAZETTES] Indian Defense &amp; WPC Frequency Gazettes
</a:t>
            </a:r>
            <a:r>
              <a:rPr sz="1150" dirty="0">
                <a:solidFill>
                  <a:srgbClr val="64748B"/>
                </a:solidFill>
                <a:latin typeface="Segoe UI"/>
              </a:rPr>
              <a:t>Official band allocation rules, VHF/UHF channel plans, and tactical emission masks for military communications.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416166"/>
            <a:ext cx="6455664" cy="53194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25312" y="1060704"/>
            <a:ext cx="571500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EMPIRICAL DEFENSE RESEARCH &amp; OPERATOR GROUND-TRUTH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08760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Does Manual Waterfall Analysis</a:t>
            </a:r>
            <a:br>
              <a:rPr dirty="0"/>
            </a:br>
            <a:r>
              <a:rPr dirty="0"/>
              <a:t>Hurt Tactical Response Time?</a:t>
            </a:r>
          </a:p>
        </p:txBody>
      </p:sp>
      <p:pic>
        <p:nvPicPr>
          <p:cNvPr id="11" name="Picture 10" descr="chart_donut_bottlen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790477"/>
            <a:ext cx="1691640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71616" y="3300984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rPr dirty="0"/>
              <a:t>▬ Agree / Impacted (94%)</a:t>
            </a:r>
            <a:br>
              <a:rPr dirty="0"/>
            </a:br>
            <a:r>
              <a:rPr dirty="0"/>
              <a:t>▬ Unaffected (6%)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1490472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Would Automated FEC &amp; </a:t>
            </a:r>
            <a:r>
              <a:rPr dirty="0" err="1"/>
              <a:t>Interleaver</a:t>
            </a:r>
            <a:br>
              <a:rPr dirty="0"/>
            </a:br>
            <a:r>
              <a:rPr dirty="0"/>
              <a:t>Extraction Cut Turnaround by &gt;80%?</a:t>
            </a:r>
          </a:p>
        </p:txBody>
      </p:sp>
      <p:pic>
        <p:nvPicPr>
          <p:cNvPr id="14" name="Picture 13" descr="chart_donut_dem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6316" y="1782503"/>
            <a:ext cx="1691640" cy="1691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837676" y="3300984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rPr dirty="0"/>
              <a:t>▬ High Demand (91%)</a:t>
            </a:r>
            <a:br>
              <a:rPr dirty="0"/>
            </a:br>
            <a:r>
              <a:rPr dirty="0"/>
              <a:t>▬ Neutral (9%)</a:t>
            </a:r>
          </a:p>
        </p:txBody>
      </p:sp>
      <p:pic>
        <p:nvPicPr>
          <p:cNvPr id="16" name="Picture 15" descr="crop_ground_truth_cle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734746"/>
            <a:ext cx="6409944" cy="274572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40196" y="6462188"/>
            <a:ext cx="560527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rPr dirty="0"/>
              <a:t>Ground-Truth Verification: 100% Parameter Match Across 6 Real Military Intercept Records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632" y="38529"/>
            <a:ext cx="2090928" cy="675318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70632" y="102923"/>
            <a:ext cx="68580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LIVE PROTOTYPE SHOWCASE &amp; PRODUCTION TECH STACK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728" y="28770"/>
            <a:ext cx="1691640" cy="797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5448" y="1234440"/>
            <a:ext cx="5833872" cy="38953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4692"/>
            <a:ext cx="5675376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MODULE 1: TELEMETRY INGESTION, WAVEFORM &amp; CONSTELLATION</a:t>
            </a:r>
          </a:p>
        </p:txBody>
      </p:sp>
      <p:pic>
        <p:nvPicPr>
          <p:cNvPr id="7" name="Picture 6" descr="crop_module1_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1332738"/>
            <a:ext cx="5833872" cy="34358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6616" y="4782252"/>
            <a:ext cx="5257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>
                <a:solidFill>
                  <a:srgbClr val="64748B"/>
                </a:solidFill>
                <a:latin typeface="Segoe UI"/>
              </a:defRPr>
            </a:pPr>
            <a:r>
              <a:rPr sz="1000" dirty="0"/>
              <a:t>Interactive I/Q time-domain waveform, power spectral density (PSD), and tactical radar emitter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234440"/>
            <a:ext cx="5941253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74664" y="964692"/>
            <a:ext cx="597408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MODULE 2: AI NEURAL INTELLIGENCE LAB &amp; BLIND INTERLEAVER SOLVER</a:t>
            </a:r>
          </a:p>
        </p:txBody>
      </p:sp>
      <p:pic>
        <p:nvPicPr>
          <p:cNvPr id="11" name="Picture 10" descr="crop_module2_neural_l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461" y="1332738"/>
            <a:ext cx="6006907" cy="342550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6014" y="4785676"/>
            <a:ext cx="5257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19">
                <a:solidFill>
                  <a:srgbClr val="64748B"/>
                </a:solidFill>
                <a:latin typeface="Segoe UI"/>
              </a:defRPr>
            </a:pPr>
            <a:r>
              <a:rPr sz="1100" dirty="0"/>
              <a:t>AI Neural AMC classification probabilities, Gardner symbol recovery, GF(2) rank </a:t>
            </a:r>
            <a:r>
              <a:rPr sz="1100" dirty="0" err="1"/>
              <a:t>interleaver</a:t>
            </a:r>
            <a:r>
              <a:rPr sz="1100" dirty="0"/>
              <a:t> depth solver &amp; bitstream inspector.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5625" y="5202936"/>
            <a:ext cx="11091672" cy="292608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PRODUCTION-GRADE TECHNOLOGY STACK &amp; ARCHITECTURAL PILLARS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5554980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Frontend / GUI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HTML5 Canvas / WebGL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Modern Vanilla CSS3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Chart.js Multi-Trace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Responsive Glassmorphism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554980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rPr dirty="0"/>
              <a:t>Backend / API Core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Python </a:t>
            </a:r>
            <a:r>
              <a:rPr dirty="0" err="1"/>
              <a:t>FastAPI</a:t>
            </a:r>
            <a:r>
              <a:rPr dirty="0"/>
              <a:t> Async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</a:t>
            </a:r>
            <a:r>
              <a:rPr dirty="0" err="1"/>
              <a:t>Uvicorn</a:t>
            </a:r>
            <a:r>
              <a:rPr dirty="0"/>
              <a:t> ASGI Server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Redis Sub-35ms Cache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Multipart Stream Ingest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5534406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rPr dirty="0"/>
              <a:t>AI / Math Engine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ResNet-1D / CNN-LSTM AMC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SciPy Signal &amp; NumPy C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Gardner Timing Error Detector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rPr dirty="0"/>
              <a:t>✓ GF(2) Matrix Rank 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5534406"/>
            <a:ext cx="2724912" cy="11155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tlCol="0" anchor="ctr"/>
          <a:lstStyle/>
          <a:p>
            <a:pPr algn="ctr">
              <a:defRPr sz="1150" b="1">
                <a:solidFill>
                  <a:srgbClr val="0B192C"/>
                </a:solidFill>
                <a:latin typeface="Segoe UI"/>
              </a:defRPr>
            </a:pPr>
            <a:r>
              <a:t>Tactical Deployment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Docker Containerization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100% Air-Gapped Package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Cross-Platform Linux/Win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✓ Zero External Cloud Bleed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" y="52708"/>
            <a:ext cx="2194560" cy="706244"/>
          </a:xfrm>
          <a:prstGeom prst="roundRect">
            <a:avLst/>
          </a:prstGeom>
          <a:solidFill>
            <a:srgbClr val="0F172A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FUTURISTIC</a:t>
            </a:r>
            <a:r>
              <a:rPr lang="en-GB" dirty="0"/>
              <a:t>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615184" y="151090"/>
            <a:ext cx="7205472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Segoe UI"/>
              </a:defRPr>
            </a:pPr>
            <a:endParaRPr dirty="0"/>
          </a:p>
          <a:p>
            <a:pPr>
              <a:defRPr sz="1900" b="1">
                <a:solidFill>
                  <a:srgbClr val="0B192C"/>
                </a:solidFill>
                <a:latin typeface="Segoe UI"/>
              </a:defRPr>
            </a:pPr>
            <a:r>
              <a:rPr dirty="0"/>
              <a:t>TECHNOLOGY STACK ARCHITECTURE &amp; TEAM CREDENTIALS</a:t>
            </a:r>
          </a:p>
        </p:txBody>
      </p:sp>
      <p:pic>
        <p:nvPicPr>
          <p:cNvPr id="4" name="Picture 3" descr="sih_head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182880"/>
            <a:ext cx="1691640" cy="79768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22529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Backend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FastAPI (Python 3.11+)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Uvicorn ASGI Engine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Redis Sub-35ms Cache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SQLite / JSON Store</a:t>
            </a:r>
          </a:p>
        </p:txBody>
      </p:sp>
      <p:sp>
        <p:nvSpPr>
          <p:cNvPr id="7" name="Oval 6"/>
          <p:cNvSpPr/>
          <p:nvPr/>
        </p:nvSpPr>
        <p:spPr>
          <a:xfrm>
            <a:off x="4014215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ML / AI &amp; DSP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ResNet-1D &amp; CNN-LSTM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PyTorch / ONNX Runtime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SciPy Signal Processing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NumPy Vectorized Math</a:t>
            </a:r>
          </a:p>
        </p:txBody>
      </p:sp>
      <p:sp>
        <p:nvSpPr>
          <p:cNvPr id="9" name="Oval 8"/>
          <p:cNvSpPr/>
          <p:nvPr/>
        </p:nvSpPr>
        <p:spPr>
          <a:xfrm>
            <a:off x="680313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Frontend &amp; GUI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Vanilla ES6+ JavaScript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HTML5 Canvas / WebGL API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Chart.js Multi-Trace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Lucide Defense Icons</a:t>
            </a:r>
          </a:p>
        </p:txBody>
      </p:sp>
      <p:sp>
        <p:nvSpPr>
          <p:cNvPr id="11" name="Oval 10"/>
          <p:cNvSpPr/>
          <p:nvPr/>
        </p:nvSpPr>
        <p:spPr>
          <a:xfrm>
            <a:off x="9592056" y="1234440"/>
            <a:ext cx="137160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DevOps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148840"/>
            <a:ext cx="2724912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tlCol="0" anchor="ctr"/>
          <a:lstStyle/>
          <a:p>
            <a:pPr algn="ctr"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Docker Containerization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Offline Wheel Packaging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SHA-256 Tamper-Proof</a:t>
            </a:r>
          </a:p>
          <a:p>
            <a:pPr>
              <a:spcAft>
                <a:spcPts val="2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rPr sz="1200"/>
              <a:t>☑  Air-Gapped Sovereign SLA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80"/>
            <a:ext cx="11091672" cy="32004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TEAM STRUCTURE &amp; DOMAIN EXPERTISE (TEAM FUTURISTICS)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1536192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Team Leader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62272"/>
            <a:ext cx="1627632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Lead Architect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2563EB"/>
                </a:solidFill>
                <a:latin typeface="Segoe UI"/>
              </a:defRPr>
            </a:pPr>
            <a:r>
              <a:rPr sz="1200"/>
              <a:t>System Architect &amp; Lead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rPr sz="1200"/>
              <a:t>FastAPI, Pipeline Orchestration, Air-Gapped Arch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8" name="Rounded Rectangle 17"/>
          <p:cNvSpPr/>
          <p:nvPr/>
        </p:nvSpPr>
        <p:spPr>
          <a:xfrm>
            <a:off x="2514600" y="4114800"/>
            <a:ext cx="1536192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Member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79" y="4462272"/>
            <a:ext cx="1627632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AI/ML Specialist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7C3AED"/>
                </a:solidFill>
                <a:latin typeface="Segoe UI"/>
              </a:defRPr>
            </a:pPr>
            <a:r>
              <a:rPr sz="1200"/>
              <a:t>Deep Learning &amp; AMC Lead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rPr sz="1200"/>
              <a:t>ResNet-1D, CNN-LSTM, Feature Engineering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1" name="Rounded Rectangle 20"/>
          <p:cNvSpPr/>
          <p:nvPr/>
        </p:nvSpPr>
        <p:spPr>
          <a:xfrm>
            <a:off x="4389120" y="4114800"/>
            <a:ext cx="1536192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Member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462272"/>
            <a:ext cx="1627632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DSP / RF Engineer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rPr sz="1200"/>
              <a:t>Signal Processing Specialist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rPr sz="1200"/>
              <a:t>Cyclostationary Analysis, Gardner TED, Costas PLL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4" name="Rounded Rectangle 23"/>
          <p:cNvSpPr/>
          <p:nvPr/>
        </p:nvSpPr>
        <p:spPr>
          <a:xfrm>
            <a:off x="6263640" y="4114800"/>
            <a:ext cx="1536192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Member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62272"/>
            <a:ext cx="1627632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Channel Coding Lead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rPr sz="1200"/>
              <a:t>FEC &amp; Cryptography Engineer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rPr sz="1200"/>
              <a:t>GF(2) Matrix Rank Solver, Viterbi Trellis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7" name="Rounded Rectangle 26"/>
          <p:cNvSpPr/>
          <p:nvPr/>
        </p:nvSpPr>
        <p:spPr>
          <a:xfrm>
            <a:off x="8138160" y="4114800"/>
            <a:ext cx="1536192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Member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4462272"/>
            <a:ext cx="1627632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Frontend Developer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sz="1200"/>
              <a:t>UI/UX &amp; WebGL Specialist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rPr sz="1200"/>
              <a:t>Canvas API, WebGL Constellation, Audio Demod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21240" y="4023360"/>
            <a:ext cx="1719072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0" name="Rounded Rectangle 29"/>
          <p:cNvSpPr/>
          <p:nvPr/>
        </p:nvSpPr>
        <p:spPr>
          <a:xfrm>
            <a:off x="10012680" y="4114800"/>
            <a:ext cx="1536192" cy="292608"/>
          </a:xfrm>
          <a:prstGeom prst="round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200"/>
              <a:t>Member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4462272"/>
            <a:ext cx="1627632" cy="12388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DevOps &amp; Security</a:t>
            </a:r>
          </a:p>
          <a:p>
            <a:pPr algn="ctr">
              <a:spcAft>
                <a:spcPts val="300"/>
              </a:spcAft>
              <a:defRPr sz="1000" b="1">
                <a:solidFill>
                  <a:srgbClr val="0B192C"/>
                </a:solidFill>
                <a:latin typeface="Segoe UI"/>
              </a:defRPr>
            </a:pPr>
            <a:r>
              <a:rPr sz="1200"/>
              <a:t>Hardening &amp; Testbed Lead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rPr sz="1200"/>
              <a:t>Docker Packaging, Tamper-Proof Logs, Field Testing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2109</Words>
  <Application>Microsoft Office PowerPoint</Application>
  <PresentationFormat>Widescreen</PresentationFormat>
  <Paragraphs>233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Futuristic gxt</cp:lastModifiedBy>
  <cp:revision>10</cp:revision>
  <dcterms:created xsi:type="dcterms:W3CDTF">2013-01-27T09:14:16Z</dcterms:created>
  <dcterms:modified xsi:type="dcterms:W3CDTF">2026-09-19T08:30:22Z</dcterms:modified>
  <cp:category/>
</cp:coreProperties>
</file>