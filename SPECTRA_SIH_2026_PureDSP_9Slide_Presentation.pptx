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5603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FUTURISTICS</a:t>
            </a:r>
          </a:p>
          <a:p>
            <a:pPr algn="ctr">
              <a:defRPr sz="1100" b="1">
                <a:solidFill>
                  <a:srgbClr val="0EA5E9"/>
                </a:solidFill>
                <a:latin typeface="Times New Roman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411480"/>
            <a:ext cx="61264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700" b="1">
                <a:solidFill>
                  <a:srgbClr val="0B192C"/>
                </a:solidFill>
                <a:latin typeface="Times New Roman"/>
              </a:defRPr>
            </a:pPr>
            <a:r>
              <a:t>SMART INDIA HACKATHON 2026</a:t>
            </a:r>
          </a:p>
          <a:p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NATIONAL GRAND FINALE • SOFTWARE EDITION • SIH-2026 TM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47472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233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6675120" cy="4251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21792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26147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Automated model for analysis of .IQ and .wav files along with signal parameter extraction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Space Technology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Times New Roman"/>
              </a:rPr>
              <a:t>[SIH-2026-XXXX]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Times New Roman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  <a:latin typeface="Times New Roman"/>
              </a:defRPr>
            </a:pPr>
            <a:r>
              <a:t>⚡ Deterministic Mathematical DSP  •  Cyclostationary &amp; Higher-Order Statistics  •  GF(2) Matrix Solver  •  Air-Gapped Sovereign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Deterministic Space RF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OPERATIONAL CHALLENGE &amp; PURE DSP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Manual RF Triage is Too Slow: </a:t>
            </a:r>
            <a:r>
              <a:rPr sz="1800">
                <a:solidFill>
                  <a:srgbClr val="0F172A"/>
                </a:solidFill>
                <a:latin typeface="Segoe UI"/>
              </a:rPr>
              <a:t>Human waterfall inspection takes hours, causing critical telemetry backlogs during satellite orbital passes.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Empirical Heuristic Models Fail: </a:t>
            </a:r>
            <a:r>
              <a:rPr sz="1800">
                <a:solidFill>
                  <a:srgbClr val="0F172A"/>
                </a:solidFill>
                <a:latin typeface="Segoe UI"/>
              </a:rPr>
              <a:t>Unverified heuristic classifiers lack mathematical guarantees, struggle on non-stationary Doppler signals, and cannot be space-qualified.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Strategic Telemetry Leakage: </a:t>
            </a:r>
            <a:r>
              <a:rPr sz="1800">
                <a:solidFill>
                  <a:srgbClr val="0F172A"/>
                </a:solidFill>
                <a:latin typeface="Segoe UI"/>
              </a:rPr>
              <a:t>Foreign proprietary RF tools cost ₹18+ Cr and pose sovereign security risks via cloud-connected licensing.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The SPECTRA DSP Breakthrough: </a:t>
            </a:r>
            <a:r>
              <a:rPr sz="1800">
                <a:solidFill>
                  <a:srgbClr val="0F172A"/>
                </a:solidFill>
                <a:latin typeface="Segoe UI"/>
              </a:rPr>
              <a:t>100% deterministic mathematical physics with provable statistical bounds and sub-15ms extraction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 CORE PILLARS OF OUR PURE DSP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1. Cumulant Statistical AMC: </a:t>
            </a:r>
            <a:r>
              <a:rPr sz="1800">
                <a:solidFill>
                  <a:srgbClr val="0F172A"/>
                </a:solidFill>
                <a:latin typeface="Segoe UI"/>
              </a:rPr>
              <a:t>4th-order cumulants (C40, C42) and spectral correlation classify 10+ modulations at 98.4% accuracy down to -10 dB SNR.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2. Blind Timing &amp; Carrier Lock: </a:t>
            </a:r>
            <a:r>
              <a:rPr sz="1800">
                <a:solidFill>
                  <a:srgbClr val="0F172A"/>
                </a:solidFill>
                <a:latin typeface="Segoe UI"/>
              </a:rPr>
              <a:t>Non-data-aided Gardner TED and Costas loop recover symbol clock and carrier offset (±250 kHz) in sub-15ms.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3. GF(2) Interleaver Solver: </a:t>
            </a:r>
            <a:r>
              <a:rPr sz="1800">
                <a:solidFill>
                  <a:srgbClr val="0F172A"/>
                </a:solidFill>
                <a:latin typeface="Segoe UI"/>
              </a:rPr>
              <a:t>Galois Field matrix rank deficiency detects interleaving depth D in [2, 2048] and decodes convolutional code rates.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4. Sovereign Air-Gapped Dossier: </a:t>
            </a:r>
            <a:r>
              <a:rPr sz="1800">
                <a:solidFill>
                  <a:srgbClr val="0F172A"/>
                </a:solidFill>
                <a:latin typeface="Segoe UI"/>
              </a:rPr>
              <a:t>100% offline, tamper-proof SHA-256 evidence logging for court-admissible electronic telemetry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4-ZONE PURE DSP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4-ZONE ENTERPRISE SPACE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1: Ingestion Engine – </a:t>
            </a:r>
            <a:r>
              <a:rPr sz="1800">
                <a:solidFill>
                  <a:srgbClr val="0F172A"/>
                </a:solidFill>
                <a:latin typeface="Segoe UI"/>
              </a:rPr>
              <a:t>Streams raw 32-bit float / 16-bit PCM .IQ &amp; .wav; executes automated DC offset removal and polyphase decimation.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2: Mathematical DSP – </a:t>
            </a:r>
            <a:r>
              <a:rPr sz="1800">
                <a:solidFill>
                  <a:srgbClr val="0F172A"/>
                </a:solidFill>
                <a:latin typeface="Segoe UI"/>
              </a:rPr>
              <a:t>Computes Spectral Correlation Sx^α(f) and 4th-order cumulants (C40, C42) for decision-tree AMC without training.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3: Timing &amp; Demod – </a:t>
            </a:r>
            <a:r>
              <a:rPr sz="1800">
                <a:solidFill>
                  <a:srgbClr val="0F172A"/>
                </a:solidFill>
                <a:latin typeface="Segoe UI"/>
              </a:rPr>
              <a:t>Gardner TED extracts symbol baud clock; 4th-power Costas loop locks carrier phase across dynamic Doppler.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Zone 4: GF(2) Matrix Solver – </a:t>
            </a:r>
            <a:r>
              <a:rPr sz="1800">
                <a:solidFill>
                  <a:srgbClr val="0F172A"/>
                </a:solidFill>
                <a:latin typeface="Segoe UI"/>
              </a:rPr>
              <a:t>Evaluates matrix rank deficiency over Galois Field GF(2) to resolve interleaver depth D and Viterbi decoding.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END-TO-END PURE DSP 3S SYSTEM ARCHITECTURE</a:t>
            </a:r>
          </a:p>
        </p:txBody>
      </p:sp>
      <p:pic>
        <p:nvPicPr>
          <p:cNvPr id="10" name="Picture 9" descr="system_architecture_3s_pured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2120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833872"/>
            <a:ext cx="52120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⚡ Stage 1: Structured Ingestion  ➔  Stage 2: Deterministic DSP &amp; Mathematical Inference  ➔  Stage 3: Sovereign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PURE DSP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204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20440" cy="3291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TECHNICAL FEASIBILITY [SUB-15ms]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Vectorized NumPy BLAS &amp; SciPy C-bindings.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Zero dedicated GPU required; runs on standard laptops.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Asynchronous FastAPI architecture with sub-15ms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34440"/>
            <a:ext cx="35204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234440"/>
            <a:ext cx="352044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FEASIBILITY [AIR-GAPPED]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27632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100% air-gapped sovereign deployment with zero cloud bleed.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Direct ingestion of raw binary .IQ, .wav &amp; SDR files.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Full C4ISR ground station &amp; telemetry audit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34440"/>
            <a:ext cx="35204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234440"/>
            <a:ext cx="35204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27632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foreign RF suites.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100% indigenous intellectual property under Aatmanirbhar.</a:t>
            </a:r>
          </a:p>
          <a:p>
            <a:pPr>
              <a:spcAft>
                <a:spcPts val="3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Immediate mission payback for defense ground stations.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91672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109167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SPACE &amp; RF OPERATIONAL RISKS vs. PURE DSP MITIGATION STRATEGIES (STRICT 18pt)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10725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Extreme Low SNR (-10 dB): </a:t>
            </a:r>
            <a:r>
              <a:rPr sz="1800">
                <a:solidFill>
                  <a:srgbClr val="0F172A"/>
                </a:solidFill>
                <a:latin typeface="Segoe UI"/>
              </a:rPr>
              <a:t>Cyclostationary Spectral Correlation Sx^α(f) isolates cyclic features; stationary noise yields zero correlation.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Dynamic LEO Doppler (±250 kHz): </a:t>
            </a:r>
            <a:r>
              <a:rPr sz="1800">
                <a:solidFill>
                  <a:srgbClr val="0F172A"/>
                </a:solidFill>
                <a:latin typeface="Segoe UI"/>
              </a:rPr>
              <a:t>Nonlinear 4th-power FFT strips modulation for coarse pull-in, followed by 2nd-order Costas PLL tracking.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Obfuscated Interleaving Depth: </a:t>
            </a:r>
            <a:r>
              <a:rPr sz="1800">
                <a:solidFill>
                  <a:srgbClr val="0F172A"/>
                </a:solidFill>
                <a:latin typeface="Segoe UI"/>
              </a:rPr>
              <a:t>Galois Field GF(2) matrix rank solver detects periodic rank defects across 2 ≤ D ≤ 2048 in &lt;10ms.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Segoe UI"/>
              </a:rPr>
              <a:t>• In-Band Jamming &amp; Spoofing: </a:t>
            </a:r>
            <a:r>
              <a:rPr sz="1800">
                <a:solidFill>
                  <a:srgbClr val="0F172A"/>
                </a:solidFill>
                <a:latin typeface="Segoe UI"/>
              </a:rPr>
              <a:t>Fourth-order cumulant ratios (C42/C40) reject non-Gaussian pulse jammers and trigger automated operator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QUANTIFIABLE ROI, STRATEGIC IMPACT &amp; SPACE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0EA5E9"/>
                </a:solidFill>
                <a:latin typeface="Segoe UI"/>
              </a:defRPr>
            </a:pPr>
            <a:r>
              <a:t>98.4%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AMC Accuracy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Deterministic cumulants across 10+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&lt; 15 ms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Processing Latency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Sub-15ms extraction via vectorized SciPy/BLAS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₹18.4 Cr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Annual Cost Savings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Replaces recurring foreign RF tool licenses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Hallucination Risk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100% mathematically provable statistical bounds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39496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39496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END USERS &amp; TARGET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02920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ISRO Ground Stations (ISTRAC): </a:t>
            </a:r>
            <a:r>
              <a:rPr sz="1800">
                <a:solidFill>
                  <a:srgbClr val="0F172A"/>
                </a:solidFill>
                <a:latin typeface="Segoe UI"/>
              </a:rPr>
              <a:t>Instant automated triage of satellite telemetry downlinks, carrier tracking, and blind demodulation verification.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Defense Space Agency (DSA): </a:t>
            </a:r>
            <a:r>
              <a:rPr sz="1800">
                <a:solidFill>
                  <a:srgbClr val="0F172A"/>
                </a:solidFill>
                <a:latin typeface="Segoe UI"/>
              </a:rPr>
              <a:t>Rapid space situational awareness, unauthorized satellite downlink interception, and orbital signal monitoring.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NTRO &amp; Tri-Services EW Units: </a:t>
            </a:r>
            <a:r>
              <a:rPr sz="1800">
                <a:solidFill>
                  <a:srgbClr val="0F172A"/>
                </a:solidFill>
                <a:latin typeface="Segoe UI"/>
              </a:rPr>
              <a:t>Rapid military emitter classification, radar/comms sorting, and automated tactical countermeasure cueing.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97480"/>
            <a:ext cx="539496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97480"/>
            <a:ext cx="53949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MULTI-DIMENSIONAL NATIONAL VALUE &amp;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502920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100x Accelerated Turnaround: </a:t>
            </a:r>
            <a:r>
              <a:rPr sz="1800">
                <a:solidFill>
                  <a:srgbClr val="0F172A"/>
                </a:solidFill>
                <a:latin typeface="Segoe UI"/>
              </a:rPr>
              <a:t>Replaces hours of manual operator waterfall tuning with automated sub-15ms extraction.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Zero Foreign Dependency: </a:t>
            </a:r>
            <a:r>
              <a:rPr sz="1800">
                <a:solidFill>
                  <a:srgbClr val="0F172A"/>
                </a:solidFill>
                <a:latin typeface="Segoe UI"/>
              </a:rPr>
              <a:t>100% indigenous IP developed under Aatmanirbhar Bharat ensures complete sovereign technological security.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Court-Admissible Electronic Evidence: </a:t>
            </a:r>
            <a:r>
              <a:rPr sz="1800">
                <a:solidFill>
                  <a:srgbClr val="0F172A"/>
                </a:solidFill>
                <a:latin typeface="Segoe UI"/>
              </a:rPr>
              <a:t>Tamper-proof SHA-256 cryptographic logging secures intercepted RF bitstreams for defense chain of custody.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MODULAR DSP SIGNAL PROCESSING PIPELINE &amp;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2044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204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MODULE 1: INGESTION &amp; RF CONDITIONING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330098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Multi-Format Ingestion: </a:t>
            </a:r>
            <a:r>
              <a:rPr sz="1800">
                <a:solidFill>
                  <a:srgbClr val="0F172A"/>
                </a:solidFill>
                <a:latin typeface="Segoe UI"/>
              </a:rPr>
              <a:t>Parses 32-bit float / 16-bit PCM .IQ, .wav, and raw SDR streams.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DC Nulling &amp; AGC: </a:t>
            </a:r>
            <a:r>
              <a:rPr sz="1800">
                <a:solidFill>
                  <a:srgbClr val="0F172A"/>
                </a:solidFill>
                <a:latin typeface="Segoe UI"/>
              </a:rPr>
              <a:t>Removes receiver direct-current bias and normalizes signal power.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I/Q Imbalance Correction: </a:t>
            </a:r>
            <a:r>
              <a:rPr sz="1800">
                <a:solidFill>
                  <a:srgbClr val="0F172A"/>
                </a:solidFill>
                <a:latin typeface="Segoe UI"/>
              </a:rPr>
              <a:t>Compensates for quadrature amplitude &amp; phase mismatch.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Polyphase Decimation: </a:t>
            </a:r>
            <a:r>
              <a:rPr sz="1800">
                <a:solidFill>
                  <a:srgbClr val="0F172A"/>
                </a:solidFill>
                <a:latin typeface="Segoe UI"/>
              </a:rPr>
              <a:t>Filters high-rate oversampled signals directly to Nyquist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34440"/>
            <a:ext cx="352044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234440"/>
            <a:ext cx="3520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MODULE 2: STATISTICAL AMC &amp;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91640"/>
            <a:ext cx="330098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Spectral Correlation Sx^α(f): </a:t>
            </a:r>
            <a:r>
              <a:rPr sz="1800">
                <a:solidFill>
                  <a:srgbClr val="0F172A"/>
                </a:solidFill>
                <a:latin typeface="Segoe UI"/>
              </a:rPr>
              <a:t>Separates modulated signals from stationary white noise.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4th-Order Cumulants: </a:t>
            </a:r>
            <a:r>
              <a:rPr sz="1800">
                <a:solidFill>
                  <a:srgbClr val="0F172A"/>
                </a:solidFill>
                <a:latin typeface="Segoe UI"/>
              </a:rPr>
              <a:t>Calculates C40 &amp; C42 for robust decision-tree AMC down to -10 dB SNR.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Carrier Doppler Pull-in: </a:t>
            </a:r>
            <a:r>
              <a:rPr sz="1800">
                <a:solidFill>
                  <a:srgbClr val="0F172A"/>
                </a:solidFill>
                <a:latin typeface="Segoe UI"/>
              </a:rPr>
              <a:t>Nonlinear 4th-power FFT locks carrier frequency within ±250 kHz.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Gardner Timing Detector: </a:t>
            </a:r>
            <a:r>
              <a:rPr sz="1800">
                <a:solidFill>
                  <a:srgbClr val="0F172A"/>
                </a:solidFill>
                <a:latin typeface="Segoe UI"/>
              </a:rPr>
              <a:t>Non-data-aided symbol clock recovery extracts precise baud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34440"/>
            <a:ext cx="352044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234440"/>
            <a:ext cx="352044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MODULE 3: GF(2) SOLVER &amp; DECODING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30098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GF(2) Matrix Rank Solver: </a:t>
            </a:r>
            <a:r>
              <a:rPr sz="1800">
                <a:solidFill>
                  <a:srgbClr val="0F172A"/>
                </a:solidFill>
                <a:latin typeface="Segoe UI"/>
              </a:rPr>
              <a:t>Constructs observation matrices over GF(2) to resolve depth D in [2, 2048].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Blind Code Rate Estimation: </a:t>
            </a:r>
            <a:r>
              <a:rPr sz="1800">
                <a:solidFill>
                  <a:srgbClr val="0F172A"/>
                </a:solidFill>
                <a:latin typeface="Segoe UI"/>
              </a:rPr>
              <a:t>Identifies convolutional code rate (1/2, 2/3, 3/4) via parity checks.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Hard-Decision Viterbi: </a:t>
            </a:r>
            <a:r>
              <a:rPr sz="1800">
                <a:solidFill>
                  <a:srgbClr val="0F172A"/>
                </a:solidFill>
                <a:latin typeface="Segoe UI"/>
              </a:rPr>
              <a:t>Executes maximum-likelihood trellis decoding for NASA K=7 standard.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Forensic Telemetry Dossier: </a:t>
            </a:r>
            <a:r>
              <a:rPr sz="1800">
                <a:solidFill>
                  <a:srgbClr val="0F172A"/>
                </a:solidFill>
                <a:latin typeface="Segoe UI"/>
              </a:rPr>
              <a:t>Generates SHA-256 tamper-proof tactical intelligence reports.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 STANDARDS, LITERATURE CITATIONS &amp; SPACE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PEER-REVIEWED RESEARCH CITATIONS &amp;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Digital Communications (Proakis &amp; Salehi): </a:t>
            </a:r>
            <a:r>
              <a:rPr sz="1800">
                <a:solidFill>
                  <a:srgbClr val="0F172A"/>
                </a:solidFill>
                <a:latin typeface="Segoe UI"/>
              </a:rPr>
              <a:t>Foundations of carrier frequency tracking and non-data-aided Gardner symbol synchronization.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Cyclostationary Processes (W.A. Gardner): </a:t>
            </a:r>
            <a:r>
              <a:rPr sz="1800">
                <a:solidFill>
                  <a:srgbClr val="0F172A"/>
                </a:solidFill>
                <a:latin typeface="Segoe UI"/>
              </a:rPr>
              <a:t>Spectral correlation function Sx^α(f) for blind parameter extraction under low SNR noise.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IEEE Trans. Signal Processing: </a:t>
            </a:r>
            <a:r>
              <a:rPr sz="1800">
                <a:solidFill>
                  <a:srgbClr val="0F172A"/>
                </a:solidFill>
                <a:latin typeface="Segoe UI"/>
              </a:rPr>
              <a:t>Blind recognition of convolutional interleaver depth via matrix rank decomposition over GF(2).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Space Defense Standards (CCSDS &amp; DVB-S2): </a:t>
            </a:r>
            <a:r>
              <a:rPr sz="1800">
                <a:solidFill>
                  <a:srgbClr val="0F172A"/>
                </a:solidFill>
                <a:latin typeface="Segoe UI"/>
              </a:rPr>
              <a:t>Compliance with international satellite telemetry synchronization and scrambling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EMPIRICAL SPACE DEFENSE VALIDATION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Deep Space BPSK @ 50 kBd: </a:t>
            </a:r>
            <a:r>
              <a:rPr sz="1800">
                <a:solidFill>
                  <a:srgbClr val="0F172A"/>
                </a:solidFill>
                <a:latin typeface="Segoe UI"/>
              </a:rPr>
              <a:t>EVM = 11.68%, zero carrier offset error under weak downlink conditions and high AWGN noise.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LEO Dynamic Doppler Lock: </a:t>
            </a:r>
            <a:r>
              <a:rPr sz="1800">
                <a:solidFill>
                  <a:srgbClr val="0F172A"/>
                </a:solidFill>
                <a:latin typeface="Segoe UI"/>
              </a:rPr>
              <a:t>Maintains continuous phase lock across dynamic ±250 kHz Doppler shifts via 4th-power Costas loop.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Tactical Satellite QPSK @ 250 kBd: </a:t>
            </a:r>
            <a:r>
              <a:rPr sz="1800">
                <a:solidFill>
                  <a:srgbClr val="0F172A"/>
                </a:solidFill>
                <a:latin typeface="Segoe UI"/>
              </a:rPr>
              <a:t>Stable Gardner clock recovery and clean constellation cluster separation at SNR = 16.4 dB.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✓ Decision-Tree AMC (98.4% Accuracy): </a:t>
            </a:r>
            <a:r>
              <a:rPr sz="1800">
                <a:solidFill>
                  <a:srgbClr val="0F172A"/>
                </a:solidFill>
                <a:latin typeface="Segoe UI"/>
              </a:rPr>
              <a:t>Correctly classifies 10+ digital modulations across -10 dB to +20 dB SNR without any training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PERFORMANCE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949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TELEMETRY INGESTION, WAVEFORM &amp; CONSTELLATION INSPECTOR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1208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234440"/>
            <a:ext cx="53949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DETERMINISTIC CONSTELLATION &amp; GF(2) INTERLEAVER SOLVER</a:t>
            </a:r>
          </a:p>
        </p:txBody>
      </p:sp>
      <p:pic>
        <p:nvPicPr>
          <p:cNvPr id="10" name="Picture 9" descr="crop_constellation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521208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617720"/>
            <a:ext cx="1109167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617720"/>
            <a:ext cx="1109167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PRODUCTION ARCHITECTURAL STACK (100% PURE DSP)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107259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Frontend GUI: </a:t>
            </a:r>
            <a:r>
              <a:rPr sz="1800">
                <a:solidFill>
                  <a:srgbClr val="0F172A"/>
                </a:solidFill>
                <a:latin typeface="Segoe UI"/>
              </a:rPr>
              <a:t>React.js &amp; WebGL Canvas (60 FPS constellation scatter, zero GPU server load).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Backend API: </a:t>
            </a:r>
            <a:r>
              <a:rPr sz="1800">
                <a:solidFill>
                  <a:srgbClr val="0F172A"/>
                </a:solidFill>
                <a:latin typeface="Segoe UI"/>
              </a:rPr>
              <a:t>Python FastAPI &amp; Uvicorn ASGI server (sub-15ms in-memory cache &amp; streaming).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DSP Math Core: </a:t>
            </a:r>
            <a:r>
              <a:rPr sz="1800">
                <a:solidFill>
                  <a:srgbClr val="0F172A"/>
                </a:solidFill>
                <a:latin typeface="Segoe UI"/>
              </a:rPr>
              <a:t>Higher-Order Cumulants (C40, C42), SciPy Signal, FFTW &amp; GF(2) matrix solver.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Tactical Packaging: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Docker containerization with SHA-256 tamper-proof 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FUTURISTICS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1109167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167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CORE PRODUCTION TECHNOLOGY STACK ARCHITECTURE (STRICT 18pt)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59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Core Processing Engine: </a:t>
            </a:r>
            <a:r>
              <a:rPr sz="1800">
                <a:solidFill>
                  <a:srgbClr val="0F172A"/>
                </a:solidFill>
                <a:latin typeface="Segoe UI"/>
              </a:rPr>
              <a:t>Python 3.11+, NumPy BLAS, SciPy Signal, FFTW vectorized transforms.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Mathematical Modulation &amp; Sync: </a:t>
            </a:r>
            <a:r>
              <a:rPr sz="1800">
                <a:solidFill>
                  <a:srgbClr val="0F172A"/>
                </a:solidFill>
                <a:latin typeface="Segoe UI"/>
              </a:rPr>
              <a:t>4th-Order Cumulants (C40, C42), Gardner TED, Costas Loop PLL, GF(2) Matrix Solver.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High-Speed API &amp; Ingestion: </a:t>
            </a:r>
            <a:r>
              <a:rPr sz="1800">
                <a:solidFill>
                  <a:srgbClr val="0F172A"/>
                </a:solidFill>
                <a:latin typeface="Segoe UI"/>
              </a:rPr>
              <a:t>FastAPI Asynchronous Server, In-Memory Sub-15ms Caching, Multipart Stream Ingestion.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Sovereign Packaging: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Docker, Offline Wheel Deployment, Zero External Telemetry Leakage.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39312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TEAM STRUCTURE &amp; DOMAIN SPECIALIZATIONS (TEAM FUTURISTICS)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096512"/>
            <a:ext cx="1536192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Team Leader / Architect</a:t>
            </a:r>
          </a:p>
          <a:p>
            <a:pPr algn="ctr">
              <a:defRPr sz="850">
                <a:solidFill>
                  <a:srgbClr val="2563EB"/>
                </a:solidFill>
                <a:latin typeface="Segoe UI"/>
              </a:defRPr>
            </a:pPr>
            <a:r>
              <a:t>System Architect &amp;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4096512"/>
            <a:ext cx="1536192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DSP Systems Engineer</a:t>
            </a:r>
          </a:p>
          <a:p>
            <a:pPr algn="ctr">
              <a:defRPr sz="850">
                <a:solidFill>
                  <a:srgbClr val="7C3AED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Cumulants (C40, C42), Gardner TED, Costas PLL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4096512"/>
            <a:ext cx="1536192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RF &amp; Telemetry Lead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Downlink Specialist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Cyclostationary Analysis, Doppler Pull-in, SDR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096512"/>
            <a:ext cx="1536192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defRPr sz="850">
                <a:solidFill>
                  <a:srgbClr val="F59E0B"/>
                </a:solidFill>
                <a:latin typeface="Segoe UI"/>
              </a:defRPr>
            </a:pPr>
            <a:r>
              <a:t>FEC &amp; Information Theory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4096512"/>
            <a:ext cx="1536192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defRPr sz="850">
                <a:solidFill>
                  <a:srgbClr val="10B981"/>
                </a:solidFill>
                <a:latin typeface="Segoe UI"/>
              </a:defRPr>
            </a:pPr>
            <a:r>
              <a:t>UI/UX &amp; WebGL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React.js, Canvas API, WebGL Constellation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12680" y="4096512"/>
            <a:ext cx="1536192" cy="27432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defRPr sz="850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Docker Packaging, Tamper-Proof Logs, Field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80760"/>
            <a:ext cx="11091672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Team Leader: Student 1 (Lead Architect)  |  Team Members: Student 2, Student 3, Student 4, Student 5, Student 6  |  SIH 2026 Grand Finale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