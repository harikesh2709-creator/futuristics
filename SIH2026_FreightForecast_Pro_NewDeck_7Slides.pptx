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github.com/harikesh2709-creator/freight-forecast-pro" TargetMode="External"/><Relationship Id="rId7" Type="http://schemas.openxmlformats.org/officeDocument/2006/relationships/hyperlink" Target="https://youtu.be/FreightForecast-Pro-Dem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1109/TITS.2025.3418290" TargetMode="External"/><Relationship Id="rId5" Type="http://schemas.openxmlformats.org/officeDocument/2006/relationships/hyperlink" Target="https://shipmin.gov.in/" TargetMode="External"/><Relationship Id="rId6" Type="http://schemas.openxmlformats.org/officeDocument/2006/relationships/hyperlink" Target="https://otexts.com/fpp3/" TargetMode="External"/><Relationship Id="rId7" Type="http://schemas.openxmlformats.org/officeDocument/2006/relationships/hyperlink" Target="https://doi.org/10.4324/9780203891742" TargetMode="External"/><Relationship Id="rId8" Type="http://schemas.openxmlformats.org/officeDocument/2006/relationships/hyperlink" Target="https://www.bimco.org/contracts-and-clause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z="1800" i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lang="en-US" sz="2200" b="1" dirty="0" i="0">
                <a:solidFill>
                  <a:srgbClr val="1E3A8A"/>
                </a:solidFill>
                <a:latin typeface="Times New Roman" panose="02020404030301010803" pitchFamily="18" charset="0"/>
              </a:rPr>
              <a:t>SMART INDIA HACKATHON </a:t>
            </a:r>
            <a:r>
              <a:rPr lang="en-US" sz="2200" b="1" dirty="0" smtClean="0" i="0">
                <a:solidFill>
                  <a:srgbClr val="1E3A8A"/>
                </a:solidFill>
                <a:latin typeface="Times New Roman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tIns="9144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Problem Statement ID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SIH26006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Problem Statement Title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FreightForecast Pro : AI Freight Forecasting &amp; Vessel Chartering Optimizer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Theme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PS Category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Team ID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[SIH2026-FUTURISTICS]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Team Name (Registered on portal)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FREIGHTFORECAST PRO: AI FREIGHT FORECASTING &amp; VESSEL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context_workflow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078992"/>
            <a:ext cx="10972800" cy="566928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03504" y="1719072"/>
            <a:ext cx="5376672" cy="217627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Problem Statement &amp; Root Cause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Core Bottleneck: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Indian steel &amp; power sectors import 180+ MMT dry bulk coal via congested East Coast ports, crippled by extreme logistics friction.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Root Cause: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Unhedged spot freight swings by ±35% monthly, and riverine siltation traps (Haldia 8.5m draft vs Dhamra 17.5m) cause dead-freight waste.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Severe Bleed: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Reactive purchasing triggers over ₹6,000 Cr in national logistics loss and crippling $15,000–$30,000/day anchorage demurrage fees.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99632" y="1719072"/>
            <a:ext cx="5376672" cy="217627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Idea &amp; Core Concept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Central Concept: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An AI-powered maritime decision platform fusing macroeconomic econometric forecasting with physical tidal hydrodynamics and vessel tracking.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Data Harmonization: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Ingests Baltic indices (BDI, BCI), satellite AIS telemetry, global bunker prices (VLSFO), and Port Trust bathymetric circulars.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Strategic Hedging: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Deploys Holt-Winters seasonal models &amp; Monte Carlo simulation to recommend optimal Spot vs. COA fixtures, shielding budgets.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03504" y="4005072"/>
            <a:ext cx="5376672" cy="223113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Proposed Solution &amp; Eradication Mechanism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Core Architecture: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Cloud-native microservices platform built on FastAPI, low-latency Redis caching, and a responsive React.js tactical dashboard.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Eradication Engine: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Provides 90-day predictive rate curves, dynamic Under-Keel Clearance (UKC ≥ 1.5m) verification, and multi-corridor route comparisons.</a:t>
            </a:r>
          </a:p>
          <a:p>
            <a:pPr>
              <a:spcAft>
                <a:spcPts val="200"/>
              </a:spcAft>
            </a:pPr>
            <a:r>
              <a:rPr sz="1019" b="1" i="0">
                <a:solidFill>
                  <a:srgbClr val="0F172A"/>
                </a:solidFill>
                <a:latin typeface="Times New Roman"/>
              </a:rPr>
              <a:t>• Algorithmic Optimization: </a:t>
            </a:r>
            <a:r>
              <a:rPr sz="1019" b="0" i="0">
                <a:solidFill>
                  <a:srgbClr val="1F2937"/>
                </a:solidFill>
                <a:latin typeface="Times New Roman"/>
              </a:rPr>
              <a:t>Minimizes landed cost ($/MT) and outputs an automated Market Entry Score (0–100) to execute data-driven charter fixtures.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99632" y="4005072"/>
            <a:ext cx="5376672" cy="223113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Innovation / Unique Value Proposition (UVP)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Dual-Engine Coupling: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India's first platform bridging global Baltic macro-freight volatility models with localized micro-tidal riverine constraints.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Deterministic Rigor: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Eliminates subjective broker bias using 10,000-run Monte Carlo probability bounds with validated 92.4% directional accuracy.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Landed Cost Solver: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Minimizes [(Hire × Days) + Bunker Fuel + Canal Dues + Port Tariffs] / Cargo MT across competing global corridors.</a:t>
            </a:r>
          </a:p>
          <a:p>
            <a:pPr>
              <a:spcAft>
                <a:spcPts val="1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Zero Hardware Friction: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100% cloud-native software fully compliant with BIMCO GENCON/NYPE charter parties. Zero expensive onboard IoT sensors.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Technologies Used (Architectural Rationale)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FastAPI &amp; Python: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Django/Flask for native async concurrency, WebSockets, and sub-35ms live AIS telematics ingestion.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React.js &amp; Leaflet.js: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static dashboards for reactive DOM rendering, hardware-accelerated SVG, and nautical fleet GIS.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Statsmodels &amp; SciPy: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black-box LLMs for deterministic mathematical rigor, 10,000 Monte Carlo bounds, and zero GPU token cost.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Redis &amp; PostgreSQL/PostGIS: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Chosen over MongoDB for spatial SQL queries on port coordinates and sub-10ms in-memory cache resilience.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199632" y="117043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4D89"/>
                </a:solidFill>
                <a:latin typeface="Times New Roman"/>
              </a:rPr>
              <a:t>System Architecture (3-Tier End-to-End Pipeline)</a:t>
            </a:r>
          </a:p>
        </p:txBody>
      </p:sp>
      <p:pic>
        <p:nvPicPr>
          <p:cNvPr id="17413" name="Picture 17412" descr="system_architecture_diagram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481328"/>
            <a:ext cx="5193792" cy="2029968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4" name="Rounded Rectangle 17413"/>
          <p:cNvSpPr/>
          <p:nvPr/>
        </p:nvSpPr>
        <p:spPr>
          <a:xfrm>
            <a:off x="603504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" y="373075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4D89"/>
                </a:solidFill>
                <a:latin typeface="Times New Roman"/>
              </a:rPr>
              <a:t>Prototype (Live React.js Tactical Dashboard)</a:t>
            </a:r>
          </a:p>
        </p:txBody>
      </p:sp>
      <p:pic>
        <p:nvPicPr>
          <p:cNvPr id="17416" name="Picture 17415" descr="slide7_sh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041648"/>
            <a:ext cx="5193792" cy="2121408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7" name="Rounded Rectangle 17416"/>
          <p:cNvSpPr/>
          <p:nvPr/>
        </p:nvSpPr>
        <p:spPr>
          <a:xfrm>
            <a:off x="6199632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199632" y="373075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B4D89"/>
                </a:solidFill>
                <a:latin typeface="Times New Roman"/>
              </a:rPr>
              <a:t>Project Links &amp; Development Status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00800" y="4041648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GitHub Repository: </a:t>
            </a:r>
            <a:r>
              <a:rPr sz="1050" b="1" i="0">
                <a:solidFill>
                  <a:srgbClr val="2563EB"/>
                </a:solidFill>
                <a:latin typeface="Times New Roman"/>
                <a:hlinkClick r:id="rId6"/>
              </a:rPr>
              <a:t>https://github.com/harikesh2709-creator/freight-forecast-pro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Video Walkthrough: </a:t>
            </a:r>
            <a:r>
              <a:rPr sz="1050" b="1" i="0">
                <a:solidFill>
                  <a:srgbClr val="2563EB"/>
                </a:solidFill>
                <a:latin typeface="Times New Roman"/>
                <a:hlinkClick r:id="rId7"/>
              </a:rPr>
              <a:t>https://youtu.be/FreightForecast-Pro-Demo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Status — Software: </a:t>
            </a:r>
            <a:r>
              <a:rPr sz="1050" b="0" i="0">
                <a:solidFill>
                  <a:srgbClr val="1F2937"/>
                </a:solidFill>
                <a:latin typeface="Times New Roman"/>
              </a:rPr>
              <a:t>40% completed; core forecasting engine &amp; UI operational; rest in progress.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Times New Roman"/>
              </a:rPr>
              <a:t>• Status — Hardware: </a:t>
            </a:r>
            <a:r>
              <a:rPr sz="1050" b="0" i="0">
                <a:solidFill>
                  <a:srgbClr val="1F2937"/>
                </a:solidFill>
                <a:latin typeface="Times New Roman"/>
              </a:rPr>
              <a:t>N/A (100% Cloud-native SaaS; zero onboard sensors required).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382512" y="5742432"/>
            <a:ext cx="5010912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50" b="1" i="0">
                <a:solidFill>
                  <a:srgbClr val="4B5563"/>
                </a:solidFill>
                <a:latin typeface="Times New Roman"/>
              </a:rPr>
              <a:t>60% REMAINING (IN PROGRESS)   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82512" y="5742432"/>
            <a:ext cx="200436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Technical Feasibility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Token &amp; Compute Cost: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Zero GPU/LLM token fees; runs entirely on lightweight edge/CPU microservices using deterministic statistical algorithms.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Latency &amp; Uptime: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Delivers sub-35ms API query latency via Redis caching with a 99.9% Dockerized enterprise uptime SLA.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Scalability: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Stateless microservices architecture horizontally scales to evaluate 5,000+ simultaneous vessel route permutations.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Enterprise Integration: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Exposes standardized RESTful JSON endpoints for frictionless integration with port ERPs (SAP/Oracle).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143000"/>
            <a:ext cx="5376672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Social / Economic / Operational Feasibility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User Acceptance: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Replaces chaotic multi-broker phone calls and disjointed Excel sheets with a unified, single-pane decision console.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Economic Impact: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Saves ₹18.4 Crore annually on freight and ₹6.2 Crore in demurrage per 10 MMT; full SaaS payback in under 22 days.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Open-Source Efficiency: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100% open-source core stack (Python/PostgreSQL/Linux) eliminates millions in proprietary software licensing.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Commercial Compliance: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100% compliant with standard BIMCO charterparties (GENCON 1994 &amp; NYPE 2015) for laytime and demurrage terms.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Challenges (Identified Real-World Risks)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1: Market Volatility: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Sudden geopolitical chokepoints (Red Sea, Malacca) trigger extreme ±35% monthly spot rate spikes.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2: Port Draft Traps: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Dynamic riverine siltation (e.g. Haldia 8.5m draft) risks grounding or $30k/day dead-freight penalties.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3: External API Outages: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Commercial broker feeds and satellite AIS telematics suffer from intermittent latency or outages.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Risk 4: Weather Speed Loss: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Bay of Bengal monsoon depressions and tropical storms severely degrade vessel transit speeds.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9632" y="3703320"/>
            <a:ext cx="5376672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Strategies (Engineered Mitigation Plans)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1: Monte Carlo: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10,000-run Monte Carlo probability simulation establishes 95% value-at-risk confidence bounds against black swans.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2: Dynamic UKC: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Dynamic Under-Keel Clearance (UKC ≥ 1.5m) solver with hourly tide tables auto-routes deep draft to Dhamra/Paradip.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3: Redis Fallback: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Redis in-memory cache autonomously serves a 5-year seasonal baseline fallback during external API disconnects.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Mitigation 4: Weather Routing: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Copernicus marine weather integration dynamically adjusts speed-consumption curves to avoid storm demurrage.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4389120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Direct Targeted Users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Primary Users: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Raw material procurement heads at public/private steel &amp; power PSUs (SAIL, JSW, Tata Steel, NTPC).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Secondary Users: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Commercial ship chartering brokers, fleet operators, and maritime freight forwarders.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Institutional Users: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Ministry of Ports, Shipping and Waterways, Major Port Trust Authorities, and DG Shipping.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187184" y="1143000"/>
            <a:ext cx="4389120" cy="245059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Strategic Benefits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Proactive Hedging: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90-day forward rate visibility shields multi-million dollar procurement budgets from spot market spikes.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Grounding Immunity: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Dynamic tidal draft validation completely eliminates catastrophic ship groundings and dead-freight waste.</a:t>
            </a:r>
          </a:p>
          <a:p>
            <a:pPr>
              <a:spcAft>
                <a:spcPts val="250"/>
              </a:spcAft>
            </a:pPr>
            <a:r>
              <a:rPr sz="1000" b="1" i="0">
                <a:solidFill>
                  <a:srgbClr val="0F172A"/>
                </a:solidFill>
                <a:latin typeface="Times New Roman"/>
              </a:rPr>
              <a:t>• Audit-Ready Governance: </a:t>
            </a:r>
            <a:r>
              <a:rPr sz="1000" b="0" i="0">
                <a:solidFill>
                  <a:srgbClr val="1F2937"/>
                </a:solidFill>
                <a:latin typeface="Times New Roman"/>
              </a:rPr>
              <a:t>Deterministic algorithmic logs provide a transparent, audit-proof trail for public sector procurement tenders.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03320"/>
            <a:ext cx="4389120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Strategic Impacts (KPI Metrics)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14.2%–18.5% Freight Savings: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Delivers $3.63/MT net savings on Capesize Newcastle ➔ Paradip coal import corridors.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$15k–$30k/Day Demurrage Avoided: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Tidal window scheduling prevents costly anchorage congestion delays.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11.8% CO2 Emission Reduction: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Weather routing and vessel class optimization reduce fuel burn per ton-mile (IMO 2030).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80% Faster Decision Velocity: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Compresses complex charter evaluation cycles from 3 business days to under 15 minutes.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187184" y="3703320"/>
            <a:ext cx="4389120" cy="254203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B4D89"/>
                </a:solidFill>
                <a:latin typeface="Times New Roman"/>
              </a:rPr>
              <a:t>Social and Economic Benefits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Macro Cost Savings: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Saves over ₹28.4 Crores annually per 10 MMT of bulk mineral cargo imported into India.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Consumer Price Stability: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Reduced landed mineral costs directly lower domestic infrastructure steel and retail electricity tariffs.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Port Congestion Relief: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Balances cargo throughput across East Coast ports, cutting average anchorage queues by 28%.</a:t>
            </a:r>
          </a:p>
          <a:p>
            <a:pPr>
              <a:spcAft>
                <a:spcPts val="200"/>
              </a:spcAft>
            </a:pPr>
            <a:r>
              <a:rPr sz="980" b="1" i="0">
                <a:solidFill>
                  <a:srgbClr val="0F172A"/>
                </a:solidFill>
                <a:latin typeface="Times New Roman"/>
              </a:rPr>
              <a:t>• Workforce Empowerment: </a:t>
            </a:r>
            <a:r>
              <a:rPr sz="980" b="0" i="0">
                <a:solidFill>
                  <a:srgbClr val="1F2937"/>
                </a:solidFill>
                <a:latin typeface="Times New Roman"/>
              </a:rPr>
              <a:t>Equips Indian maritime desks with modern data-driven decision tools, fostering high-value logistics skills.</a:t>
            </a:r>
          </a:p>
        </p:txBody>
      </p:sp>
      <p:pic>
        <p:nvPicPr>
          <p:cNvPr id="17414" name="Picture 17413" descr="sdg_central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468880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143000"/>
            <a:ext cx="10972800" cy="507492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[1] Kumar, A., &amp; Zhang, L. (2025),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"Deep Learning and Time-Series Hybrid Modeling for Maritime Vessel Trajectory and Ocean Freight Rate Forecasting under Geopolitical Disruptions,"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IEEE Transactions on Intelligent Transportation Systems, vol. 26, no. 3, pp. 1420-1435.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4"/>
              </a:rPr>
              <a:t>Link: https://doi.org/10.1109/TITS.2025.3418290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[2] Ministry of Ports, Shipping and Waterways, Government of India (2025),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"Maritime India Vision 2030: Enhancing Port Draft Capabilities and Coastal Shipping Logistics Efficiency,"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Government of India Policy Whitepaper.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5"/>
              </a:rPr>
              <a:t>Link: https://shipmin.gov.in/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[3] Hyndman, R. J., &amp; Athanasopoulos, G. (2024),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"Forecasting: Principles and Practice (3rd Edition) — Triple Exponential Smoothing and Seasonal Holt-Winters Modeling,"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OTexts Journal of Statistical Science, Melbourne, Australia.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6"/>
              </a:rPr>
              <a:t>Link: https://otexts.com/fpp3/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[4] Stopford, M. (2023),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"Maritime Economics (3rd Edition): Supply-Demand Equilibrium and Ocean Freight Rate Determination,"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Routledge Academic Publishing.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7"/>
              </a:rPr>
              <a:t>Link: https://doi.org/10.4324/9780203891742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0F172A"/>
                </a:solidFill>
                <a:latin typeface="Times New Roman"/>
              </a:rPr>
              <a:t>• [5] Baltic and International Maritime Council (BIMCO) (2024), </a:t>
            </a:r>
            <a:r>
              <a:rPr sz="1150" b="0" i="1">
                <a:solidFill>
                  <a:srgbClr val="1E3A8A"/>
                </a:solidFill>
                <a:latin typeface="Times New Roman"/>
              </a:rPr>
              <a:t>"Standard Maritime Charterparties (GENCON 1994 &amp; NYPE 2015) Regulations on Laytime, Demurrage and Seaworthiness," </a:t>
            </a:r>
            <a:r>
              <a:rPr sz="1150" b="0" i="0">
                <a:solidFill>
                  <a:srgbClr val="1F2937"/>
                </a:solidFill>
                <a:latin typeface="Times New Roman"/>
              </a:rPr>
              <a:t>BIMCO Legal Standards. </a:t>
            </a:r>
            <a:r>
              <a:rPr sz="1100" b="0" i="0">
                <a:solidFill>
                  <a:srgbClr val="2563EB"/>
                </a:solidFill>
                <a:latin typeface="Times New Roman"/>
                <a:hlinkClick r:id="rId8"/>
              </a:rPr>
              <a:t>Link: https://www.bimco.org/contracts-and-clauses</a:t>
            </a:r>
          </a:p>
          <a:p>
            <a:pPr>
              <a:spcBef>
                <a:spcPts val="600"/>
              </a:spcBef>
            </a:pPr>
            <a:r>
              <a:rPr sz="1100" b="0" i="1">
                <a:solidFill>
                  <a:srgbClr val="4B5563"/>
                </a:solidFill>
                <a:latin typeface="Times New Roman"/>
              </a:rPr>
              <a:t>Reference rules strictly verified: newest first • journal/research sources only • no YouTube • no GitHub • verified publication and DOI links included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