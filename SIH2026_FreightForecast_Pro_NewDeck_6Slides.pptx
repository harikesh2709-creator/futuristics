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hyperlink" Target="https://github.com/harikesh2709-creator/freight-forecast-pro" TargetMode="External"/><Relationship Id="rId7" Type="http://schemas.openxmlformats.org/officeDocument/2006/relationships/hyperlink" Target="https://youtu.be/FreightForecast-Pro-Demo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doi.org/10.1109/TITS.2025.3418290" TargetMode="External"/><Relationship Id="rId5" Type="http://schemas.openxmlformats.org/officeDocument/2006/relationships/hyperlink" Target="https://shipmin.gov.in/" TargetMode="External"/><Relationship Id="rId6" Type="http://schemas.openxmlformats.org/officeDocument/2006/relationships/hyperlink" Target="https://otexts.com/fpp3/" TargetMode="External"/><Relationship Id="rId7" Type="http://schemas.openxmlformats.org/officeDocument/2006/relationships/hyperlink" Target="https://doi.org/10.4324/9780203891742" TargetMode="External"/><Relationship Id="rId8" Type="http://schemas.openxmlformats.org/officeDocument/2006/relationships/hyperlink" Target="https://www.bimco.org/contracts-and-claus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 algn="ctr"/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 sz="1800" i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pPr algn="ctr"/>
            <a:r>
              <a:rPr lang="en-US" sz="2200" b="1" dirty="0" i="0">
                <a:solidFill>
                  <a:srgbClr val="1E3A8A"/>
                </a:solidFill>
                <a:latin typeface="Times New Roman" panose="02020404030301010803" pitchFamily="18" charset="0"/>
              </a:rPr>
              <a:t>SMART INDIA HACKATHON </a:t>
            </a:r>
            <a:r>
              <a:rPr lang="en-US" sz="2200" b="1" dirty="0" smtClean="0" i="0">
                <a:solidFill>
                  <a:srgbClr val="1E3A8A"/>
                </a:solidFill>
                <a:latin typeface="Times New Roman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 tIns="91440">
            <a:spAutoFit/>
          </a:bodyPr>
          <a:lstStyle/>
          <a:p>
            <a:pPr>
              <a:spcAft>
                <a:spcPts val="1000"/>
              </a:spcAft>
            </a:pPr>
            <a:r>
              <a:rPr sz="1600" b="1" i="0">
                <a:solidFill>
                  <a:srgbClr val="0F172A"/>
                </a:solidFill>
                <a:latin typeface="Times New Roman"/>
              </a:rPr>
              <a:t>• Problem Statement ID – </a:t>
            </a:r>
            <a:r>
              <a:rPr sz="1600" b="1" i="0">
                <a:solidFill>
                  <a:srgbClr val="1E3A8A"/>
                </a:solidFill>
                <a:latin typeface="Times New Roman"/>
              </a:rPr>
              <a:t>SIH26006</a:t>
            </a:r>
            <a:endParaRPr lang="en-US" dirty="0"/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0F172A"/>
                </a:solidFill>
                <a:latin typeface="Times New Roman"/>
              </a:rPr>
              <a:t>• Problem Statement Title – </a:t>
            </a:r>
            <a:r>
              <a:rPr sz="1600" b="0" i="0">
                <a:solidFill>
                  <a:srgbClr val="1E3A8A"/>
                </a:solidFill>
                <a:latin typeface="Times New Roman"/>
              </a:rPr>
              <a:t>FreightForecast Pro : AI Freight Forecasting &amp; Vessel Chartering Optimizer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0F172A"/>
                </a:solidFill>
                <a:latin typeface="Times New Roman"/>
              </a:rPr>
              <a:t>• Theme – </a:t>
            </a:r>
            <a:r>
              <a:rPr sz="1600" b="0" i="0">
                <a:solidFill>
                  <a:srgbClr val="1E3A8A"/>
                </a:solidFill>
                <a:latin typeface="Times New Roman"/>
              </a:rPr>
              <a:t>Smart Logistics / Maritime &amp; Port Supply Chain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0F172A"/>
                </a:solidFill>
                <a:latin typeface="Times New Roman"/>
              </a:rPr>
              <a:t>• PS Category – </a:t>
            </a:r>
            <a:r>
              <a:rPr sz="1600" b="1" i="0">
                <a:solidFill>
                  <a:srgbClr val="1E3A8A"/>
                </a:solidFill>
                <a:latin typeface="Times New Roman"/>
              </a:rPr>
              <a:t>Software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0F172A"/>
                </a:solidFill>
                <a:latin typeface="Times New Roman"/>
              </a:rPr>
              <a:t>• Team ID – </a:t>
            </a:r>
            <a:r>
              <a:rPr sz="1600" b="0" i="0">
                <a:solidFill>
                  <a:srgbClr val="1E3A8A"/>
                </a:solidFill>
                <a:latin typeface="Times New Roman"/>
              </a:rPr>
              <a:t>[SIH2026-FUTURISTICS]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0F172A"/>
                </a:solidFill>
                <a:latin typeface="Times New Roman"/>
              </a:rPr>
              <a:t>• Team Name (Registered on portal) – </a:t>
            </a:r>
            <a:r>
              <a:rPr sz="1600" b="1" i="0">
                <a:solidFill>
                  <a:srgbClr val="1E3A8A"/>
                </a:solidFill>
                <a:latin typeface="Times New Roman"/>
              </a:rPr>
              <a:t>FUTURISTICS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8800" y="164592"/>
            <a:ext cx="7772400" cy="777240"/>
          </a:xfrm>
        </p:spPr>
        <p:txBody>
          <a:bodyPr/>
          <a:lstStyle/>
          <a:p>
            <a:pPr eaLnBrk="1" hangingPunct="1" algn="ctr"/>
            <a:r>
              <a:rPr sz="1800" b="1" i="0">
                <a:solidFill>
                  <a:srgbClr val="0F172A"/>
                </a:solidFill>
                <a:latin typeface="Times New Roman"/>
              </a:rPr>
              <a:t>FREIGHTFORECAST PRO: AI FREIGHT FORECASTING &amp; VESSEL CHARTERING OPTIMIZER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55680" y="6382512"/>
            <a:ext cx="731520" cy="411480"/>
          </a:xfrm>
        </p:spPr>
        <p:txBody>
          <a:bodyPr/>
          <a:lstStyle/>
          <a:p>
            <a:pPr algn="r"/>
            <a:r>
              <a:rPr sz="1100" b="1" i="0">
                <a:solidFill>
                  <a:srgbClr val="FFFFFF"/>
                </a:solidFill>
                <a:latin typeface="Times New Roman"/>
              </a:rPr>
              <a:t>2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114800" y="6382512"/>
            <a:ext cx="5029200" cy="411480"/>
          </a:xfrm>
        </p:spPr>
        <p:txBody>
          <a:bodyPr/>
          <a:lstStyle/>
          <a:p>
            <a:pPr algn="ctr">
              <a:defRPr/>
            </a:pPr>
            <a:r>
              <a:rPr sz="1050" b="0" i="0">
                <a:solidFill>
                  <a:srgbClr val="FFFFFF"/>
                </a:solidFill>
                <a:latin typeface="Times New Roman"/>
              </a:rPr>
              <a:t>@SIH 2026 IDEA SUBMISSION-TEAM FUTURISTICS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92608" y="182880"/>
            <a:ext cx="1645920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36576" rIns="36576" tIns="73152" bIns="36576"/>
          <a:lstStyle/>
          <a:p>
            <a:pPr algn="ctr"/>
            <a:r>
              <a:rPr sz="950" b="1" i="0">
                <a:solidFill>
                  <a:srgbClr val="1E3A8A"/>
                </a:solidFill>
                <a:latin typeface="Times New Roman"/>
              </a:rPr>
              <a:t>FUTURISTICS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2" name="Picture 15361" descr="context_workflow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1078992"/>
            <a:ext cx="10972800" cy="566928"/>
          </a:xfrm>
          <a:prstGeom prst="rect">
            <a:avLst/>
          </a:prstGeom>
        </p:spPr>
      </p:pic>
      <p:sp>
        <p:nvSpPr>
          <p:cNvPr id="15363" name="Rounded Rectangle 15362"/>
          <p:cNvSpPr/>
          <p:nvPr/>
        </p:nvSpPr>
        <p:spPr>
          <a:xfrm>
            <a:off x="603504" y="1719072"/>
            <a:ext cx="5376672" cy="2176272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1B4D89"/>
                </a:solidFill>
                <a:latin typeface="Times New Roman"/>
              </a:rPr>
              <a:t>Problem Statement &amp; Root Cause</a:t>
            </a:r>
          </a:p>
          <a:p>
            <a:pPr>
              <a:spcAft>
                <a:spcPts val="200"/>
              </a:spcAft>
            </a:pPr>
            <a:r>
              <a:rPr sz="1019" b="1" i="0">
                <a:solidFill>
                  <a:srgbClr val="0F172A"/>
                </a:solidFill>
                <a:latin typeface="Times New Roman"/>
              </a:rPr>
              <a:t>• Core Bottleneck: </a:t>
            </a:r>
            <a:r>
              <a:rPr sz="1019" b="0" i="0">
                <a:solidFill>
                  <a:srgbClr val="1F2937"/>
                </a:solidFill>
                <a:latin typeface="Times New Roman"/>
              </a:rPr>
              <a:t>Indian steel &amp; power sectors import 180+ MMT dry bulk coal via congested East Coast ports, crippled by extreme logistics friction.</a:t>
            </a:r>
          </a:p>
          <a:p>
            <a:pPr>
              <a:spcAft>
                <a:spcPts val="200"/>
              </a:spcAft>
            </a:pPr>
            <a:r>
              <a:rPr sz="1019" b="1" i="0">
                <a:solidFill>
                  <a:srgbClr val="0F172A"/>
                </a:solidFill>
                <a:latin typeface="Times New Roman"/>
              </a:rPr>
              <a:t>• Root Cause: </a:t>
            </a:r>
            <a:r>
              <a:rPr sz="1019" b="0" i="0">
                <a:solidFill>
                  <a:srgbClr val="1F2937"/>
                </a:solidFill>
                <a:latin typeface="Times New Roman"/>
              </a:rPr>
              <a:t>Unhedged spot freight swings by ±35% monthly, and riverine siltation traps (Haldia 8.5m draft vs Dhamra 17.5m) cause dead-freight waste.</a:t>
            </a:r>
          </a:p>
          <a:p>
            <a:pPr>
              <a:spcAft>
                <a:spcPts val="200"/>
              </a:spcAft>
            </a:pPr>
            <a:r>
              <a:rPr sz="1019" b="1" i="0">
                <a:solidFill>
                  <a:srgbClr val="0F172A"/>
                </a:solidFill>
                <a:latin typeface="Times New Roman"/>
              </a:rPr>
              <a:t>• Severe Bleed: </a:t>
            </a:r>
            <a:r>
              <a:rPr sz="1019" b="0" i="0">
                <a:solidFill>
                  <a:srgbClr val="1F2937"/>
                </a:solidFill>
                <a:latin typeface="Times New Roman"/>
              </a:rPr>
              <a:t>Reactive purchasing triggers over ₹6,000 Cr in national logistics loss and crippling $15,000–$30,000/day anchorage demurrage fees.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6199632" y="1719072"/>
            <a:ext cx="5376672" cy="2176272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1B4D89"/>
                </a:solidFill>
                <a:latin typeface="Times New Roman"/>
              </a:rPr>
              <a:t>Idea &amp; Core Concept</a:t>
            </a:r>
          </a:p>
          <a:p>
            <a:pPr>
              <a:spcAft>
                <a:spcPts val="200"/>
              </a:spcAft>
            </a:pPr>
            <a:r>
              <a:rPr sz="1019" b="1" i="0">
                <a:solidFill>
                  <a:srgbClr val="0F172A"/>
                </a:solidFill>
                <a:latin typeface="Times New Roman"/>
              </a:rPr>
              <a:t>• Central Concept: </a:t>
            </a:r>
            <a:r>
              <a:rPr sz="1019" b="0" i="0">
                <a:solidFill>
                  <a:srgbClr val="1F2937"/>
                </a:solidFill>
                <a:latin typeface="Times New Roman"/>
              </a:rPr>
              <a:t>An AI-powered maritime decision platform fusing macroeconomic econometric forecasting with physical tidal hydrodynamics and vessel tracking.</a:t>
            </a:r>
          </a:p>
          <a:p>
            <a:pPr>
              <a:spcAft>
                <a:spcPts val="200"/>
              </a:spcAft>
            </a:pPr>
            <a:r>
              <a:rPr sz="1019" b="1" i="0">
                <a:solidFill>
                  <a:srgbClr val="0F172A"/>
                </a:solidFill>
                <a:latin typeface="Times New Roman"/>
              </a:rPr>
              <a:t>• Data Harmonization: </a:t>
            </a:r>
            <a:r>
              <a:rPr sz="1019" b="0" i="0">
                <a:solidFill>
                  <a:srgbClr val="1F2937"/>
                </a:solidFill>
                <a:latin typeface="Times New Roman"/>
              </a:rPr>
              <a:t>Ingests Baltic indices (BDI, BCI), satellite AIS telemetry, global bunker prices (VLSFO), and Port Trust bathymetric circulars.</a:t>
            </a:r>
          </a:p>
          <a:p>
            <a:pPr>
              <a:spcAft>
                <a:spcPts val="200"/>
              </a:spcAft>
            </a:pPr>
            <a:r>
              <a:rPr sz="1019" b="1" i="0">
                <a:solidFill>
                  <a:srgbClr val="0F172A"/>
                </a:solidFill>
                <a:latin typeface="Times New Roman"/>
              </a:rPr>
              <a:t>• Strategic Hedging: </a:t>
            </a:r>
            <a:r>
              <a:rPr sz="1019" b="0" i="0">
                <a:solidFill>
                  <a:srgbClr val="1F2937"/>
                </a:solidFill>
                <a:latin typeface="Times New Roman"/>
              </a:rPr>
              <a:t>Deploys Holt-Winters seasonal models &amp; Monte Carlo simulation to recommend optimal Spot vs. COA fixtures, shielding budgets.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603504" y="4005072"/>
            <a:ext cx="5376672" cy="2231136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1B4D89"/>
                </a:solidFill>
                <a:latin typeface="Times New Roman"/>
              </a:rPr>
              <a:t>Proposed Solution &amp; Eradication Mechanism</a:t>
            </a:r>
          </a:p>
          <a:p>
            <a:pPr>
              <a:spcAft>
                <a:spcPts val="200"/>
              </a:spcAft>
            </a:pPr>
            <a:r>
              <a:rPr sz="1019" b="1" i="0">
                <a:solidFill>
                  <a:srgbClr val="0F172A"/>
                </a:solidFill>
                <a:latin typeface="Times New Roman"/>
              </a:rPr>
              <a:t>• Core Architecture: </a:t>
            </a:r>
            <a:r>
              <a:rPr sz="1019" b="0" i="0">
                <a:solidFill>
                  <a:srgbClr val="1F2937"/>
                </a:solidFill>
                <a:latin typeface="Times New Roman"/>
              </a:rPr>
              <a:t>Cloud-native microservices platform built on FastAPI, low-latency Redis caching, and a responsive React.js tactical dashboard.</a:t>
            </a:r>
          </a:p>
          <a:p>
            <a:pPr>
              <a:spcAft>
                <a:spcPts val="200"/>
              </a:spcAft>
            </a:pPr>
            <a:r>
              <a:rPr sz="1019" b="1" i="0">
                <a:solidFill>
                  <a:srgbClr val="0F172A"/>
                </a:solidFill>
                <a:latin typeface="Times New Roman"/>
              </a:rPr>
              <a:t>• Eradication Engine: </a:t>
            </a:r>
            <a:r>
              <a:rPr sz="1019" b="0" i="0">
                <a:solidFill>
                  <a:srgbClr val="1F2937"/>
                </a:solidFill>
                <a:latin typeface="Times New Roman"/>
              </a:rPr>
              <a:t>Provides 90-day predictive rate curves, dynamic Under-Keel Clearance (UKC ≥ 1.5m) verification, and multi-corridor route comparisons.</a:t>
            </a:r>
          </a:p>
          <a:p>
            <a:pPr>
              <a:spcAft>
                <a:spcPts val="200"/>
              </a:spcAft>
            </a:pPr>
            <a:r>
              <a:rPr sz="1019" b="1" i="0">
                <a:solidFill>
                  <a:srgbClr val="0F172A"/>
                </a:solidFill>
                <a:latin typeface="Times New Roman"/>
              </a:rPr>
              <a:t>• Algorithmic Optimization: </a:t>
            </a:r>
            <a:r>
              <a:rPr sz="1019" b="0" i="0">
                <a:solidFill>
                  <a:srgbClr val="1F2937"/>
                </a:solidFill>
                <a:latin typeface="Times New Roman"/>
              </a:rPr>
              <a:t>Minimizes landed cost ($/MT) and outputs an automated Market Entry Score (0–100) to execute data-driven charter fixtures.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6199632" y="4005072"/>
            <a:ext cx="5376672" cy="2231136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1B4D89"/>
                </a:solidFill>
                <a:latin typeface="Times New Roman"/>
              </a:rPr>
              <a:t>Innovation / Unique Value Proposition (UVP)</a:t>
            </a:r>
          </a:p>
          <a:p>
            <a:pPr>
              <a:spcAft>
                <a:spcPts val="150"/>
              </a:spcAft>
            </a:pPr>
            <a:r>
              <a:rPr sz="1000" b="1" i="0">
                <a:solidFill>
                  <a:srgbClr val="0F172A"/>
                </a:solidFill>
                <a:latin typeface="Times New Roman"/>
              </a:rPr>
              <a:t>• Dual-Engine Coupling: </a:t>
            </a:r>
            <a:r>
              <a:rPr sz="1000" b="0" i="0">
                <a:solidFill>
                  <a:srgbClr val="1F2937"/>
                </a:solidFill>
                <a:latin typeface="Times New Roman"/>
              </a:rPr>
              <a:t>India's first platform bridging global Baltic macro-freight volatility models with localized micro-tidal riverine constraints.</a:t>
            </a:r>
          </a:p>
          <a:p>
            <a:pPr>
              <a:spcAft>
                <a:spcPts val="150"/>
              </a:spcAft>
            </a:pPr>
            <a:r>
              <a:rPr sz="1000" b="1" i="0">
                <a:solidFill>
                  <a:srgbClr val="0F172A"/>
                </a:solidFill>
                <a:latin typeface="Times New Roman"/>
              </a:rPr>
              <a:t>• Deterministic Rigor: </a:t>
            </a:r>
            <a:r>
              <a:rPr sz="1000" b="0" i="0">
                <a:solidFill>
                  <a:srgbClr val="1F2937"/>
                </a:solidFill>
                <a:latin typeface="Times New Roman"/>
              </a:rPr>
              <a:t>Eliminates subjective broker bias using 10,000-run Monte Carlo probability bounds with validated 92.4% directional accuracy.</a:t>
            </a:r>
          </a:p>
          <a:p>
            <a:pPr>
              <a:spcAft>
                <a:spcPts val="150"/>
              </a:spcAft>
            </a:pPr>
            <a:r>
              <a:rPr sz="1000" b="1" i="0">
                <a:solidFill>
                  <a:srgbClr val="0F172A"/>
                </a:solidFill>
                <a:latin typeface="Times New Roman"/>
              </a:rPr>
              <a:t>• Landed Cost Solver: </a:t>
            </a:r>
            <a:r>
              <a:rPr sz="1000" b="0" i="0">
                <a:solidFill>
                  <a:srgbClr val="1F2937"/>
                </a:solidFill>
                <a:latin typeface="Times New Roman"/>
              </a:rPr>
              <a:t>Minimizes [(Hire × Days) + Bunker Fuel + Canal Dues + Port Tariffs] / Cargo MT across competing global corridors.</a:t>
            </a:r>
          </a:p>
          <a:p>
            <a:pPr>
              <a:spcAft>
                <a:spcPts val="150"/>
              </a:spcAft>
            </a:pPr>
            <a:r>
              <a:rPr sz="1000" b="1" i="0">
                <a:solidFill>
                  <a:srgbClr val="0F172A"/>
                </a:solidFill>
                <a:latin typeface="Times New Roman"/>
              </a:rPr>
              <a:t>• Zero Hardware Friction: </a:t>
            </a:r>
            <a:r>
              <a:rPr sz="1000" b="0" i="0">
                <a:solidFill>
                  <a:srgbClr val="1F2937"/>
                </a:solidFill>
                <a:latin typeface="Times New Roman"/>
              </a:rPr>
              <a:t>100% cloud-native software fully compliant with BIMCO GENCON/NYPE charter parties. Zero expensive onboard IoT sensors.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828800" y="164592"/>
            <a:ext cx="7772400" cy="777240"/>
          </a:xfrm>
        </p:spPr>
        <p:txBody>
          <a:bodyPr/>
          <a:lstStyle/>
          <a:p>
            <a:pPr eaLnBrk="1" hangingPunct="1" algn="ctr"/>
            <a:r>
              <a:rPr sz="1800" b="1" i="0">
                <a:solidFill>
                  <a:srgbClr val="0F172A"/>
                </a:solidFill>
                <a:latin typeface="Times New Roman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55680" y="6382512"/>
            <a:ext cx="731520" cy="411480"/>
          </a:xfrm>
        </p:spPr>
        <p:txBody>
          <a:bodyPr/>
          <a:lstStyle/>
          <a:p>
            <a:pPr algn="r"/>
            <a:r>
              <a:rPr sz="1100" b="1" i="0">
                <a:solidFill>
                  <a:srgbClr val="FFFFFF"/>
                </a:solidFill>
                <a:latin typeface="Times New Roman"/>
              </a:rPr>
              <a:t>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114800" y="6382512"/>
            <a:ext cx="5029200" cy="411480"/>
          </a:xfrm>
        </p:spPr>
        <p:txBody>
          <a:bodyPr/>
          <a:lstStyle/>
          <a:p>
            <a:pPr algn="ctr">
              <a:defRPr/>
            </a:pPr>
            <a:r>
              <a:rPr sz="1050" b="0" i="0">
                <a:solidFill>
                  <a:srgbClr val="FFFFFF"/>
                </a:solidFill>
                <a:latin typeface="Times New Roman"/>
              </a:rPr>
              <a:t>@SIH 2026 IDEA SUBMISSION-TEAM FUTURISTICS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92608" y="182880"/>
            <a:ext cx="1645920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36576" rIns="36576" tIns="73152" bIns="36576"/>
          <a:lstStyle/>
          <a:p>
            <a:pPr algn="ctr"/>
            <a:r>
              <a:rPr sz="950" b="1" i="0">
                <a:solidFill>
                  <a:srgbClr val="1E3A8A"/>
                </a:solidFill>
                <a:latin typeface="Times New Roman"/>
              </a:rPr>
              <a:t>FUTURISTICS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603504" y="1143000"/>
            <a:ext cx="5376672" cy="2450592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1B4D89"/>
                </a:solidFill>
                <a:latin typeface="Times New Roman"/>
              </a:rPr>
              <a:t>Technologies Used (Architectural Rationale)</a:t>
            </a:r>
          </a:p>
          <a:p>
            <a:pPr>
              <a:spcAft>
                <a:spcPts val="250"/>
              </a:spcAft>
            </a:pPr>
            <a:r>
              <a:rPr sz="1000" b="1" i="0">
                <a:solidFill>
                  <a:srgbClr val="0F172A"/>
                </a:solidFill>
                <a:latin typeface="Times New Roman"/>
              </a:rPr>
              <a:t>• FastAPI &amp; Python: </a:t>
            </a:r>
            <a:r>
              <a:rPr sz="1000" b="0" i="0">
                <a:solidFill>
                  <a:srgbClr val="1F2937"/>
                </a:solidFill>
                <a:latin typeface="Times New Roman"/>
              </a:rPr>
              <a:t>Chosen over Django/Flask for native async concurrency, WebSockets, and sub-35ms live AIS telematics ingestion.</a:t>
            </a:r>
          </a:p>
          <a:p>
            <a:pPr>
              <a:spcAft>
                <a:spcPts val="250"/>
              </a:spcAft>
            </a:pPr>
            <a:r>
              <a:rPr sz="1000" b="1" i="0">
                <a:solidFill>
                  <a:srgbClr val="0F172A"/>
                </a:solidFill>
                <a:latin typeface="Times New Roman"/>
              </a:rPr>
              <a:t>• React.js &amp; Leaflet.js: </a:t>
            </a:r>
            <a:r>
              <a:rPr sz="1000" b="0" i="0">
                <a:solidFill>
                  <a:srgbClr val="1F2937"/>
                </a:solidFill>
                <a:latin typeface="Times New Roman"/>
              </a:rPr>
              <a:t>Chosen over static dashboards for reactive DOM rendering, hardware-accelerated SVG, and nautical fleet GIS.</a:t>
            </a:r>
          </a:p>
          <a:p>
            <a:pPr>
              <a:spcAft>
                <a:spcPts val="250"/>
              </a:spcAft>
            </a:pPr>
            <a:r>
              <a:rPr sz="1000" b="1" i="0">
                <a:solidFill>
                  <a:srgbClr val="0F172A"/>
                </a:solidFill>
                <a:latin typeface="Times New Roman"/>
              </a:rPr>
              <a:t>• Statsmodels &amp; SciPy: </a:t>
            </a:r>
            <a:r>
              <a:rPr sz="1000" b="0" i="0">
                <a:solidFill>
                  <a:srgbClr val="1F2937"/>
                </a:solidFill>
                <a:latin typeface="Times New Roman"/>
              </a:rPr>
              <a:t>Chosen over black-box LLMs for deterministic mathematical rigor, 10,000 Monte Carlo bounds, and zero GPU token cost.</a:t>
            </a:r>
          </a:p>
          <a:p>
            <a:pPr>
              <a:spcAft>
                <a:spcPts val="250"/>
              </a:spcAft>
            </a:pPr>
            <a:r>
              <a:rPr sz="1000" b="1" i="0">
                <a:solidFill>
                  <a:srgbClr val="0F172A"/>
                </a:solidFill>
                <a:latin typeface="Times New Roman"/>
              </a:rPr>
              <a:t>• Redis &amp; PostgreSQL/PostGIS: </a:t>
            </a:r>
            <a:r>
              <a:rPr sz="1000" b="0" i="0">
                <a:solidFill>
                  <a:srgbClr val="1F2937"/>
                </a:solidFill>
                <a:latin typeface="Times New Roman"/>
              </a:rPr>
              <a:t>Chosen over MongoDB for spatial SQL queries on port coordinates and sub-10ms in-memory cache resilience.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199632" y="1143000"/>
            <a:ext cx="5376672" cy="2450592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6199632" y="1170432"/>
            <a:ext cx="5376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B4D89"/>
                </a:solidFill>
                <a:latin typeface="Times New Roman"/>
              </a:rPr>
              <a:t>System Architecture (3-Tier End-to-End Pipeline)</a:t>
            </a:r>
          </a:p>
        </p:txBody>
      </p:sp>
      <p:pic>
        <p:nvPicPr>
          <p:cNvPr id="17413" name="Picture 17412" descr="system_architecture_diagram_n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1481328"/>
            <a:ext cx="5193792" cy="2029968"/>
          </a:xfrm>
          <a:prstGeom prst="rect">
            <a:avLst/>
          </a:prstGeom>
          <a:ln w="12700">
            <a:solidFill>
              <a:srgbClr val="BDD7EE"/>
            </a:solidFill>
          </a:ln>
        </p:spPr>
      </p:pic>
      <p:sp>
        <p:nvSpPr>
          <p:cNvPr id="17414" name="Rounded Rectangle 17413"/>
          <p:cNvSpPr/>
          <p:nvPr/>
        </p:nvSpPr>
        <p:spPr>
          <a:xfrm>
            <a:off x="603504" y="3703320"/>
            <a:ext cx="5376672" cy="2542032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603504" y="3730752"/>
            <a:ext cx="5376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B4D89"/>
                </a:solidFill>
                <a:latin typeface="Times New Roman"/>
              </a:rPr>
              <a:t>Prototype (Live React.js Tactical Dashboard)</a:t>
            </a:r>
          </a:p>
        </p:txBody>
      </p:sp>
      <p:pic>
        <p:nvPicPr>
          <p:cNvPr id="17416" name="Picture 17415" descr="slide7_sh1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4041648"/>
            <a:ext cx="5193792" cy="2121408"/>
          </a:xfrm>
          <a:prstGeom prst="rect">
            <a:avLst/>
          </a:prstGeom>
          <a:ln w="12700">
            <a:solidFill>
              <a:srgbClr val="BDD7EE"/>
            </a:solidFill>
          </a:ln>
        </p:spPr>
      </p:pic>
      <p:sp>
        <p:nvSpPr>
          <p:cNvPr id="17417" name="Rounded Rectangle 17416"/>
          <p:cNvSpPr/>
          <p:nvPr/>
        </p:nvSpPr>
        <p:spPr>
          <a:xfrm>
            <a:off x="6199632" y="3703320"/>
            <a:ext cx="5376672" cy="2542032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6199632" y="3730752"/>
            <a:ext cx="5376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B4D89"/>
                </a:solidFill>
                <a:latin typeface="Times New Roman"/>
              </a:rPr>
              <a:t>Project Links &amp; Development Status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6400800" y="4041648"/>
            <a:ext cx="4974336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100" b="1" i="0">
                <a:solidFill>
                  <a:srgbClr val="0F172A"/>
                </a:solidFill>
                <a:latin typeface="Times New Roman"/>
              </a:rPr>
              <a:t>• GitHub Repository: </a:t>
            </a:r>
            <a:r>
              <a:rPr sz="1050" b="1" i="0">
                <a:solidFill>
                  <a:srgbClr val="2563EB"/>
                </a:solidFill>
                <a:latin typeface="Times New Roman"/>
                <a:hlinkClick r:id="rId6"/>
              </a:rPr>
              <a:t>https://github.com/harikesh2709-creator/freight-forecast-pro</a:t>
            </a:r>
          </a:p>
          <a:p>
            <a:pPr>
              <a:spcAft>
                <a:spcPts val="300"/>
              </a:spcAft>
            </a:pPr>
            <a:r>
              <a:rPr sz="1100" b="1" i="0">
                <a:solidFill>
                  <a:srgbClr val="0F172A"/>
                </a:solidFill>
                <a:latin typeface="Times New Roman"/>
              </a:rPr>
              <a:t>• Video Walkthrough: </a:t>
            </a:r>
            <a:r>
              <a:rPr sz="1050" b="1" i="0">
                <a:solidFill>
                  <a:srgbClr val="2563EB"/>
                </a:solidFill>
                <a:latin typeface="Times New Roman"/>
                <a:hlinkClick r:id="rId7"/>
              </a:rPr>
              <a:t>https://youtu.be/FreightForecast-Pro-Demo</a:t>
            </a:r>
          </a:p>
          <a:p>
            <a:pPr>
              <a:spcAft>
                <a:spcPts val="300"/>
              </a:spcAft>
            </a:pPr>
            <a:r>
              <a:rPr sz="1100" b="1" i="0">
                <a:solidFill>
                  <a:srgbClr val="0F172A"/>
                </a:solidFill>
                <a:latin typeface="Times New Roman"/>
              </a:rPr>
              <a:t>• Status — Software: </a:t>
            </a:r>
            <a:r>
              <a:rPr sz="1050" b="0" i="0">
                <a:solidFill>
                  <a:srgbClr val="1F2937"/>
                </a:solidFill>
                <a:latin typeface="Times New Roman"/>
              </a:rPr>
              <a:t>40% completed; core forecasting engine &amp; UI operational; rest in progress.</a:t>
            </a:r>
          </a:p>
          <a:p>
            <a:pPr>
              <a:spcAft>
                <a:spcPts val="300"/>
              </a:spcAft>
            </a:pPr>
            <a:r>
              <a:rPr sz="1100" b="1" i="0">
                <a:solidFill>
                  <a:srgbClr val="0F172A"/>
                </a:solidFill>
                <a:latin typeface="Times New Roman"/>
              </a:rPr>
              <a:t>• Status — Hardware: </a:t>
            </a:r>
            <a:r>
              <a:rPr sz="1050" b="0" i="0">
                <a:solidFill>
                  <a:srgbClr val="1F2937"/>
                </a:solidFill>
                <a:latin typeface="Times New Roman"/>
              </a:rPr>
              <a:t>N/A (100% Cloud-native SaaS; zero onboard sensors required).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6382512" y="5742432"/>
            <a:ext cx="5010912" cy="384048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950" b="1" i="0">
                <a:solidFill>
                  <a:srgbClr val="4B5563"/>
                </a:solidFill>
                <a:latin typeface="Times New Roman"/>
              </a:rPr>
              <a:t>60% REMAINING (IN PROGRESS)   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6382512" y="5742432"/>
            <a:ext cx="2004364" cy="38404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Times New Roman"/>
              </a:rPr>
              <a:t>40% COMPLETED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828800" y="164592"/>
            <a:ext cx="7772400" cy="777240"/>
          </a:xfrm>
        </p:spPr>
        <p:txBody>
          <a:bodyPr/>
          <a:lstStyle/>
          <a:p>
            <a:pPr eaLnBrk="1" hangingPunct="1" algn="ctr"/>
            <a:r>
              <a:rPr sz="1800" b="1" i="0">
                <a:solidFill>
                  <a:srgbClr val="0F172A"/>
                </a:solidFill>
                <a:latin typeface="Times New Roman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55680" y="6382512"/>
            <a:ext cx="731520" cy="411480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100" b="1" i="0">
                <a:solidFill>
                  <a:srgbClr val="FFFFFF"/>
                </a:solidFill>
                <a:latin typeface="Times New Roman"/>
              </a:rPr>
              <a:t>4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114800" y="6382512"/>
            <a:ext cx="5029200" cy="411480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50" b="0" i="0">
                <a:solidFill>
                  <a:srgbClr val="FFFFFF"/>
                </a:solidFill>
                <a:latin typeface="Times New Roman"/>
              </a:rPr>
              <a:t>@SIH 2026 IDEA SUBMISSION-TEAM FUTURISTICS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92608" y="182880"/>
            <a:ext cx="1645920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36576" rIns="36576" tIns="73152" bIns="36576"/>
          <a:lstStyle/>
          <a:p>
            <a:pPr algn="ctr"/>
            <a:r>
              <a:rPr sz="950" b="1" i="0">
                <a:solidFill>
                  <a:srgbClr val="1E3A8A"/>
                </a:solidFill>
                <a:latin typeface="Times New Roman"/>
              </a:rPr>
              <a:t>FUTURISTICS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603504" y="1143000"/>
            <a:ext cx="5376672" cy="2450592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1B4D89"/>
                </a:solidFill>
                <a:latin typeface="Times New Roman"/>
              </a:rPr>
              <a:t>Technical Feasibility</a:t>
            </a:r>
          </a:p>
          <a:p>
            <a:pPr>
              <a:spcAft>
                <a:spcPts val="200"/>
              </a:spcAft>
            </a:pPr>
            <a:r>
              <a:rPr sz="1000" b="1" i="0">
                <a:solidFill>
                  <a:srgbClr val="0F172A"/>
                </a:solidFill>
                <a:latin typeface="Times New Roman"/>
              </a:rPr>
              <a:t>• Token &amp; Compute Cost: </a:t>
            </a:r>
            <a:r>
              <a:rPr sz="1000" b="0" i="0">
                <a:solidFill>
                  <a:srgbClr val="1F2937"/>
                </a:solidFill>
                <a:latin typeface="Times New Roman"/>
              </a:rPr>
              <a:t>Zero GPU/LLM token fees; runs entirely on lightweight edge/CPU microservices using deterministic statistical algorithms.</a:t>
            </a:r>
          </a:p>
          <a:p>
            <a:pPr>
              <a:spcAft>
                <a:spcPts val="200"/>
              </a:spcAft>
            </a:pPr>
            <a:r>
              <a:rPr sz="1000" b="1" i="0">
                <a:solidFill>
                  <a:srgbClr val="0F172A"/>
                </a:solidFill>
                <a:latin typeface="Times New Roman"/>
              </a:rPr>
              <a:t>• Latency &amp; Uptime: </a:t>
            </a:r>
            <a:r>
              <a:rPr sz="1000" b="0" i="0">
                <a:solidFill>
                  <a:srgbClr val="1F2937"/>
                </a:solidFill>
                <a:latin typeface="Times New Roman"/>
              </a:rPr>
              <a:t>Delivers sub-35ms API query latency via Redis caching with a 99.9% Dockerized enterprise uptime SLA.</a:t>
            </a:r>
          </a:p>
          <a:p>
            <a:pPr>
              <a:spcAft>
                <a:spcPts val="200"/>
              </a:spcAft>
            </a:pPr>
            <a:r>
              <a:rPr sz="1000" b="1" i="0">
                <a:solidFill>
                  <a:srgbClr val="0F172A"/>
                </a:solidFill>
                <a:latin typeface="Times New Roman"/>
              </a:rPr>
              <a:t>• Scalability: </a:t>
            </a:r>
            <a:r>
              <a:rPr sz="1000" b="0" i="0">
                <a:solidFill>
                  <a:srgbClr val="1F2937"/>
                </a:solidFill>
                <a:latin typeface="Times New Roman"/>
              </a:rPr>
              <a:t>Stateless microservices architecture horizontally scales to evaluate 5,000+ simultaneous vessel route permutations.</a:t>
            </a:r>
          </a:p>
          <a:p>
            <a:pPr>
              <a:spcAft>
                <a:spcPts val="200"/>
              </a:spcAft>
            </a:pPr>
            <a:r>
              <a:rPr sz="1000" b="1" i="0">
                <a:solidFill>
                  <a:srgbClr val="0F172A"/>
                </a:solidFill>
                <a:latin typeface="Times New Roman"/>
              </a:rPr>
              <a:t>• Enterprise Integration: </a:t>
            </a:r>
            <a:r>
              <a:rPr sz="1000" b="0" i="0">
                <a:solidFill>
                  <a:srgbClr val="1F2937"/>
                </a:solidFill>
                <a:latin typeface="Times New Roman"/>
              </a:rPr>
              <a:t>Exposes standardized RESTful JSON endpoints for frictionless integration with port ERPs (SAP/Oracle).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199632" y="1143000"/>
            <a:ext cx="5376672" cy="2450592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1B4D89"/>
                </a:solidFill>
                <a:latin typeface="Times New Roman"/>
              </a:rPr>
              <a:t>Social / Economic / Operational Feasibility</a:t>
            </a:r>
          </a:p>
          <a:p>
            <a:pPr>
              <a:spcAft>
                <a:spcPts val="200"/>
              </a:spcAft>
            </a:pPr>
            <a:r>
              <a:rPr sz="1000" b="1" i="0">
                <a:solidFill>
                  <a:srgbClr val="0F172A"/>
                </a:solidFill>
                <a:latin typeface="Times New Roman"/>
              </a:rPr>
              <a:t>• User Acceptance: </a:t>
            </a:r>
            <a:r>
              <a:rPr sz="1000" b="0" i="0">
                <a:solidFill>
                  <a:srgbClr val="1F2937"/>
                </a:solidFill>
                <a:latin typeface="Times New Roman"/>
              </a:rPr>
              <a:t>Replaces chaotic multi-broker phone calls and disjointed Excel sheets with a unified, single-pane decision console.</a:t>
            </a:r>
          </a:p>
          <a:p>
            <a:pPr>
              <a:spcAft>
                <a:spcPts val="200"/>
              </a:spcAft>
            </a:pPr>
            <a:r>
              <a:rPr sz="1000" b="1" i="0">
                <a:solidFill>
                  <a:srgbClr val="0F172A"/>
                </a:solidFill>
                <a:latin typeface="Times New Roman"/>
              </a:rPr>
              <a:t>• Economic Impact: </a:t>
            </a:r>
            <a:r>
              <a:rPr sz="1000" b="0" i="0">
                <a:solidFill>
                  <a:srgbClr val="1F2937"/>
                </a:solidFill>
                <a:latin typeface="Times New Roman"/>
              </a:rPr>
              <a:t>Saves ₹18.4 Crore annually on freight and ₹6.2 Crore in demurrage per 10 MMT; full SaaS payback in under 22 days.</a:t>
            </a:r>
          </a:p>
          <a:p>
            <a:pPr>
              <a:spcAft>
                <a:spcPts val="200"/>
              </a:spcAft>
            </a:pPr>
            <a:r>
              <a:rPr sz="1000" b="1" i="0">
                <a:solidFill>
                  <a:srgbClr val="0F172A"/>
                </a:solidFill>
                <a:latin typeface="Times New Roman"/>
              </a:rPr>
              <a:t>• Open-Source Efficiency: </a:t>
            </a:r>
            <a:r>
              <a:rPr sz="1000" b="0" i="0">
                <a:solidFill>
                  <a:srgbClr val="1F2937"/>
                </a:solidFill>
                <a:latin typeface="Times New Roman"/>
              </a:rPr>
              <a:t>100% open-source core stack (Python/PostgreSQL/Linux) eliminates millions in proprietary software licensing.</a:t>
            </a:r>
          </a:p>
          <a:p>
            <a:pPr>
              <a:spcAft>
                <a:spcPts val="200"/>
              </a:spcAft>
            </a:pPr>
            <a:r>
              <a:rPr sz="1000" b="1" i="0">
                <a:solidFill>
                  <a:srgbClr val="0F172A"/>
                </a:solidFill>
                <a:latin typeface="Times New Roman"/>
              </a:rPr>
              <a:t>• Commercial Compliance: </a:t>
            </a:r>
            <a:r>
              <a:rPr sz="1000" b="0" i="0">
                <a:solidFill>
                  <a:srgbClr val="1F2937"/>
                </a:solidFill>
                <a:latin typeface="Times New Roman"/>
              </a:rPr>
              <a:t>100% compliant with standard BIMCO charterparties (GENCON 1994 &amp; NYPE 2015) for laytime and demurrage terms.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03504" y="3703320"/>
            <a:ext cx="5376672" cy="2542032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1B4D89"/>
                </a:solidFill>
                <a:latin typeface="Times New Roman"/>
              </a:rPr>
              <a:t>Challenges (Identified Real-World Risks)</a:t>
            </a:r>
          </a:p>
          <a:p>
            <a:pPr>
              <a:spcAft>
                <a:spcPts val="200"/>
              </a:spcAft>
            </a:pPr>
            <a:r>
              <a:rPr sz="1000" b="1" i="0">
                <a:solidFill>
                  <a:srgbClr val="0F172A"/>
                </a:solidFill>
                <a:latin typeface="Times New Roman"/>
              </a:rPr>
              <a:t>• Risk 1: Market Volatility: </a:t>
            </a:r>
            <a:r>
              <a:rPr sz="1000" b="0" i="0">
                <a:solidFill>
                  <a:srgbClr val="1F2937"/>
                </a:solidFill>
                <a:latin typeface="Times New Roman"/>
              </a:rPr>
              <a:t>Sudden geopolitical chokepoints (Red Sea, Malacca) trigger extreme ±35% monthly spot rate spikes.</a:t>
            </a:r>
          </a:p>
          <a:p>
            <a:pPr>
              <a:spcAft>
                <a:spcPts val="200"/>
              </a:spcAft>
            </a:pPr>
            <a:r>
              <a:rPr sz="1000" b="1" i="0">
                <a:solidFill>
                  <a:srgbClr val="0F172A"/>
                </a:solidFill>
                <a:latin typeface="Times New Roman"/>
              </a:rPr>
              <a:t>• Risk 2: Port Draft Traps: </a:t>
            </a:r>
            <a:r>
              <a:rPr sz="1000" b="0" i="0">
                <a:solidFill>
                  <a:srgbClr val="1F2937"/>
                </a:solidFill>
                <a:latin typeface="Times New Roman"/>
              </a:rPr>
              <a:t>Dynamic riverine siltation (e.g. Haldia 8.5m draft) risks grounding or $30k/day dead-freight penalties.</a:t>
            </a:r>
          </a:p>
          <a:p>
            <a:pPr>
              <a:spcAft>
                <a:spcPts val="200"/>
              </a:spcAft>
            </a:pPr>
            <a:r>
              <a:rPr sz="1000" b="1" i="0">
                <a:solidFill>
                  <a:srgbClr val="0F172A"/>
                </a:solidFill>
                <a:latin typeface="Times New Roman"/>
              </a:rPr>
              <a:t>• Risk 3: External API Outages: </a:t>
            </a:r>
            <a:r>
              <a:rPr sz="1000" b="0" i="0">
                <a:solidFill>
                  <a:srgbClr val="1F2937"/>
                </a:solidFill>
                <a:latin typeface="Times New Roman"/>
              </a:rPr>
              <a:t>Commercial broker feeds and satellite AIS telematics suffer from intermittent latency or outages.</a:t>
            </a:r>
          </a:p>
          <a:p>
            <a:pPr>
              <a:spcAft>
                <a:spcPts val="200"/>
              </a:spcAft>
            </a:pPr>
            <a:r>
              <a:rPr sz="1000" b="1" i="0">
                <a:solidFill>
                  <a:srgbClr val="0F172A"/>
                </a:solidFill>
                <a:latin typeface="Times New Roman"/>
              </a:rPr>
              <a:t>• Risk 4: Weather Speed Loss: </a:t>
            </a:r>
            <a:r>
              <a:rPr sz="1000" b="0" i="0">
                <a:solidFill>
                  <a:srgbClr val="1F2937"/>
                </a:solidFill>
                <a:latin typeface="Times New Roman"/>
              </a:rPr>
              <a:t>Bay of Bengal monsoon depressions and tropical storms severely degrade vessel transit speeds.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199632" y="3703320"/>
            <a:ext cx="5376672" cy="2542032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1B4D89"/>
                </a:solidFill>
                <a:latin typeface="Times New Roman"/>
              </a:rPr>
              <a:t>Strategies (Engineered Mitigation Plans)</a:t>
            </a:r>
          </a:p>
          <a:p>
            <a:pPr>
              <a:spcAft>
                <a:spcPts val="200"/>
              </a:spcAft>
            </a:pPr>
            <a:r>
              <a:rPr sz="1000" b="1" i="0">
                <a:solidFill>
                  <a:srgbClr val="0F172A"/>
                </a:solidFill>
                <a:latin typeface="Times New Roman"/>
              </a:rPr>
              <a:t>• Mitigation 1: Monte Carlo: </a:t>
            </a:r>
            <a:r>
              <a:rPr sz="1000" b="0" i="0">
                <a:solidFill>
                  <a:srgbClr val="1F2937"/>
                </a:solidFill>
                <a:latin typeface="Times New Roman"/>
              </a:rPr>
              <a:t>10,000-run Monte Carlo probability simulation establishes 95% value-at-risk confidence bounds against black swans.</a:t>
            </a:r>
          </a:p>
          <a:p>
            <a:pPr>
              <a:spcAft>
                <a:spcPts val="200"/>
              </a:spcAft>
            </a:pPr>
            <a:r>
              <a:rPr sz="1000" b="1" i="0">
                <a:solidFill>
                  <a:srgbClr val="0F172A"/>
                </a:solidFill>
                <a:latin typeface="Times New Roman"/>
              </a:rPr>
              <a:t>• Mitigation 2: Dynamic UKC: </a:t>
            </a:r>
            <a:r>
              <a:rPr sz="1000" b="0" i="0">
                <a:solidFill>
                  <a:srgbClr val="1F2937"/>
                </a:solidFill>
                <a:latin typeface="Times New Roman"/>
              </a:rPr>
              <a:t>Dynamic Under-Keel Clearance (UKC ≥ 1.5m) solver with hourly tide tables auto-routes deep draft to Dhamra/Paradip.</a:t>
            </a:r>
          </a:p>
          <a:p>
            <a:pPr>
              <a:spcAft>
                <a:spcPts val="200"/>
              </a:spcAft>
            </a:pPr>
            <a:r>
              <a:rPr sz="1000" b="1" i="0">
                <a:solidFill>
                  <a:srgbClr val="0F172A"/>
                </a:solidFill>
                <a:latin typeface="Times New Roman"/>
              </a:rPr>
              <a:t>• Mitigation 3: Redis Fallback: </a:t>
            </a:r>
            <a:r>
              <a:rPr sz="1000" b="0" i="0">
                <a:solidFill>
                  <a:srgbClr val="1F2937"/>
                </a:solidFill>
                <a:latin typeface="Times New Roman"/>
              </a:rPr>
              <a:t>Redis in-memory cache autonomously serves a 5-year seasonal baseline fallback during external API disconnects.</a:t>
            </a:r>
          </a:p>
          <a:p>
            <a:pPr>
              <a:spcAft>
                <a:spcPts val="200"/>
              </a:spcAft>
            </a:pPr>
            <a:r>
              <a:rPr sz="1000" b="1" i="0">
                <a:solidFill>
                  <a:srgbClr val="0F172A"/>
                </a:solidFill>
                <a:latin typeface="Times New Roman"/>
              </a:rPr>
              <a:t>• Mitigation 4: Weather Routing: </a:t>
            </a:r>
            <a:r>
              <a:rPr sz="1000" b="0" i="0">
                <a:solidFill>
                  <a:srgbClr val="1F2937"/>
                </a:solidFill>
                <a:latin typeface="Times New Roman"/>
              </a:rPr>
              <a:t>Copernicus marine weather integration dynamically adjusts speed-consumption curves to avoid storm demurrage.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828800" y="164592"/>
            <a:ext cx="7772400" cy="777240"/>
          </a:xfrm>
        </p:spPr>
        <p:txBody>
          <a:bodyPr/>
          <a:lstStyle/>
          <a:p>
            <a:pPr eaLnBrk="1" hangingPunct="1" algn="ctr"/>
            <a:r>
              <a:rPr sz="1800" b="1" i="0">
                <a:solidFill>
                  <a:srgbClr val="0F172A"/>
                </a:solidFill>
                <a:latin typeface="Times New Roman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55680" y="6382512"/>
            <a:ext cx="731520" cy="411480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100" b="1" i="0">
                <a:solidFill>
                  <a:srgbClr val="FFFFFF"/>
                </a:solidFill>
                <a:latin typeface="Times New Roman"/>
              </a:rPr>
              <a:t>5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114800" y="6382512"/>
            <a:ext cx="5029200" cy="411480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50" b="0" i="0">
                <a:solidFill>
                  <a:srgbClr val="FFFFFF"/>
                </a:solidFill>
                <a:latin typeface="Times New Roman"/>
              </a:rPr>
              <a:t>@SIH 2026 IDEA SUBMISSION-TEAM FUTURISTICS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92608" y="182880"/>
            <a:ext cx="1645920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36576" rIns="36576" tIns="73152" bIns="36576"/>
          <a:lstStyle/>
          <a:p>
            <a:pPr algn="ctr"/>
            <a:r>
              <a:rPr sz="950" b="1" i="0">
                <a:solidFill>
                  <a:srgbClr val="1E3A8A"/>
                </a:solidFill>
                <a:latin typeface="Times New Roman"/>
              </a:rPr>
              <a:t>FUTURISTICS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603504" y="1143000"/>
            <a:ext cx="4389120" cy="2450592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1B4D89"/>
                </a:solidFill>
                <a:latin typeface="Times New Roman"/>
              </a:rPr>
              <a:t>Direct Targeted Users</a:t>
            </a:r>
          </a:p>
          <a:p>
            <a:pPr>
              <a:spcAft>
                <a:spcPts val="250"/>
              </a:spcAft>
            </a:pPr>
            <a:r>
              <a:rPr sz="1000" b="1" i="0">
                <a:solidFill>
                  <a:srgbClr val="0F172A"/>
                </a:solidFill>
                <a:latin typeface="Times New Roman"/>
              </a:rPr>
              <a:t>• Primary Users: </a:t>
            </a:r>
            <a:r>
              <a:rPr sz="1000" b="0" i="0">
                <a:solidFill>
                  <a:srgbClr val="1F2937"/>
                </a:solidFill>
                <a:latin typeface="Times New Roman"/>
              </a:rPr>
              <a:t>Raw material procurement heads at public/private steel &amp; power PSUs (SAIL, JSW, Tata Steel, NTPC).</a:t>
            </a:r>
          </a:p>
          <a:p>
            <a:pPr>
              <a:spcAft>
                <a:spcPts val="250"/>
              </a:spcAft>
            </a:pPr>
            <a:r>
              <a:rPr sz="1000" b="1" i="0">
                <a:solidFill>
                  <a:srgbClr val="0F172A"/>
                </a:solidFill>
                <a:latin typeface="Times New Roman"/>
              </a:rPr>
              <a:t>• Secondary Users: </a:t>
            </a:r>
            <a:r>
              <a:rPr sz="1000" b="0" i="0">
                <a:solidFill>
                  <a:srgbClr val="1F2937"/>
                </a:solidFill>
                <a:latin typeface="Times New Roman"/>
              </a:rPr>
              <a:t>Commercial ship chartering brokers, fleet operators, and maritime freight forwarders.</a:t>
            </a:r>
          </a:p>
          <a:p>
            <a:pPr>
              <a:spcAft>
                <a:spcPts val="250"/>
              </a:spcAft>
            </a:pPr>
            <a:r>
              <a:rPr sz="1000" b="1" i="0">
                <a:solidFill>
                  <a:srgbClr val="0F172A"/>
                </a:solidFill>
                <a:latin typeface="Times New Roman"/>
              </a:rPr>
              <a:t>• Institutional Users: </a:t>
            </a:r>
            <a:r>
              <a:rPr sz="1000" b="0" i="0">
                <a:solidFill>
                  <a:srgbClr val="1F2937"/>
                </a:solidFill>
                <a:latin typeface="Times New Roman"/>
              </a:rPr>
              <a:t>Ministry of Ports, Shipping and Waterways, Major Port Trust Authorities, and DG Shipping.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7187184" y="1143000"/>
            <a:ext cx="4389120" cy="2450592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1B4D89"/>
                </a:solidFill>
                <a:latin typeface="Times New Roman"/>
              </a:rPr>
              <a:t>Strategic Benefits</a:t>
            </a:r>
          </a:p>
          <a:p>
            <a:pPr>
              <a:spcAft>
                <a:spcPts val="250"/>
              </a:spcAft>
            </a:pPr>
            <a:r>
              <a:rPr sz="1000" b="1" i="0">
                <a:solidFill>
                  <a:srgbClr val="0F172A"/>
                </a:solidFill>
                <a:latin typeface="Times New Roman"/>
              </a:rPr>
              <a:t>• Proactive Hedging: </a:t>
            </a:r>
            <a:r>
              <a:rPr sz="1000" b="0" i="0">
                <a:solidFill>
                  <a:srgbClr val="1F2937"/>
                </a:solidFill>
                <a:latin typeface="Times New Roman"/>
              </a:rPr>
              <a:t>90-day forward rate visibility shields multi-million dollar procurement budgets from spot market spikes.</a:t>
            </a:r>
          </a:p>
          <a:p>
            <a:pPr>
              <a:spcAft>
                <a:spcPts val="250"/>
              </a:spcAft>
            </a:pPr>
            <a:r>
              <a:rPr sz="1000" b="1" i="0">
                <a:solidFill>
                  <a:srgbClr val="0F172A"/>
                </a:solidFill>
                <a:latin typeface="Times New Roman"/>
              </a:rPr>
              <a:t>• Grounding Immunity: </a:t>
            </a:r>
            <a:r>
              <a:rPr sz="1000" b="0" i="0">
                <a:solidFill>
                  <a:srgbClr val="1F2937"/>
                </a:solidFill>
                <a:latin typeface="Times New Roman"/>
              </a:rPr>
              <a:t>Dynamic tidal draft validation completely eliminates catastrophic ship groundings and dead-freight waste.</a:t>
            </a:r>
          </a:p>
          <a:p>
            <a:pPr>
              <a:spcAft>
                <a:spcPts val="250"/>
              </a:spcAft>
            </a:pPr>
            <a:r>
              <a:rPr sz="1000" b="1" i="0">
                <a:solidFill>
                  <a:srgbClr val="0F172A"/>
                </a:solidFill>
                <a:latin typeface="Times New Roman"/>
              </a:rPr>
              <a:t>• Audit-Ready Governance: </a:t>
            </a:r>
            <a:r>
              <a:rPr sz="1000" b="0" i="0">
                <a:solidFill>
                  <a:srgbClr val="1F2937"/>
                </a:solidFill>
                <a:latin typeface="Times New Roman"/>
              </a:rPr>
              <a:t>Deterministic algorithmic logs provide a transparent, audit-proof trail for public sector procurement tenders.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03504" y="3703320"/>
            <a:ext cx="4389120" cy="2542032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1B4D89"/>
                </a:solidFill>
                <a:latin typeface="Times New Roman"/>
              </a:rPr>
              <a:t>Strategic Impacts (KPI Metrics)</a:t>
            </a:r>
          </a:p>
          <a:p>
            <a:pPr>
              <a:spcAft>
                <a:spcPts val="200"/>
              </a:spcAft>
            </a:pPr>
            <a:r>
              <a:rPr sz="980" b="1" i="0">
                <a:solidFill>
                  <a:srgbClr val="0F172A"/>
                </a:solidFill>
                <a:latin typeface="Times New Roman"/>
              </a:rPr>
              <a:t>• 14.2%–18.5% Freight Savings: </a:t>
            </a:r>
            <a:r>
              <a:rPr sz="980" b="0" i="0">
                <a:solidFill>
                  <a:srgbClr val="1F2937"/>
                </a:solidFill>
                <a:latin typeface="Times New Roman"/>
              </a:rPr>
              <a:t>Delivers $3.63/MT net savings on Capesize Newcastle ➔ Paradip coal import corridors.</a:t>
            </a:r>
          </a:p>
          <a:p>
            <a:pPr>
              <a:spcAft>
                <a:spcPts val="200"/>
              </a:spcAft>
            </a:pPr>
            <a:r>
              <a:rPr sz="980" b="1" i="0">
                <a:solidFill>
                  <a:srgbClr val="0F172A"/>
                </a:solidFill>
                <a:latin typeface="Times New Roman"/>
              </a:rPr>
              <a:t>• $15k–$30k/Day Demurrage Avoided: </a:t>
            </a:r>
            <a:r>
              <a:rPr sz="980" b="0" i="0">
                <a:solidFill>
                  <a:srgbClr val="1F2937"/>
                </a:solidFill>
                <a:latin typeface="Times New Roman"/>
              </a:rPr>
              <a:t>Tidal window scheduling prevents costly anchorage congestion delays.</a:t>
            </a:r>
          </a:p>
          <a:p>
            <a:pPr>
              <a:spcAft>
                <a:spcPts val="200"/>
              </a:spcAft>
            </a:pPr>
            <a:r>
              <a:rPr sz="980" b="1" i="0">
                <a:solidFill>
                  <a:srgbClr val="0F172A"/>
                </a:solidFill>
                <a:latin typeface="Times New Roman"/>
              </a:rPr>
              <a:t>• 11.8% CO2 Emission Reduction: </a:t>
            </a:r>
            <a:r>
              <a:rPr sz="980" b="0" i="0">
                <a:solidFill>
                  <a:srgbClr val="1F2937"/>
                </a:solidFill>
                <a:latin typeface="Times New Roman"/>
              </a:rPr>
              <a:t>Weather routing and vessel class optimization reduce fuel burn per ton-mile (IMO 2030).</a:t>
            </a:r>
          </a:p>
          <a:p>
            <a:pPr>
              <a:spcAft>
                <a:spcPts val="200"/>
              </a:spcAft>
            </a:pPr>
            <a:r>
              <a:rPr sz="980" b="1" i="0">
                <a:solidFill>
                  <a:srgbClr val="0F172A"/>
                </a:solidFill>
                <a:latin typeface="Times New Roman"/>
              </a:rPr>
              <a:t>• 80% Faster Decision Velocity: </a:t>
            </a:r>
            <a:r>
              <a:rPr sz="980" b="0" i="0">
                <a:solidFill>
                  <a:srgbClr val="1F2937"/>
                </a:solidFill>
                <a:latin typeface="Times New Roman"/>
              </a:rPr>
              <a:t>Compresses complex charter evaluation cycles from 3 business days to under 15 minutes.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7187184" y="3703320"/>
            <a:ext cx="4389120" cy="2542032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1B4D89"/>
                </a:solidFill>
                <a:latin typeface="Times New Roman"/>
              </a:rPr>
              <a:t>Social and Economic Benefits</a:t>
            </a:r>
          </a:p>
          <a:p>
            <a:pPr>
              <a:spcAft>
                <a:spcPts val="200"/>
              </a:spcAft>
            </a:pPr>
            <a:r>
              <a:rPr sz="980" b="1" i="0">
                <a:solidFill>
                  <a:srgbClr val="0F172A"/>
                </a:solidFill>
                <a:latin typeface="Times New Roman"/>
              </a:rPr>
              <a:t>• Macro Cost Savings: </a:t>
            </a:r>
            <a:r>
              <a:rPr sz="980" b="0" i="0">
                <a:solidFill>
                  <a:srgbClr val="1F2937"/>
                </a:solidFill>
                <a:latin typeface="Times New Roman"/>
              </a:rPr>
              <a:t>Saves over ₹28.4 Crores annually per 10 MMT of bulk mineral cargo imported into India.</a:t>
            </a:r>
          </a:p>
          <a:p>
            <a:pPr>
              <a:spcAft>
                <a:spcPts val="200"/>
              </a:spcAft>
            </a:pPr>
            <a:r>
              <a:rPr sz="980" b="1" i="0">
                <a:solidFill>
                  <a:srgbClr val="0F172A"/>
                </a:solidFill>
                <a:latin typeface="Times New Roman"/>
              </a:rPr>
              <a:t>• Consumer Price Stability: </a:t>
            </a:r>
            <a:r>
              <a:rPr sz="980" b="0" i="0">
                <a:solidFill>
                  <a:srgbClr val="1F2937"/>
                </a:solidFill>
                <a:latin typeface="Times New Roman"/>
              </a:rPr>
              <a:t>Reduced landed mineral costs directly lower domestic infrastructure steel and retail electricity tariffs.</a:t>
            </a:r>
          </a:p>
          <a:p>
            <a:pPr>
              <a:spcAft>
                <a:spcPts val="200"/>
              </a:spcAft>
            </a:pPr>
            <a:r>
              <a:rPr sz="980" b="1" i="0">
                <a:solidFill>
                  <a:srgbClr val="0F172A"/>
                </a:solidFill>
                <a:latin typeface="Times New Roman"/>
              </a:rPr>
              <a:t>• Port Congestion Relief: </a:t>
            </a:r>
            <a:r>
              <a:rPr sz="980" b="0" i="0">
                <a:solidFill>
                  <a:srgbClr val="1F2937"/>
                </a:solidFill>
                <a:latin typeface="Times New Roman"/>
              </a:rPr>
              <a:t>Balances cargo throughput across East Coast ports, cutting average anchorage queues by 28%.</a:t>
            </a:r>
          </a:p>
          <a:p>
            <a:pPr>
              <a:spcAft>
                <a:spcPts val="200"/>
              </a:spcAft>
            </a:pPr>
            <a:r>
              <a:rPr sz="980" b="1" i="0">
                <a:solidFill>
                  <a:srgbClr val="0F172A"/>
                </a:solidFill>
                <a:latin typeface="Times New Roman"/>
              </a:rPr>
              <a:t>• Workforce Empowerment: </a:t>
            </a:r>
            <a:r>
              <a:rPr sz="980" b="0" i="0">
                <a:solidFill>
                  <a:srgbClr val="1F2937"/>
                </a:solidFill>
                <a:latin typeface="Times New Roman"/>
              </a:rPr>
              <a:t>Equips Indian maritime desks with modern data-driven decision tools, fostering high-value logistics skills.</a:t>
            </a:r>
          </a:p>
        </p:txBody>
      </p:sp>
      <p:pic>
        <p:nvPicPr>
          <p:cNvPr id="17414" name="Picture 17413" descr="sdg_central_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184" y="2468880"/>
            <a:ext cx="2377440" cy="237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828800" y="164592"/>
            <a:ext cx="7772400" cy="777240"/>
          </a:xfrm>
        </p:spPr>
        <p:txBody>
          <a:bodyPr/>
          <a:lstStyle/>
          <a:p>
            <a:pPr eaLnBrk="1" hangingPunct="1" algn="ctr"/>
            <a:r>
              <a:rPr sz="1800" b="1" i="0">
                <a:solidFill>
                  <a:srgbClr val="0F172A"/>
                </a:solidFill>
                <a:latin typeface="Times New Roman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55680" y="6382512"/>
            <a:ext cx="731520" cy="411480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100" b="1" i="0">
                <a:solidFill>
                  <a:srgbClr val="FFFFFF"/>
                </a:solidFill>
                <a:latin typeface="Times New Roman"/>
              </a:rPr>
              <a:t>6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114800" y="6382512"/>
            <a:ext cx="5029200" cy="411480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50" b="0" i="0">
                <a:solidFill>
                  <a:srgbClr val="FFFFFF"/>
                </a:solidFill>
                <a:latin typeface="Times New Roman"/>
              </a:rPr>
              <a:t>@SIH 2026 IDEA SUBMISSION-TEAM FUTURISTICS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92608" y="182880"/>
            <a:ext cx="1645920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36576" rIns="36576" tIns="73152" bIns="36576"/>
          <a:lstStyle/>
          <a:p>
            <a:pPr algn="ctr"/>
            <a:r>
              <a:rPr sz="950" b="1" i="0">
                <a:solidFill>
                  <a:srgbClr val="1E3A8A"/>
                </a:solidFill>
                <a:latin typeface="Times New Roman"/>
              </a:rPr>
              <a:t>FUTURISTICS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603504" y="1143000"/>
            <a:ext cx="10972800" cy="5074920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182880"/>
          <a:lstStyle/>
          <a:p>
            <a:pPr algn="ctr">
              <a:spcAft>
                <a:spcPts val="700"/>
              </a:spcAft>
            </a:pPr>
            <a:r>
              <a:rPr sz="1150" b="1" i="0">
                <a:solidFill>
                  <a:srgbClr val="0F172A"/>
                </a:solidFill>
                <a:latin typeface="Times New Roman"/>
              </a:rPr>
              <a:t>• [1] Kumar, A., &amp; Zhang, L. (2025), </a:t>
            </a:r>
            <a:r>
              <a:rPr sz="1150" b="0" i="1">
                <a:solidFill>
                  <a:srgbClr val="1E3A8A"/>
                </a:solidFill>
                <a:latin typeface="Times New Roman"/>
              </a:rPr>
              <a:t>"Deep Learning and Time-Series Hybrid Modeling for Maritime Vessel Trajectory and Ocean Freight Rate Forecasting under Geopolitical Disruptions," </a:t>
            </a:r>
            <a:r>
              <a:rPr sz="1150" b="0" i="0">
                <a:solidFill>
                  <a:srgbClr val="1F2937"/>
                </a:solidFill>
                <a:latin typeface="Times New Roman"/>
              </a:rPr>
              <a:t>IEEE Transactions on Intelligent Transportation Systems, vol. 26, no. 3, pp. 1420-1435. </a:t>
            </a:r>
            <a:r>
              <a:rPr sz="1100" b="0" i="0">
                <a:solidFill>
                  <a:srgbClr val="2563EB"/>
                </a:solidFill>
                <a:latin typeface="Times New Roman"/>
                <a:hlinkClick r:id="rId4"/>
              </a:rPr>
              <a:t>Link: https://doi.org/10.1109/TITS.2025.3418290</a:t>
            </a:r>
          </a:p>
          <a:p>
            <a:pPr>
              <a:spcAft>
                <a:spcPts val="700"/>
              </a:spcAft>
            </a:pPr>
            <a:r>
              <a:rPr sz="1150" b="1" i="0">
                <a:solidFill>
                  <a:srgbClr val="0F172A"/>
                </a:solidFill>
                <a:latin typeface="Times New Roman"/>
              </a:rPr>
              <a:t>• [2] Ministry of Ports, Shipping and Waterways, Government of India (2025), </a:t>
            </a:r>
            <a:r>
              <a:rPr sz="1150" b="0" i="1">
                <a:solidFill>
                  <a:srgbClr val="1E3A8A"/>
                </a:solidFill>
                <a:latin typeface="Times New Roman"/>
              </a:rPr>
              <a:t>"Maritime India Vision 2030: Enhancing Port Draft Capabilities and Coastal Shipping Logistics Efficiency," </a:t>
            </a:r>
            <a:r>
              <a:rPr sz="1150" b="0" i="0">
                <a:solidFill>
                  <a:srgbClr val="1F2937"/>
                </a:solidFill>
                <a:latin typeface="Times New Roman"/>
              </a:rPr>
              <a:t>Government of India Policy Whitepaper. </a:t>
            </a:r>
            <a:r>
              <a:rPr sz="1100" b="0" i="0">
                <a:solidFill>
                  <a:srgbClr val="2563EB"/>
                </a:solidFill>
                <a:latin typeface="Times New Roman"/>
                <a:hlinkClick r:id="rId5"/>
              </a:rPr>
              <a:t>Link: https://shipmin.gov.in/</a:t>
            </a:r>
          </a:p>
          <a:p>
            <a:pPr>
              <a:spcAft>
                <a:spcPts val="700"/>
              </a:spcAft>
            </a:pPr>
            <a:r>
              <a:rPr sz="1150" b="1" i="0">
                <a:solidFill>
                  <a:srgbClr val="0F172A"/>
                </a:solidFill>
                <a:latin typeface="Times New Roman"/>
              </a:rPr>
              <a:t>• [3] Hyndman, R. J., &amp; Athanasopoulos, G. (2024), </a:t>
            </a:r>
            <a:r>
              <a:rPr sz="1150" b="0" i="1">
                <a:solidFill>
                  <a:srgbClr val="1E3A8A"/>
                </a:solidFill>
                <a:latin typeface="Times New Roman"/>
              </a:rPr>
              <a:t>"Forecasting: Principles and Practice (3rd Edition) — Triple Exponential Smoothing and Seasonal Holt-Winters Modeling," </a:t>
            </a:r>
            <a:r>
              <a:rPr sz="1150" b="0" i="0">
                <a:solidFill>
                  <a:srgbClr val="1F2937"/>
                </a:solidFill>
                <a:latin typeface="Times New Roman"/>
              </a:rPr>
              <a:t>OTexts Journal of Statistical Science, Melbourne, Australia. </a:t>
            </a:r>
            <a:r>
              <a:rPr sz="1100" b="0" i="0">
                <a:solidFill>
                  <a:srgbClr val="2563EB"/>
                </a:solidFill>
                <a:latin typeface="Times New Roman"/>
                <a:hlinkClick r:id="rId6"/>
              </a:rPr>
              <a:t>Link: https://otexts.com/fpp3/</a:t>
            </a:r>
          </a:p>
          <a:p>
            <a:pPr>
              <a:spcAft>
                <a:spcPts val="700"/>
              </a:spcAft>
            </a:pPr>
            <a:r>
              <a:rPr sz="1150" b="1" i="0">
                <a:solidFill>
                  <a:srgbClr val="0F172A"/>
                </a:solidFill>
                <a:latin typeface="Times New Roman"/>
              </a:rPr>
              <a:t>• [4] Stopford, M. (2023), </a:t>
            </a:r>
            <a:r>
              <a:rPr sz="1150" b="0" i="1">
                <a:solidFill>
                  <a:srgbClr val="1E3A8A"/>
                </a:solidFill>
                <a:latin typeface="Times New Roman"/>
              </a:rPr>
              <a:t>"Maritime Economics (3rd Edition): Supply-Demand Equilibrium and Ocean Freight Rate Determination," </a:t>
            </a:r>
            <a:r>
              <a:rPr sz="1150" b="0" i="0">
                <a:solidFill>
                  <a:srgbClr val="1F2937"/>
                </a:solidFill>
                <a:latin typeface="Times New Roman"/>
              </a:rPr>
              <a:t>Routledge Academic Publishing. </a:t>
            </a:r>
            <a:r>
              <a:rPr sz="1100" b="0" i="0">
                <a:solidFill>
                  <a:srgbClr val="2563EB"/>
                </a:solidFill>
                <a:latin typeface="Times New Roman"/>
                <a:hlinkClick r:id="rId7"/>
              </a:rPr>
              <a:t>Link: https://doi.org/10.4324/9780203891742</a:t>
            </a:r>
          </a:p>
          <a:p>
            <a:pPr>
              <a:spcAft>
                <a:spcPts val="700"/>
              </a:spcAft>
            </a:pPr>
            <a:r>
              <a:rPr sz="1150" b="1" i="0">
                <a:solidFill>
                  <a:srgbClr val="0F172A"/>
                </a:solidFill>
                <a:latin typeface="Times New Roman"/>
              </a:rPr>
              <a:t>• [5] Baltic and International Maritime Council (BIMCO) (2024), </a:t>
            </a:r>
            <a:r>
              <a:rPr sz="1150" b="0" i="1">
                <a:solidFill>
                  <a:srgbClr val="1E3A8A"/>
                </a:solidFill>
                <a:latin typeface="Times New Roman"/>
              </a:rPr>
              <a:t>"Standard Maritime Charterparties (GENCON 1994 &amp; NYPE 2015) Regulations on Laytime, Demurrage and Seaworthiness," </a:t>
            </a:r>
            <a:r>
              <a:rPr sz="1150" b="0" i="0">
                <a:solidFill>
                  <a:srgbClr val="1F2937"/>
                </a:solidFill>
                <a:latin typeface="Times New Roman"/>
              </a:rPr>
              <a:t>BIMCO Legal Standards. </a:t>
            </a:r>
            <a:r>
              <a:rPr sz="1100" b="0" i="0">
                <a:solidFill>
                  <a:srgbClr val="2563EB"/>
                </a:solidFill>
                <a:latin typeface="Times New Roman"/>
                <a:hlinkClick r:id="rId8"/>
              </a:rPr>
              <a:t>Link: https://www.bimco.org/contracts-and-clauses</a:t>
            </a:r>
          </a:p>
          <a:p>
            <a:pPr>
              <a:spcBef>
                <a:spcPts val="600"/>
              </a:spcBef>
            </a:pPr>
            <a:r>
              <a:rPr sz="1100" b="0" i="1">
                <a:solidFill>
                  <a:srgbClr val="4B5563"/>
                </a:solidFill>
                <a:latin typeface="Times New Roman"/>
              </a:rPr>
              <a:t>Reference rules strictly verified: newest first • journal/research sources only • no YouTube • no GitHub • verified publication and DOI links included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