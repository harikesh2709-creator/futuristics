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6/2/2026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6/2/2026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6/2/2026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6/2/2026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6/2/2026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6/2/2026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image" Target="../media/image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xmlns="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731520" y="365760"/>
            <a:ext cx="2148840" cy="621792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300"/>
              </a:spcBef>
            </a:pPr>
            <a:r>
              <a:rPr b="1" sz="1250">
                <a:solidFill>
                  <a:srgbClr val="FFFFFF"/>
                </a:solidFill>
                <a:latin typeface="Arial"/>
              </a:rPr>
              <a:t>FUTURISTICS</a:t>
            </a:r>
          </a:p>
          <a:p>
            <a:pPr algn="ctr"/>
            <a:r>
              <a:rPr b="1" sz="750">
                <a:solidFill>
                  <a:srgbClr val="10B981"/>
                </a:solidFill>
                <a:latin typeface="Arial"/>
              </a:rPr>
              <a:t>TEAM ID: SIH-2026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063240" y="384048"/>
            <a:ext cx="6583680" cy="5943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b="1" sz="3000">
                <a:solidFill>
                  <a:srgbClr val="1C3A8C"/>
                </a:solidFill>
                <a:latin typeface="Arial"/>
              </a:rPr>
              <a:t>SMART INDIA HACKATHON 2026</a:t>
            </a:r>
          </a:p>
        </p:txBody>
      </p:sp>
      <p:sp>
        <p:nvSpPr>
          <p:cNvPr id="40" name="CustomTitleBox"/>
          <p:cNvSpPr txBox="1"/>
          <p:nvPr/>
        </p:nvSpPr>
        <p:spPr>
          <a:xfrm>
            <a:off x="731520" y="1691640"/>
            <a:ext cx="6217920" cy="4572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800"/>
              </a:spcBef>
              <a:spcAft>
                <a:spcPts val="1000"/>
              </a:spcAft>
            </a:pPr>
            <a:r>
              <a:rPr b="1" sz="1700">
                <a:solidFill>
                  <a:srgbClr val="0F1E41"/>
                </a:solidFill>
                <a:latin typeface="Arial"/>
              </a:rPr>
              <a:t>•  Problem Statement ID  –  </a:t>
            </a:r>
            <a:r>
              <a:rPr b="1" sz="1700">
                <a:solidFill>
                  <a:srgbClr val="1C3A8C"/>
                </a:solidFill>
                <a:latin typeface="Arial"/>
              </a:rPr>
              <a:t>SIH2026-LOG-01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b="1" sz="1700">
                <a:solidFill>
                  <a:srgbClr val="0F1E41"/>
                </a:solidFill>
                <a:latin typeface="Arial"/>
              </a:rPr>
              <a:t>•  Problem Statement Title  –  </a:t>
            </a:r>
            <a:r>
              <a:rPr b="0" sz="1700">
                <a:solidFill>
                  <a:srgbClr val="0F172A"/>
                </a:solidFill>
                <a:latin typeface="Arial"/>
              </a:rPr>
              <a:t>FreightForecast Pro : AI Freight Forecasting &amp; Vessel Chartering Optimizer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b="1" sz="1700">
                <a:solidFill>
                  <a:srgbClr val="0F1E41"/>
                </a:solidFill>
                <a:latin typeface="Arial"/>
              </a:rPr>
              <a:t>•  Theme  –  </a:t>
            </a:r>
            <a:r>
              <a:rPr b="0" sz="1700">
                <a:solidFill>
                  <a:srgbClr val="0F172A"/>
                </a:solidFill>
                <a:latin typeface="Arial"/>
              </a:rPr>
              <a:t>Smart Logistics / Maritime &amp; Port Supply Chain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b="1" sz="1700">
                <a:solidFill>
                  <a:srgbClr val="0F1E41"/>
                </a:solidFill>
                <a:latin typeface="Arial"/>
              </a:rPr>
              <a:t>•  PS Category  –  </a:t>
            </a:r>
            <a:r>
              <a:rPr b="0" sz="170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b="1" sz="1700">
                <a:solidFill>
                  <a:srgbClr val="0F1E41"/>
                </a:solidFill>
                <a:latin typeface="Arial"/>
              </a:rPr>
              <a:t>•  Team ID  –  </a:t>
            </a:r>
            <a:r>
              <a:rPr b="0" sz="1700">
                <a:solidFill>
                  <a:srgbClr val="0F172A"/>
                </a:solidFill>
                <a:latin typeface="Arial"/>
              </a:rPr>
              <a:t>[SIH-2026-XXXX]</a:t>
            </a:r>
          </a:p>
          <a:p>
            <a:pPr>
              <a:spcBef>
                <a:spcPts val="800"/>
              </a:spcBef>
              <a:spcAft>
                <a:spcPts val="1000"/>
              </a:spcAft>
            </a:pPr>
            <a:r>
              <a:rPr b="1" sz="1700">
                <a:solidFill>
                  <a:srgbClr val="0F1E41"/>
                </a:solidFill>
                <a:latin typeface="Arial"/>
              </a:rPr>
              <a:t>•  Team Name  –  </a:t>
            </a:r>
            <a:r>
              <a:rPr b="1" sz="1700">
                <a:solidFill>
                  <a:srgbClr val="166534"/>
                </a:solidFill>
                <a:latin typeface="Arial"/>
              </a:rPr>
              <a:t>FUTURISTICS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300"/>
              </a:spcBef>
            </a:pPr>
            <a:r>
              <a:rPr b="1" sz="1200">
                <a:solidFill>
                  <a:srgbClr val="FFFFFF"/>
                </a:solidFill>
                <a:latin typeface="Arial"/>
              </a:rPr>
              <a:t>FUTURISTICS</a:t>
            </a:r>
          </a:p>
          <a:p>
            <a:pPr algn="ctr"/>
            <a:r>
              <a:rPr b="1" sz="750">
                <a:solidFill>
                  <a:srgbClr val="10B981"/>
                </a:solidFill>
                <a:latin typeface="Arial"/>
              </a:rPr>
              <a:t>TEAM ID: SIH-2026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46304"/>
            <a:ext cx="6949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50">
                <a:solidFill>
                  <a:srgbClr val="1C3A8C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29184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50">
                <a:solidFill>
                  <a:srgbClr val="0F1E41"/>
                </a:solidFill>
                <a:latin typeface="Arial"/>
              </a:rPr>
              <a:t>FreightForecast Pro: Predictive Chartering &amp; Route Optimizer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932688"/>
            <a:ext cx="4206240" cy="565099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932688"/>
            <a:ext cx="4206240" cy="347472"/>
          </a:xfrm>
          <a:prstGeom prst="round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CORE INTELLIGENCE HUB &amp; DECISION PIPELINE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819656" y="1325880"/>
            <a:ext cx="1298448" cy="548640"/>
          </a:xfrm>
          <a:prstGeom prst="roundRect">
            <a:avLst/>
          </a:prstGeom>
          <a:solidFill>
            <a:srgbClr val="2563EB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Global Feeds
(BDI, Fuel, AIS)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2148840"/>
            <a:ext cx="1243584" cy="548640"/>
          </a:xfrm>
          <a:prstGeom prst="roundRect">
            <a:avLst/>
          </a:prstGeom>
          <a:solidFill>
            <a:srgbClr val="166534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Holt-Winters
90-Day AI Forecast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819656" y="2971800"/>
            <a:ext cx="1298448" cy="548640"/>
          </a:xfrm>
          <a:prstGeom prst="roundRect">
            <a:avLst/>
          </a:prstGeom>
          <a:solidFill>
            <a:srgbClr val="D97706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$/MT Landed
Cost Solver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85216" y="2148840"/>
            <a:ext cx="1243584" cy="548640"/>
          </a:xfrm>
          <a:prstGeom prst="roundRect">
            <a:avLst/>
          </a:prstGeom>
          <a:solidFill>
            <a:srgbClr val="0D9488"/>
          </a:solidFill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Port Draft &amp;
Berth Validation</a:t>
            </a:r>
          </a:p>
        </p:txBody>
      </p:sp>
      <p:sp>
        <p:nvSpPr>
          <p:cNvPr id="21" name="Oval 20"/>
          <p:cNvSpPr/>
          <p:nvPr/>
        </p:nvSpPr>
        <p:spPr>
          <a:xfrm>
            <a:off x="2011680" y="1965960"/>
            <a:ext cx="914400" cy="914400"/>
          </a:xfrm>
          <a:prstGeom prst="ellipse">
            <a:avLst/>
          </a:prstGeom>
          <a:solidFill>
            <a:srgbClr val="0F1E41"/>
          </a:solidFill>
          <a:ln w="3175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750">
                <a:solidFill>
                  <a:srgbClr val="FFFFFF"/>
                </a:solidFill>
              </a:rPr>
              <a:t>VOYAGE
SOLVER
ENGINE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" y="3611880"/>
            <a:ext cx="40233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950">
                <a:solidFill>
                  <a:srgbClr val="1C3A8C"/>
                </a:solidFill>
              </a:rPr>
              <a:t>END-TO-END WORKFLOW PIPELINE: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3886200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F1E41"/>
                </a:solidFill>
              </a:rPr>
              <a:t>✔  1. Ingest Baltic Indices (BDI/BCI/BPI/BSI)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288536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F1E41"/>
                </a:solidFill>
              </a:rPr>
              <a:t>✔  2. Stream Satellite AIS Telematics &amp; Speed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4690872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F1E41"/>
                </a:solidFill>
              </a:rPr>
              <a:t>✔  3. 90-Day Seasonal Holt-Winters Forecast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5093208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F1E41"/>
                </a:solidFill>
              </a:rPr>
              <a:t>✔  4. Astronomical Tidal Draft &amp; Berth Clearance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495544"/>
            <a:ext cx="4023360" cy="32918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0F1E41"/>
                </a:solidFill>
              </a:rPr>
              <a:t>✔  5. Optimize Landed $/MT &amp; Issue Contract Advisory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989320"/>
            <a:ext cx="4023360" cy="457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2563EB"/>
                </a:solidFill>
              </a:rPr>
              <a:t>LIVE FEEDS: </a:t>
            </a:r>
            <a:r>
              <a:rPr b="1" sz="850">
                <a:solidFill>
                  <a:srgbClr val="166534"/>
                </a:solidFill>
              </a:rPr>
              <a:t>BDI 1,918 (+0.5%)  •  Cape $25.5K/d  •  VLSFO $610/MT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4754880" y="932688"/>
            <a:ext cx="704088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FEATURE MATRIX: LEGACY BUYING vs. FREIGHTFORECAST PRO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754880" y="1298448"/>
            <a:ext cx="704088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846320" y="1353312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1C3A8C"/>
                </a:solidFill>
              </a:rPr>
              <a:t>Core Dimension            </a:t>
            </a:r>
            <a:r>
              <a:rPr b="1" sz="850">
                <a:solidFill>
                  <a:srgbClr val="1C3A8C"/>
                </a:solidFill>
              </a:rPr>
              <a:t>  |  Legacy Spot Buying Desks              </a:t>
            </a:r>
            <a:r>
              <a:rPr b="1" sz="850">
                <a:solidFill>
                  <a:srgbClr val="1C3A8C"/>
                </a:solidFill>
              </a:rPr>
              <a:t>  |  FreightForecast Pro AI Engine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800600" y="1728216"/>
            <a:ext cx="69494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846320" y="1746504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Freight Volatility Exposure</a:t>
            </a:r>
            <a:r>
              <a:rPr b="0" sz="850">
                <a:solidFill>
                  <a:srgbClr val="DC2626"/>
                </a:solidFill>
              </a:rPr>
              <a:t>  |  ❌ Unhedged spot swings (±35% variance)</a:t>
            </a:r>
            <a:r>
              <a:rPr b="1" sz="850">
                <a:solidFill>
                  <a:srgbClr val="166534"/>
                </a:solidFill>
              </a:rPr>
              <a:t>  |  ✔ Predictive 90-day Holt-Winters hedging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2139696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Demurrage Risk Management </a:t>
            </a:r>
            <a:r>
              <a:rPr b="0" sz="850">
                <a:solidFill>
                  <a:srgbClr val="DC2626"/>
                </a:solidFill>
              </a:rPr>
              <a:t>  |  ❌ Reactive $15K–$30K/day anchorage bleed</a:t>
            </a:r>
            <a:r>
              <a:rPr b="1" sz="850">
                <a:solidFill>
                  <a:srgbClr val="166534"/>
                </a:solidFill>
              </a:rPr>
              <a:t>  |  ✔ Live AIS congestion &amp; idle-vessel alerts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800600" y="2514600"/>
            <a:ext cx="6949440" cy="3657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846320" y="2532888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Riverine Berth Draft Clearance</a:t>
            </a:r>
            <a:r>
              <a:rPr b="0" sz="850">
                <a:solidFill>
                  <a:srgbClr val="DC2626"/>
                </a:solidFill>
              </a:rPr>
              <a:t>  |  ❌ Manual estimates; grounding / dead-freight</a:t>
            </a:r>
            <a:r>
              <a:rPr b="1" sz="850">
                <a:solidFill>
                  <a:srgbClr val="166534"/>
                </a:solidFill>
              </a:rPr>
              <a:t>  |  ✔ Dynamic astronomical tidal tables &amp; UKC 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846320" y="2926080"/>
            <a:ext cx="6858000" cy="3474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850">
                <a:solidFill>
                  <a:srgbClr val="0F172A"/>
                </a:solidFill>
              </a:rPr>
              <a:t>Procurement Optimization  </a:t>
            </a:r>
            <a:r>
              <a:rPr b="0" sz="850">
                <a:solidFill>
                  <a:srgbClr val="DC2626"/>
                </a:solidFill>
              </a:rPr>
              <a:t>  |  ❌ Disjointed static spreadsheets &amp; hearsay</a:t>
            </a:r>
            <a:r>
              <a:rPr b="1" sz="850">
                <a:solidFill>
                  <a:srgbClr val="166534"/>
                </a:solidFill>
              </a:rPr>
              <a:t>  |  ✔ Automated $/MT total landed cost solver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754880" y="3474720"/>
            <a:ext cx="7040880" cy="329184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OUR 4-PILLAR NOVEL PREDICTIVE SOLUTION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4754880" y="3877056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828032" y="3922776"/>
            <a:ext cx="3282696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[92.4% ACC] </a:t>
            </a:r>
            <a:r>
              <a:rPr b="1" sz="950">
                <a:solidFill>
                  <a:srgbClr val="0F172A"/>
                </a:solidFill>
                <a:latin typeface="Arial"/>
              </a:rPr>
              <a:t>90-Day Predictive AI Engine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Triple Exponential Smoothing (α=0.28, β=0.05, γ=0.62) forecasts seasonal freight rates with 92.4% directional accuracy.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366760" y="3877056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439912" y="3922776"/>
            <a:ext cx="3282696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[100% COMPLIANT] </a:t>
            </a:r>
            <a:r>
              <a:rPr b="1" sz="950">
                <a:solidFill>
                  <a:srgbClr val="0F172A"/>
                </a:solidFill>
                <a:latin typeface="Arial"/>
              </a:rPr>
              <a:t>Automated Berth &amp; Draft Engine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Validates physical vessel LOA (≤229m), beam (≤32.2m) &amp; dynamic astronomical tides (+2.4m UKC) for 100% compliance.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754880" y="4974336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828032" y="5020056"/>
            <a:ext cx="3282696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[$/MT SOLVER] </a:t>
            </a:r>
            <a:r>
              <a:rPr b="1" sz="950">
                <a:solidFill>
                  <a:srgbClr val="0F172A"/>
                </a:solidFill>
                <a:latin typeface="Arial"/>
              </a:rPr>
              <a:t>Landed Cost $/MT Solver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Minimizes [(Hire×Days) + Bunker + Canal + Dues] / MT across routes: Newcastle➔Paradip ($19.61) vs Hay Point ($23.24).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366760" y="4974336"/>
            <a:ext cx="3429000" cy="10241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39912" y="5020056"/>
            <a:ext cx="3282696" cy="9326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[STRATEGIC COA] </a:t>
            </a:r>
            <a:r>
              <a:rPr b="1" sz="950">
                <a:solidFill>
                  <a:srgbClr val="0F172A"/>
                </a:solidFill>
                <a:latin typeface="Arial"/>
              </a:rPr>
              <a:t>Contract Timing Advisory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Evaluates forward volatility bounds to trigger optimal Spot vs. COA fixture timing before seasonal rate surges.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754880" y="617220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2563EB"/>
                </a:solidFill>
              </a:rPr>
              <a:t>🌐 Live Web App (PWA Ready)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6537960" y="617220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2563EB"/>
                </a:solidFill>
              </a:rPr>
              <a:t>🗺️ AIS Fleet Telematics Stream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321040" y="617220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2563EB"/>
                </a:solidFill>
              </a:rPr>
              <a:t>⚡ FastAPI REST Core (&lt;35ms)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104120" y="6172200"/>
            <a:ext cx="1691640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00">
                <a:solidFill>
                  <a:srgbClr val="2563EB"/>
                </a:solidFill>
              </a:rPr>
              <a:t>📊 Multi-Corridor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300"/>
              </a:spcBef>
            </a:pPr>
            <a:r>
              <a:rPr b="1" sz="1200">
                <a:solidFill>
                  <a:srgbClr val="FFFFFF"/>
                </a:solidFill>
                <a:latin typeface="Arial"/>
              </a:rPr>
              <a:t>FUTURISTICS</a:t>
            </a:r>
          </a:p>
          <a:p>
            <a:pPr algn="ctr"/>
            <a:r>
              <a:rPr b="1" sz="750">
                <a:solidFill>
                  <a:srgbClr val="10B981"/>
                </a:solidFill>
                <a:latin typeface="Arial"/>
              </a:rPr>
              <a:t>TEAM ID: SIH-2026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46304"/>
            <a:ext cx="6949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50">
                <a:solidFill>
                  <a:srgbClr val="1C3A8C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29184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50">
                <a:solidFill>
                  <a:srgbClr val="0F1E41"/>
                </a:solidFill>
                <a:latin typeface="Arial"/>
              </a:rPr>
              <a:t>TECHNICAL APPROACH &amp; SYSTEM ARCHITECTURE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932688"/>
            <a:ext cx="11430000" cy="329184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</a:rPr>
              <a:t>4-ZONE ENTERPRISE MARITIME ARCHITECTURE (END-TO-END FLOW)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12984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1298448"/>
            <a:ext cx="2761488" cy="292608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ZONE 1: Telemetry &amp; Ingestion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0624" y="162763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0F172A"/>
                </a:solidFill>
              </a:rPr>
              <a:t>Baltic Exchange BDI/BCI/BPI/BSI feeds, Satellite AIS vessel tracking, Major Port circulars.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55264" y="12984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255264" y="1298448"/>
            <a:ext cx="2761488" cy="292608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ZONE 2: Presentation Layer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10128" y="162763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0F172A"/>
                </a:solidFill>
              </a:rPr>
              <a:t>React 19 / Next.js SPA, Chart.js multi-horizon curves, Leaflet.js interactive GIS map.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44768" y="12984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6144768" y="1298448"/>
            <a:ext cx="2761488" cy="292608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ZONE 3: High-Speed Core API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99632" y="162763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0F172A"/>
                </a:solidFill>
              </a:rPr>
              <a:t>Python FastAPI asynchronous framework, Uvicorn ASGI, Redis In-Memory sub-35ms Cache.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34272" y="1298448"/>
            <a:ext cx="2761488" cy="11155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034272" y="1298448"/>
            <a:ext cx="2761488" cy="292608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FFFFFF"/>
                </a:solidFill>
              </a:rPr>
              <a:t>ZONE 4: AI &amp; Math Engine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89136" y="1627632"/>
            <a:ext cx="26517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>
                <a:solidFill>
                  <a:srgbClr val="0F172A"/>
                </a:solidFill>
              </a:rPr>
              <a:t>Statsmodels Holt-Winters, 10,000 Monte Carlo runs, Landed $/MT solver, UKC tidal check.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65760" y="2505456"/>
            <a:ext cx="5349240" cy="40782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65760" y="2505456"/>
            <a:ext cx="534924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IMPLEMENTATION PROCESS &amp; PIPELINE STAGES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2889504"/>
            <a:ext cx="516636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32" name="Rounded Rectangle 31"/>
          <p:cNvSpPr/>
          <p:nvPr/>
        </p:nvSpPr>
        <p:spPr>
          <a:xfrm>
            <a:off x="502920" y="2944368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6072" y="2990088"/>
            <a:ext cx="492861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2563EB"/>
                </a:solidFill>
                <a:latin typeface="Arial"/>
              </a:rPr>
              <a:t>[STAGE 1] </a:t>
            </a:r>
            <a:r>
              <a:rPr b="1" sz="950">
                <a:solidFill>
                  <a:srgbClr val="0F172A"/>
                </a:solidFill>
                <a:latin typeface="Arial"/>
              </a:rPr>
              <a:t>Data Harmonization &amp; ETL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Aggregates 1,825 daily Baltic records with live Port Trust draft circulars into schema-validated PostgreSQL tables.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" y="3895344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6072" y="3941064"/>
            <a:ext cx="492861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0D9488"/>
                </a:solidFill>
                <a:latin typeface="Arial"/>
              </a:rPr>
              <a:t>[STAGE 2] </a:t>
            </a:r>
            <a:r>
              <a:rPr b="1" sz="950">
                <a:solidFill>
                  <a:srgbClr val="0F172A"/>
                </a:solidFill>
                <a:latin typeface="Arial"/>
              </a:rPr>
              <a:t>Triple Seasonal Decomposition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Holt-Winters isolates monsoon &amp; commodity cycles: Level ℓ(t), Trend b(t), Seasonal s(t) with MAPE 1.7%.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4846320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6072" y="4892040"/>
            <a:ext cx="492861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[STAGE 3] </a:t>
            </a:r>
            <a:r>
              <a:rPr b="1" sz="950">
                <a:solidFill>
                  <a:srgbClr val="0F172A"/>
                </a:solidFill>
                <a:latin typeface="Arial"/>
              </a:rPr>
              <a:t>Physical Berth Draught Safety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Validates dynamic Under-Keel Clearance: UKC = (Charted Depth + Astronomical Tide) - Arrival Draft ≥ 1.5m.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02920" y="5797296"/>
            <a:ext cx="5074920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6072" y="5843016"/>
            <a:ext cx="4928616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D97706"/>
                </a:solidFill>
                <a:latin typeface="Arial"/>
              </a:rPr>
              <a:t>[STAGE 4] </a:t>
            </a:r>
            <a:r>
              <a:rPr b="1" sz="950">
                <a:solidFill>
                  <a:srgbClr val="0F172A"/>
                </a:solidFill>
                <a:latin typeface="Arial"/>
              </a:rPr>
              <a:t>Decision Advisory &amp; Contract Hedging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Mixed Integer Solver ranks $/MT landed cost across corridors; recommends optimal Spot vs COA forward fixtures.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897880" y="2505456"/>
            <a:ext cx="5897880" cy="40782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897880" y="2505456"/>
            <a:ext cx="589788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MATHEMATICAL FORMULATION &amp; LIVE PROTOTYPE ENGINE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89320" y="2889504"/>
            <a:ext cx="571500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43" name="Rounded Rectangle 42"/>
          <p:cNvSpPr/>
          <p:nvPr/>
        </p:nvSpPr>
        <p:spPr>
          <a:xfrm>
            <a:off x="6035040" y="2926080"/>
            <a:ext cx="5623560" cy="512064"/>
          </a:xfrm>
          <a:prstGeom prst="roundRect">
            <a:avLst/>
          </a:prstGeom>
          <a:solidFill>
            <a:srgbClr val="F1F5F9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850">
                <a:solidFill>
                  <a:srgbClr val="2563EB"/>
                </a:solidFill>
              </a:rPr>
              <a:t>Holt-Winters: Y(t+h) = [ℓ(t) + h·b(t)] × s(t+h-m)  |  Min $/MT = [(Hire×Days)+Fuel+Dues] ÷ Cargo MT</a:t>
            </a:r>
          </a:p>
        </p:txBody>
      </p:sp>
      <p:pic>
        <p:nvPicPr>
          <p:cNvPr id="44" name="Picture 43" descr="vessel_optimizer_result_1788176551445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35040" y="3520440"/>
            <a:ext cx="2761488" cy="2560320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6035040" y="6126480"/>
            <a:ext cx="2761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66534"/>
                </a:solidFill>
              </a:rPr>
              <a:t>Live Multi-Route Draught Matrix</a:t>
            </a:r>
          </a:p>
        </p:txBody>
      </p:sp>
      <p:pic>
        <p:nvPicPr>
          <p:cNvPr id="46" name="Picture 45" descr="route_analysis_results_178817941634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87968" y="3520440"/>
            <a:ext cx="2761488" cy="25603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8887968" y="6126480"/>
            <a:ext cx="2761488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</a:rPr>
              <a:t>Suez vs Cape Canal Optimizer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300"/>
              </a:spcBef>
            </a:pPr>
            <a:r>
              <a:rPr b="1" sz="1200">
                <a:solidFill>
                  <a:srgbClr val="FFFFFF"/>
                </a:solidFill>
                <a:latin typeface="Arial"/>
              </a:rPr>
              <a:t>FUTURISTICS</a:t>
            </a:r>
          </a:p>
          <a:p>
            <a:pPr algn="ctr"/>
            <a:r>
              <a:rPr b="1" sz="750">
                <a:solidFill>
                  <a:srgbClr val="10B981"/>
                </a:solidFill>
                <a:latin typeface="Arial"/>
              </a:rPr>
              <a:t>TEAM ID: SIH-2026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46304"/>
            <a:ext cx="6949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50">
                <a:solidFill>
                  <a:srgbClr val="1C3A8C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29184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50">
                <a:solidFill>
                  <a:srgbClr val="0F1E41"/>
                </a:solidFill>
                <a:latin typeface="Arial"/>
              </a:rPr>
              <a:t>FEASIBILITY, RISK ANALYSIS &amp; MITIGATION MATRIX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932688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932688"/>
            <a:ext cx="3657600" cy="310896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TECHNICAL FEASIBILITY  [SUB-35ms]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1298448"/>
            <a:ext cx="347472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Sub-35ms query latency powered by Redis in-memory caching.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100% cloud-native SaaS architecture; zero on-vessel sensors required.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Python FastAPI async backend with OpenAPI 3.0 specs &amp; JWT security.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High-availability Docker deployment with 99.9% uptime SLA.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206240" y="932688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206240" y="932688"/>
            <a:ext cx="3657600" cy="310896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OPERATIONAL FEASIBILITY  [100% BIMCO]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97680" y="1298448"/>
            <a:ext cx="347472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100% compliant with BIMCO GENCON 1994 &amp; NYPE 2015 charter contracts.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Integrates official Port Trust circulars from Paradip, Haldia &amp; Vizag.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Zero operational disruption; integrates directly into SAP/Oracle ERP.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Graceful offline fallback uses 5-year seasonal baselines during outages.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046720" y="932688"/>
            <a:ext cx="3657600" cy="20116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8046720" y="932688"/>
            <a:ext cx="3657600" cy="310896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ECONOMIC VIABILITY  [₹28.4 Cr ROI]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298448"/>
            <a:ext cx="3474720" cy="1572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Saves ₹18.4 Cr annually on 10 MT imported coal (14.2% freight cut).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Eliminates ₹6.2 Cr in demurrage penalties ($22,500/day avoided bleed).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Saves ₹3.8 Cr through VLSFO bunker and speed route optimization.</a:t>
            </a:r>
          </a:p>
          <a:p>
            <a:pPr>
              <a:spcBef>
                <a:spcPts val="200"/>
              </a:spcBef>
              <a:spcAft>
                <a:spcPts val="200"/>
              </a:spcAft>
            </a:pPr>
            <a:r>
              <a:rPr sz="850">
                <a:solidFill>
                  <a:srgbClr val="0F172A"/>
                </a:solidFill>
              </a:rPr>
              <a:t>•  Complete SaaS setup and licensing pays back in under 22 days.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65760" y="3035808"/>
            <a:ext cx="6858000" cy="310896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OPERATIONAL RISKS  ──►  ENGINEERED MITIGATION STRATEGIES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401568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3447288"/>
            <a:ext cx="2916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DC2626"/>
                </a:solidFill>
                <a:latin typeface="Arial"/>
              </a:rPr>
              <a:t>[RISK] </a:t>
            </a:r>
            <a:r>
              <a:rPr b="1" sz="950">
                <a:solidFill>
                  <a:srgbClr val="0F172A"/>
                </a:solidFill>
                <a:latin typeface="Arial"/>
              </a:rPr>
              <a:t>01. Red Sea Chokepoint Disruption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Sudden Houthi strikes cause Cape diversions.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3493008" y="3566160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005072" y="3401568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078224" y="3447288"/>
            <a:ext cx="30723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[SOLVED BY] </a:t>
            </a:r>
            <a:r>
              <a:rPr b="1" sz="950">
                <a:solidFill>
                  <a:srgbClr val="0F172A"/>
                </a:solidFill>
                <a:latin typeface="Arial"/>
              </a:rPr>
              <a:t>01. Monte Carlo Bounds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10,000 runs insulate against black swans.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65760" y="4169664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38912" y="4215384"/>
            <a:ext cx="2916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DC2626"/>
                </a:solidFill>
                <a:latin typeface="Arial"/>
              </a:rPr>
              <a:t>[RISK] </a:t>
            </a:r>
            <a:r>
              <a:rPr b="1" sz="950">
                <a:solidFill>
                  <a:srgbClr val="0F172A"/>
                </a:solidFill>
                <a:latin typeface="Arial"/>
              </a:rPr>
              <a:t>02. Riverine Siltation (Haldia)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Shifting sandbars risk ship groundings.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493008" y="4334256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005072" y="4169664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078224" y="4215384"/>
            <a:ext cx="30723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[SOLVED BY] </a:t>
            </a:r>
            <a:r>
              <a:rPr b="1" sz="950">
                <a:solidFill>
                  <a:srgbClr val="0F172A"/>
                </a:solidFill>
                <a:latin typeface="Arial"/>
              </a:rPr>
              <a:t>02. Astronomical Tide Models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Hourly tide tables ensure zero grounding.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4937760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38912" y="4983480"/>
            <a:ext cx="2916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DC2626"/>
                </a:solidFill>
                <a:latin typeface="Arial"/>
              </a:rPr>
              <a:t>[RISK] </a:t>
            </a:r>
            <a:r>
              <a:rPr b="1" sz="950">
                <a:solidFill>
                  <a:srgbClr val="0F172A"/>
                </a:solidFill>
                <a:latin typeface="Arial"/>
              </a:rPr>
              <a:t>03. Broker Feed Outage Latency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Lag in international broker quotes.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3493008" y="5102352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4005072" y="4937760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078224" y="4983480"/>
            <a:ext cx="30723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[SOLVED BY] </a:t>
            </a:r>
            <a:r>
              <a:rPr b="1" sz="950">
                <a:solidFill>
                  <a:srgbClr val="0F172A"/>
                </a:solidFill>
                <a:latin typeface="Arial"/>
              </a:rPr>
              <a:t>03. Redis In-Memory Cache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Fallback to 5-yr seasonal baseline.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" y="5705856"/>
            <a:ext cx="3063240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38912" y="5751576"/>
            <a:ext cx="2916936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DC2626"/>
                </a:solidFill>
                <a:latin typeface="Arial"/>
              </a:rPr>
              <a:t>[RISK] </a:t>
            </a:r>
            <a:r>
              <a:rPr b="1" sz="950">
                <a:solidFill>
                  <a:srgbClr val="0F172A"/>
                </a:solidFill>
                <a:latin typeface="Arial"/>
              </a:rPr>
              <a:t>04. Bay of Bengal Cyclones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Monsoon storms degrade vessel ETA.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3493008" y="5870448"/>
            <a:ext cx="438912" cy="347472"/>
          </a:xfrm>
          <a:prstGeom prst="rightArrow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4005072" y="5705856"/>
            <a:ext cx="3218688" cy="713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078224" y="5751576"/>
            <a:ext cx="3072384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[SOLVED BY] </a:t>
            </a:r>
            <a:r>
              <a:rPr b="1" sz="950">
                <a:solidFill>
                  <a:srgbClr val="0F172A"/>
                </a:solidFill>
                <a:latin typeface="Arial"/>
              </a:rPr>
              <a:t>04. Weather Speed Curves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Copernicus ocean weather adjust speed.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7406640" y="3035808"/>
            <a:ext cx="4389120" cy="310896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LIVE RISK ALERTS &amp; CONGESTION CONSOLE</a:t>
            </a:r>
          </a:p>
        </p:txBody>
      </p:sp>
      <p:pic>
        <p:nvPicPr>
          <p:cNvPr id="46" name="Picture 45" descr="risk_alerts_page_17881775109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0" y="3401568"/>
            <a:ext cx="4389120" cy="2788920"/>
          </a:xfrm>
          <a:prstGeom prst="rect">
            <a:avLst/>
          </a:prstGeom>
        </p:spPr>
      </p:pic>
      <p:sp>
        <p:nvSpPr>
          <p:cNvPr id="47" name="TextBox 46"/>
          <p:cNvSpPr txBox="1"/>
          <p:nvPr/>
        </p:nvSpPr>
        <p:spPr>
          <a:xfrm>
            <a:off x="7406640" y="6236208"/>
            <a:ext cx="438912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i="1">
                <a:solidFill>
                  <a:srgbClr val="DC2626"/>
                </a:solidFill>
              </a:rPr>
              <a:t>Live Prototype: Real-Time Surcharge &amp; Weather Risk Detection in Action</a:t>
            </a:r>
          </a:p>
        </p:txBody>
      </p:sp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300"/>
              </a:spcBef>
            </a:pPr>
            <a:r>
              <a:rPr b="1" sz="1200">
                <a:solidFill>
                  <a:srgbClr val="FFFFFF"/>
                </a:solidFill>
                <a:latin typeface="Arial"/>
              </a:rPr>
              <a:t>FUTURISTICS</a:t>
            </a:r>
          </a:p>
          <a:p>
            <a:pPr algn="ctr"/>
            <a:r>
              <a:rPr b="1" sz="750">
                <a:solidFill>
                  <a:srgbClr val="10B981"/>
                </a:solidFill>
                <a:latin typeface="Arial"/>
              </a:rPr>
              <a:t>TEAM ID: SIH-2026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06040" y="146304"/>
            <a:ext cx="6949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50">
                <a:solidFill>
                  <a:srgbClr val="1C3A8C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329184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50">
                <a:solidFill>
                  <a:srgbClr val="0F1E41"/>
                </a:solidFill>
                <a:latin typeface="Arial"/>
              </a:rPr>
              <a:t>IMPACT, QUANTIFIABLE ROI &amp; ECOSYSTEM BENEFITS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932688"/>
            <a:ext cx="2761488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65760" y="932688"/>
            <a:ext cx="2761488" cy="54864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20624" y="1005840"/>
            <a:ext cx="265176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800">
                <a:solidFill>
                  <a:srgbClr val="2563EB"/>
                </a:solidFill>
              </a:rPr>
              <a:t>14.2% – 18.5%</a:t>
            </a:r>
          </a:p>
          <a:p>
            <a:pPr algn="ctr"/>
            <a:r>
              <a:rPr b="1" sz="1000">
                <a:solidFill>
                  <a:srgbClr val="0F172A"/>
                </a:solidFill>
              </a:rPr>
              <a:t>Net Freight Cost Reduction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Timed COA commitments vs volatile spot buying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236976" y="932688"/>
            <a:ext cx="2761488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236976" y="932688"/>
            <a:ext cx="2761488" cy="54864"/>
          </a:xfrm>
          <a:prstGeom prst="round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91840" y="1005840"/>
            <a:ext cx="265176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800">
                <a:solidFill>
                  <a:srgbClr val="DC2626"/>
                </a:solidFill>
              </a:rPr>
              <a:t>$15K – $30K / Day</a:t>
            </a:r>
          </a:p>
          <a:p>
            <a:pPr algn="ctr"/>
            <a:r>
              <a:rPr b="1" sz="1000">
                <a:solidFill>
                  <a:srgbClr val="0F172A"/>
                </a:solidFill>
              </a:rPr>
              <a:t>Demurrage Penalties Saved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Proactive congestion alerts &amp; idle-vessel mitigation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08192" y="932688"/>
            <a:ext cx="2761488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08192" y="932688"/>
            <a:ext cx="2761488" cy="54864"/>
          </a:xfrm>
          <a:prstGeom prst="round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63056" y="1005840"/>
            <a:ext cx="265176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800">
                <a:solidFill>
                  <a:srgbClr val="0D9488"/>
                </a:solidFill>
              </a:rPr>
              <a:t>100% Compliance</a:t>
            </a:r>
          </a:p>
          <a:p>
            <a:pPr algn="ctr"/>
            <a:r>
              <a:rPr b="1" sz="1000">
                <a:solidFill>
                  <a:srgbClr val="0F172A"/>
                </a:solidFill>
              </a:rPr>
              <a:t>Zero Dead-Freight Incurred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Automated physical draught &amp; berth LOA verification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979408" y="932688"/>
            <a:ext cx="2761488" cy="11887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8979408" y="932688"/>
            <a:ext cx="2761488" cy="54864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34272" y="1005840"/>
            <a:ext cx="2651760" cy="10789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b="1" sz="1800">
                <a:solidFill>
                  <a:srgbClr val="166534"/>
                </a:solidFill>
              </a:rPr>
              <a:t>11.8% Decarbonization</a:t>
            </a:r>
          </a:p>
          <a:p>
            <a:pPr algn="ctr"/>
            <a:r>
              <a:rPr b="1" sz="1000">
                <a:solidFill>
                  <a:srgbClr val="0F172A"/>
                </a:solidFill>
              </a:rPr>
              <a:t>IMO Carbon Intensity Reduction</a:t>
            </a:r>
          </a:p>
          <a:p>
            <a:pPr algn="ctr"/>
            <a:r>
              <a:rPr sz="850">
                <a:solidFill>
                  <a:srgbClr val="475569"/>
                </a:solidFill>
              </a:rPr>
              <a:t>Optimized routing &amp; parcel sizing cuts VLSFO fuel burn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2231136"/>
            <a:ext cx="356616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65760" y="2231136"/>
            <a:ext cx="356616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TARGET AUDIENCE &amp; BENEFICIARIES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2615184"/>
            <a:ext cx="3383280" cy="3922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475488" y="2670048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8640" y="271576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2563EB"/>
                </a:solidFill>
                <a:latin typeface="Arial"/>
              </a:rPr>
              <a:t>[PSU BENEFIT] </a:t>
            </a:r>
            <a:r>
              <a:rPr b="1" sz="950">
                <a:solidFill>
                  <a:srgbClr val="0F172A"/>
                </a:solidFill>
                <a:latin typeface="Arial"/>
              </a:rPr>
              <a:t>Power &amp; Steel PSUs (SAIL, NTPC)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Locks bottom-cycle forward contracts saving ₹15–₹50+ Cr annually.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75488" y="3630168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48640" y="367588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0D9488"/>
                </a:solidFill>
                <a:latin typeface="Arial"/>
              </a:rPr>
              <a:t>[PORT OPS] </a:t>
            </a:r>
            <a:r>
              <a:rPr b="1" sz="950">
                <a:solidFill>
                  <a:srgbClr val="0F172A"/>
                </a:solidFill>
                <a:latin typeface="Arial"/>
              </a:rPr>
              <a:t>Major Port Trusts (Paradip, Haldia)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Eliminates vessel bunching and queue delays through berth forecasting.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75488" y="4590288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48640" y="463600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[DESK TOOL] </a:t>
            </a:r>
            <a:r>
              <a:rPr b="1" sz="950">
                <a:solidFill>
                  <a:srgbClr val="0F172A"/>
                </a:solidFill>
                <a:latin typeface="Arial"/>
              </a:rPr>
              <a:t>Chartering &amp; Logistics Planners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Replaces manual Excel sheets with automated multi-corridor decision tools.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75488" y="5550408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48640" y="559612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D97706"/>
                </a:solidFill>
                <a:latin typeface="Arial"/>
              </a:rPr>
              <a:t>[NATIONAL] </a:t>
            </a:r>
            <a:r>
              <a:rPr b="1" sz="950">
                <a:solidFill>
                  <a:srgbClr val="0F172A"/>
                </a:solidFill>
                <a:latin typeface="Arial"/>
              </a:rPr>
              <a:t>National Supply Chain Security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Secures uninterrupted inflows of critical coking coal for steel manufacturing.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069080" y="2231136"/>
            <a:ext cx="356616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4069080" y="2231136"/>
            <a:ext cx="356616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MULTI-DIMENSIONAL BENEFITS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160520" y="2615184"/>
            <a:ext cx="3383280" cy="3922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4178808" y="2670048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251960" y="271576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2563EB"/>
                </a:solidFill>
                <a:latin typeface="Arial"/>
              </a:rPr>
              <a:t>[ECONOMIC] </a:t>
            </a:r>
            <a:r>
              <a:rPr b="1" sz="950">
                <a:solidFill>
                  <a:srgbClr val="0F172A"/>
                </a:solidFill>
                <a:latin typeface="Arial"/>
              </a:rPr>
              <a:t>Macroeconomic Liquidity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Lower raw material costs enhance Indian steel &amp; power global competitiveness.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178808" y="3630168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251960" y="367588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0D9488"/>
                </a:solidFill>
                <a:latin typeface="Arial"/>
              </a:rPr>
              <a:t>[AUDIT PROOF] </a:t>
            </a:r>
            <a:r>
              <a:rPr b="1" sz="950">
                <a:solidFill>
                  <a:srgbClr val="0F172A"/>
                </a:solidFill>
                <a:latin typeface="Arial"/>
              </a:rPr>
              <a:t>Deterministic Audit Proof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Mathematical decision logs eliminate broker asymmetry and audit scrutiny.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178808" y="4590288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51960" y="463600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[ESG DECARB] </a:t>
            </a:r>
            <a:r>
              <a:rPr b="1" sz="950">
                <a:solidFill>
                  <a:srgbClr val="0F172A"/>
                </a:solidFill>
                <a:latin typeface="Arial"/>
              </a:rPr>
              <a:t>Environmental Decarbonization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Optimized routing and parcel consolidation reduce CO2 per ton-mile (IMO 2030).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178808" y="5550408"/>
            <a:ext cx="3346704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251960" y="5596128"/>
            <a:ext cx="3200400" cy="78638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D97706"/>
                </a:solidFill>
                <a:latin typeface="Arial"/>
              </a:rPr>
              <a:t>[INDIGENOUS] </a:t>
            </a:r>
            <a:r>
              <a:rPr b="1" sz="950">
                <a:solidFill>
                  <a:srgbClr val="0F172A"/>
                </a:solidFill>
                <a:latin typeface="Arial"/>
              </a:rPr>
              <a:t>Maritime India 2030 Vision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Indigenous software advances national strategic sovereignty over maritime data.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7772400" y="2231136"/>
            <a:ext cx="4023360" cy="4343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7772400" y="2231136"/>
            <a:ext cx="4023360" cy="347472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LIVE CONTRACT STRATEGY &amp; HEDGING ENGINE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2615184"/>
            <a:ext cx="3840480" cy="3922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pic>
        <p:nvPicPr>
          <p:cNvPr id="52" name="Picture 51" descr="contract_strategy_result_17881768681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3840" y="2670048"/>
            <a:ext cx="3840480" cy="3383280"/>
          </a:xfrm>
          <a:prstGeom prst="rect">
            <a:avLst/>
          </a:prstGeom>
        </p:spPr>
      </p:pic>
      <p:sp>
        <p:nvSpPr>
          <p:cNvPr id="53" name="TextBox 52"/>
          <p:cNvSpPr txBox="1"/>
          <p:nvPr/>
        </p:nvSpPr>
        <p:spPr>
          <a:xfrm>
            <a:off x="7863840" y="6126480"/>
            <a:ext cx="3840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2563EB"/>
                </a:solidFill>
              </a:rPr>
              <a:t>Live Prototype: Simulated ₹24.8 Cr Forward Hedge Saving on Capesize Coal</a:t>
            </a: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3" name="Rounded Rectangle 12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300"/>
              </a:spcBef>
            </a:pPr>
            <a:r>
              <a:rPr b="1" sz="1200">
                <a:solidFill>
                  <a:srgbClr val="FFFFFF"/>
                </a:solidFill>
                <a:latin typeface="Arial"/>
              </a:rPr>
              <a:t>FUTURISTICS</a:t>
            </a:r>
          </a:p>
          <a:p>
            <a:pPr algn="ctr"/>
            <a:r>
              <a:rPr b="1" sz="750">
                <a:solidFill>
                  <a:srgbClr val="10B981"/>
                </a:solidFill>
                <a:latin typeface="Arial"/>
              </a:rPr>
              <a:t>TEAM ID: SIH-2026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06040" y="146304"/>
            <a:ext cx="6949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50">
                <a:solidFill>
                  <a:srgbClr val="1C3A8C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329184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50">
                <a:solidFill>
                  <a:srgbClr val="0F1E41"/>
                </a:solidFill>
                <a:latin typeface="Arial"/>
              </a:rPr>
              <a:t>RESEARCH, INDUSTRY STANDARDS &amp; MARKET VALIDATION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65760" y="932688"/>
            <a:ext cx="4846320" cy="5669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365760" y="932688"/>
            <a:ext cx="484632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ACADEMIC LITERATURE &amp; MARITIME STANDARDS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1316736"/>
            <a:ext cx="4663440" cy="524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502920" y="1371600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76072" y="1417320"/>
            <a:ext cx="442569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2563EB"/>
                </a:solidFill>
                <a:latin typeface="Arial"/>
              </a:rPr>
              <a:t>[BENCHMARK] </a:t>
            </a:r>
            <a:r>
              <a:rPr b="1" sz="950">
                <a:solidFill>
                  <a:srgbClr val="0F172A"/>
                </a:solidFill>
                <a:latin typeface="Arial"/>
              </a:rPr>
              <a:t>Baltic Exchange Maritime Indices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Daily fixture datasets for Capesize (BCI), Panamax (BPI) &amp; Supramax (BSI) freight rates.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" y="2359152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2404872"/>
            <a:ext cx="442569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0D9488"/>
                </a:solidFill>
                <a:latin typeface="Arial"/>
              </a:rPr>
              <a:t>[ACADEMIC] </a:t>
            </a:r>
            <a:r>
              <a:rPr b="1" sz="950">
                <a:solidFill>
                  <a:srgbClr val="0F172A"/>
                </a:solidFill>
                <a:latin typeface="Arial"/>
              </a:rPr>
              <a:t>Maritime Economics (Martin Stopford)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Theoretical foundation on shipping supply/demand cycles, ton-mile elasticity &amp; chartering.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3346704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76072" y="3392424"/>
            <a:ext cx="442569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66534"/>
                </a:solidFill>
                <a:latin typeface="Arial"/>
              </a:rPr>
              <a:t>[AI SCIENCE] </a:t>
            </a:r>
            <a:r>
              <a:rPr b="1" sz="950">
                <a:solidFill>
                  <a:srgbClr val="0F172A"/>
                </a:solidFill>
                <a:latin typeface="Arial"/>
              </a:rPr>
              <a:t>Forecasting Principles (Hyndman)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Triple Exponential Smoothing (Holt-Winters) seasonal modeling on non-stationary series.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2920" y="4334256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6072" y="4379976"/>
            <a:ext cx="442569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D97706"/>
                </a:solidFill>
                <a:latin typeface="Arial"/>
              </a:rPr>
              <a:t>[CONTRACTS] </a:t>
            </a:r>
            <a:r>
              <a:rPr b="1" sz="950">
                <a:solidFill>
                  <a:srgbClr val="0F172A"/>
                </a:solidFill>
                <a:latin typeface="Arial"/>
              </a:rPr>
              <a:t>BIMCO Standard Charterparties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GENCON 1994 &amp; NYPE 2015 clauses governing laytime, demurrage, and seaworthiness.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5321808"/>
            <a:ext cx="4572000" cy="8961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76072" y="5367528"/>
            <a:ext cx="4425696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b="1" sz="900">
                <a:solidFill>
                  <a:srgbClr val="1C3A8C"/>
                </a:solidFill>
                <a:latin typeface="Arial"/>
              </a:rPr>
              <a:t>[PORT GAZETTES] </a:t>
            </a:r>
            <a:r>
              <a:rPr b="1" sz="950">
                <a:solidFill>
                  <a:srgbClr val="0F172A"/>
                </a:solidFill>
                <a:latin typeface="Arial"/>
              </a:rPr>
              <a:t>Indian Major Port Gazettes</a:t>
            </a:r>
          </a:p>
          <a:p>
            <a:pPr>
              <a:spcBef>
                <a:spcPts val="100"/>
              </a:spcBef>
            </a:pPr>
            <a:r>
              <a:rPr sz="850">
                <a:solidFill>
                  <a:srgbClr val="475569"/>
                </a:solidFill>
                <a:latin typeface="Arial"/>
              </a:rPr>
              <a:t>Official draft circulars, tidal windows &amp; berth LOA limits from Haldia, Paradip, and Vizag.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394960" y="932688"/>
            <a:ext cx="6400800" cy="5669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394960" y="932688"/>
            <a:ext cx="640080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00">
                <a:solidFill>
                  <a:srgbClr val="FFFFFF"/>
                </a:solidFill>
                <a:latin typeface="Arial"/>
              </a:rPr>
              <a:t>EMPIRICAL MARKET RESEARCH &amp; PORT GROUND-TRUTH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0" y="1316736"/>
            <a:ext cx="6217920" cy="524865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/>
        </p:txBody>
      </p:sp>
      <p:pic>
        <p:nvPicPr>
          <p:cNvPr id="32" name="Picture 31" descr="sih_survey_chart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32120" y="1353312"/>
            <a:ext cx="6126480" cy="2331720"/>
          </a:xfrm>
          <a:prstGeom prst="rect">
            <a:avLst/>
          </a:prstGeom>
        </p:spPr>
      </p:pic>
      <p:pic>
        <p:nvPicPr>
          <p:cNvPr id="33" name="Picture 32" descr="port_infrastructure_panel_1788176686625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32120" y="3794760"/>
            <a:ext cx="6126480" cy="2331720"/>
          </a:xfrm>
          <a:prstGeom prst="rect">
            <a:avLst/>
          </a:prstGeom>
        </p:spPr>
      </p:pic>
      <p:sp>
        <p:nvSpPr>
          <p:cNvPr id="34" name="TextBox 33"/>
          <p:cNvSpPr txBox="1"/>
          <p:nvPr/>
        </p:nvSpPr>
        <p:spPr>
          <a:xfrm>
            <a:off x="5532120" y="6172200"/>
            <a:ext cx="6126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00" b="1">
                <a:solidFill>
                  <a:srgbClr val="166534"/>
                </a:solidFill>
              </a:rPr>
              <a:t>Ground-Truth Verification: Real Haldia, Paradip &amp; Vizag Draft Gazettes Integrated into Engine</a:t>
            </a: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  <p:sp>
        <p:nvSpPr>
          <p:cNvPr id="14" name="Rounded Rectangle 13"/>
          <p:cNvSpPr/>
          <p:nvPr/>
        </p:nvSpPr>
        <p:spPr>
          <a:xfrm>
            <a:off x="365760" y="164592"/>
            <a:ext cx="2057400" cy="603504"/>
          </a:xfrm>
          <a:prstGeom prst="roundRect">
            <a:avLst/>
          </a:prstGeom>
          <a:solidFill>
            <a:srgbClr val="0F1E41"/>
          </a:solidFill>
          <a:ln w="1905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>
              <a:spcBef>
                <a:spcPts val="300"/>
              </a:spcBef>
            </a:pPr>
            <a:r>
              <a:rPr b="1" sz="1200">
                <a:solidFill>
                  <a:srgbClr val="FFFFFF"/>
                </a:solidFill>
                <a:latin typeface="Arial"/>
              </a:rPr>
              <a:t>FUTURISTICS</a:t>
            </a:r>
          </a:p>
          <a:p>
            <a:pPr algn="ctr"/>
            <a:r>
              <a:rPr b="1" sz="750">
                <a:solidFill>
                  <a:srgbClr val="10B981"/>
                </a:solidFill>
                <a:latin typeface="Arial"/>
              </a:rPr>
              <a:t>TEAM ID: SIH-2026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06040" y="146304"/>
            <a:ext cx="694944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850">
                <a:solidFill>
                  <a:srgbClr val="1C3A8C"/>
                </a:solidFill>
                <a:latin typeface="Arial"/>
              </a:rPr>
              <a:t>SMART INDIA HACKATHON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06040" y="329184"/>
            <a:ext cx="694944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650">
                <a:solidFill>
                  <a:srgbClr val="0F1E41"/>
                </a:solidFill>
                <a:latin typeface="Arial"/>
              </a:rPr>
              <a:t>LIVE PROTOTYPE SHOWCASE &amp; PRODUCTION TECH STACK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5760" y="932688"/>
            <a:ext cx="56235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C3A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65760" y="932688"/>
            <a:ext cx="5623560" cy="347472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MODULE 1: AI RATE FORECASTING &amp; 90-DAY VOLATILITY CURVES</a:t>
            </a:r>
          </a:p>
        </p:txBody>
      </p:sp>
      <p:pic>
        <p:nvPicPr>
          <p:cNvPr id="19" name="Picture 18" descr="rate_forecast_page_178817937549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1353312"/>
            <a:ext cx="5349240" cy="2176272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02920" y="3547872"/>
            <a:ext cx="5349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i="1">
                <a:solidFill>
                  <a:srgbClr val="475569"/>
                </a:solidFill>
              </a:rPr>
              <a:t>Interactive 90-day Holt-Winters predictive curves across Capesize, Panamax &amp; Supramax vessels.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172200" y="932688"/>
            <a:ext cx="5623560" cy="29260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172200" y="932688"/>
            <a:ext cx="5623560" cy="347472"/>
          </a:xfrm>
          <a:prstGeom prst="roundRect">
            <a:avLst/>
          </a:prstGeom>
          <a:solidFill>
            <a:srgbClr val="1665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950">
                <a:solidFill>
                  <a:srgbClr val="FFFFFF"/>
                </a:solidFill>
              </a:rPr>
              <a:t>MODULE 2: LIVE AIS FLEET TELEMATICS &amp; PORT CONGESTION</a:t>
            </a:r>
          </a:p>
        </p:txBody>
      </p:sp>
      <p:pic>
        <p:nvPicPr>
          <p:cNvPr id="23" name="Picture 22" descr="live_telematics_page_reloaded_178818095157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9360" y="1353312"/>
            <a:ext cx="5349240" cy="2176272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6309360" y="3547872"/>
            <a:ext cx="53492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850" i="1">
                <a:solidFill>
                  <a:srgbClr val="475569"/>
                </a:solidFill>
              </a:rPr>
              <a:t>Live AIS vessel position tracking, real-time berth draught verification &amp; congestion monitor.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65760" y="3977639"/>
            <a:ext cx="1143000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AE2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65760" y="3977639"/>
            <a:ext cx="11430000" cy="347472"/>
          </a:xfrm>
          <a:prstGeom prst="roundRect">
            <a:avLst/>
          </a:prstGeom>
          <a:solidFill>
            <a:srgbClr val="0F1E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050">
                <a:solidFill>
                  <a:srgbClr val="FFFFFF"/>
                </a:solidFill>
              </a:rPr>
              <a:t>PRODUCTION-GRADE TECHNOLOGY STACK &amp; ARCHITECTURAL PILLARS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389120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2563EB"/>
                </a:solidFill>
              </a:rPr>
              <a:t>Frontend / GIS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4663440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React 19 / Next.js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Tailwind CSS Design System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Chart.js Predictive Curves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Leaflet.js Dynamic GIS 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319272" y="4389120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0D9488"/>
                </a:solidFill>
              </a:rPr>
              <a:t>Backend / API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19272" y="4663440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Python FastAPI Async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Uvicorn ASGI Server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Redis Sub-35ms Cache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PostgreSQL / PostGIS Engine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35624" y="4389120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166534"/>
                </a:solidFill>
              </a:rPr>
              <a:t>AI / Math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135624" y="4663440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Holt-Winters Seasonal Model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Monte Carlo 10K Simulation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UKC Astronomical Tidal Solver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Landed $/MT Linear Program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51976" y="4389120"/>
            <a:ext cx="269748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000">
                <a:solidFill>
                  <a:srgbClr val="D97706"/>
                </a:solidFill>
              </a:rPr>
              <a:t>Cloud / DevOps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51976" y="4663440"/>
            <a:ext cx="26974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Docker Containerization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AWS EC2 / GCP Cloud Run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Automated GitHub Actions CI</a:t>
            </a:r>
          </a:p>
          <a:p>
            <a:pPr>
              <a:spcAft>
                <a:spcPts val="200"/>
              </a:spcAft>
            </a:pPr>
            <a:r>
              <a:rPr sz="900">
                <a:solidFill>
                  <a:srgbClr val="0F172A"/>
                </a:solidFill>
              </a:rPr>
              <a:t>✔ 99.9% Uptime Production SLA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65760" y="6126480"/>
            <a:ext cx="11430000" cy="475488"/>
          </a:xfrm>
          <a:prstGeom prst="roundRect">
            <a:avLst/>
          </a:prstGeom>
          <a:solidFill>
            <a:srgbClr val="1C3A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1100">
                <a:solidFill>
                  <a:srgbClr val="FFFFFF"/>
                </a:solidFill>
              </a:rPr>
              <a:t>TEAM FUTURISTICS  |  </a:t>
            </a:r>
            <a:r>
              <a:rPr sz="1050">
                <a:solidFill>
                  <a:srgbClr val="E2E8F0"/>
                </a:solidFill>
              </a:rPr>
              <a:t>End-to-End Functional Prototype Tested &amp; Validated Across 6 Global Dry Bulk Corridors  |  SIH 2026 Final Round</a:t>
            </a:r>
          </a:p>
        </p:txBody>
      </p:sp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AICTE</cp:lastModifiedBy>
  <cp:revision>148</cp:revision>
  <dcterms:created xsi:type="dcterms:W3CDTF">2013-12-12T18:46:50Z</dcterms:created>
  <dcterms:modified xsi:type="dcterms:W3CDTF">2026-06-02T09:29:39Z</dcterms:modified>
  <cp:category/>
</cp:coreProperties>
</file>