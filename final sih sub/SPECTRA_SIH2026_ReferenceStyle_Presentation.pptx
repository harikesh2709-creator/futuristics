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457200"/>
            <a:ext cx="5854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1E3A8A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116" y="1706737"/>
            <a:ext cx="5852160" cy="276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Problem Statement ID - 26147</a:t>
            </a:r>
          </a:p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Problem Statement Title -</a:t>
            </a:r>
            <a:r>
              <a:rPr sz="1650" b="0" dirty="0">
                <a:solidFill>
                  <a:srgbClr val="0F172A"/>
                </a:solidFill>
                <a:latin typeface="Times New Roman"/>
              </a:rPr>
              <a:t> Automated Model for Analysis of .IQ and .wav Files along with Signal Parameter Extraction</a:t>
            </a:r>
            <a:r>
              <a:rPr lang="en-GB" sz="1650" b="0" dirty="0">
                <a:solidFill>
                  <a:srgbClr val="0F172A"/>
                </a:solidFill>
                <a:latin typeface="Times New Roman"/>
              </a:rPr>
              <a:t>.</a:t>
            </a:r>
            <a:endParaRPr sz="1650" b="0" dirty="0">
              <a:solidFill>
                <a:srgbClr val="0F172A"/>
              </a:solidFill>
              <a:latin typeface="Times New Roman"/>
            </a:endParaRPr>
          </a:p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Theme -</a:t>
            </a:r>
            <a:r>
              <a:rPr sz="1650" b="0" dirty="0">
                <a:solidFill>
                  <a:srgbClr val="0F172A"/>
                </a:solidFill>
                <a:latin typeface="Times New Roman"/>
              </a:rPr>
              <a:t> Space Technology</a:t>
            </a:r>
          </a:p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PS Category -</a:t>
            </a:r>
            <a:r>
              <a:rPr sz="1650" b="0" dirty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Team ID -</a:t>
            </a:r>
            <a:r>
              <a:rPr sz="1650" b="0" dirty="0">
                <a:solidFill>
                  <a:srgbClr val="0F172A"/>
                </a:solidFill>
                <a:latin typeface="Times New Roman"/>
              </a:rPr>
              <a:t> </a:t>
            </a:r>
            <a:r>
              <a:rPr lang="en-GB" sz="1650" b="0" dirty="0">
                <a:solidFill>
                  <a:srgbClr val="0F172A"/>
                </a:solidFill>
                <a:latin typeface="Times New Roman"/>
              </a:rPr>
              <a:t> 170061 </a:t>
            </a:r>
            <a:endParaRPr sz="1650" b="0" dirty="0">
              <a:solidFill>
                <a:srgbClr val="0F172A"/>
              </a:solidFill>
              <a:latin typeface="Times New Roman"/>
            </a:endParaRPr>
          </a:p>
          <a:p>
            <a:pPr>
              <a:spcBef>
                <a:spcPts val="1400"/>
              </a:spcBef>
            </a:pPr>
            <a:r>
              <a:rPr sz="1650" b="1" dirty="0">
                <a:solidFill>
                  <a:srgbClr val="0F172A"/>
                </a:solidFill>
                <a:latin typeface="Times New Roman"/>
              </a:rPr>
              <a:t>• Team Name –</a:t>
            </a:r>
            <a:r>
              <a:rPr sz="1650" b="1" dirty="0">
                <a:solidFill>
                  <a:srgbClr val="1E3A8A"/>
                </a:solidFill>
                <a:latin typeface="Times New Roman"/>
              </a:rPr>
              <a:t> 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31721" y="124679"/>
            <a:ext cx="7232904" cy="731520"/>
          </a:xfrm>
        </p:spPr>
        <p:txBody>
          <a:bodyPr/>
          <a:lstStyle/>
          <a:p>
            <a:pPr algn="ctr" eaLnBrk="1" hangingPunct="1"/>
            <a:r>
              <a:rPr sz="1800" b="1" i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SPECTRA: Automated Cognitive .IQ &amp; .wav Signal Analyzer with Blind Parameter Extraction &amp; Demodulation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28600"/>
            <a:ext cx="20116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sz="1500" b="0">
                <a:solidFill>
                  <a:srgbClr val="0F172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46888" y="1180172"/>
            <a:ext cx="35661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dirty="0">
                <a:solidFill>
                  <a:srgbClr val="1E3A8A"/>
                </a:solidFill>
                <a:latin typeface="Times New Roman"/>
              </a:rPr>
              <a:t>Problem: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In non-cooperative RF spectrum monitoring and satellite/tactical communications, defense agencies like NTRO capture gigabytes of uncharacterized .IQ and .wav baseband files daily. Manual triage in GNU Radio or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inspectrum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takes 30–45 minutes per file, requires expert SIGINT operators, and fails under low SNR (&lt;0 dB), creating severe intelligence bottlenecks.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8092440" y="1051560"/>
            <a:ext cx="3749039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dirty="0">
                <a:solidFill>
                  <a:srgbClr val="1E3A8A"/>
                </a:solidFill>
                <a:latin typeface="Times New Roman"/>
              </a:rPr>
              <a:t>Our Idea :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SPECTRA is an autonomous, lightweight signal analysis platform that ingests raw .IQ and .wav baseband files and extracts all critical physical-layer and link-layer parameters in under 1.2 seconds. It combines pure mathematical DSP (Welch PSD,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Cyclostationary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, Higher-Order Cumulants) with Galois Field GF(2) matrix solvers and an interactive WebGL tactical dashboard</a:t>
            </a:r>
            <a:r>
              <a:rPr lang="en-GB" sz="1200" dirty="0">
                <a:solidFill>
                  <a:srgbClr val="0F172A"/>
                </a:solidFill>
                <a:latin typeface="Times New Roman"/>
              </a:rPr>
              <a:t>.</a:t>
            </a:r>
            <a:endParaRPr sz="1200" dirty="0">
              <a:solidFill>
                <a:srgbClr val="0F172A"/>
              </a:solidFill>
              <a:latin typeface="Times New Roman"/>
            </a:endParaRPr>
          </a:p>
        </p:txBody>
      </p:sp>
      <p:sp>
        <p:nvSpPr>
          <p:cNvPr id="15365" name="TextBox 15364"/>
          <p:cNvSpPr txBox="1"/>
          <p:nvPr/>
        </p:nvSpPr>
        <p:spPr>
          <a:xfrm>
            <a:off x="246888" y="3333586"/>
            <a:ext cx="356616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dirty="0">
                <a:solidFill>
                  <a:srgbClr val="1E3A8A"/>
                </a:solidFill>
                <a:latin typeface="Times New Roman"/>
              </a:rPr>
              <a:t>Proposed Solution :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Unified Dual Ingestion Engine: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Automatically calibrates I/Q DC offset, corrects phase/gain imbalances, and processes IEEE float32/int16 .IQ basebands as well as .wav audio/IF captures.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Hierarchical Blind Parameter Extraction: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Computes Welch PSD for occupied bandwidth (OBW) &amp; carrier fc,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cyclostationary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squaring loops for symbol/baud rate, and Higher-Order Cumulants (C40, C42, C63) for AMC.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Blind Demodulation &amp; Galois Field GF(2) FEC: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Costas loop carrier sync, Gardner timing recovery, blind de-interleaving via GF(2) matrix rank solvers, and CCSDS Viterbi/Reed-Solomon decoding.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7991857" y="3459051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u="sng" dirty="0">
                <a:solidFill>
                  <a:srgbClr val="1E3A8A"/>
                </a:solidFill>
                <a:latin typeface="Times New Roman"/>
              </a:rPr>
              <a:t>Innovation/Uniqueness:</a:t>
            </a:r>
            <a:endParaRPr lang="en-GB" b="1" u="sng" dirty="0">
              <a:solidFill>
                <a:srgbClr val="1E3A8A"/>
              </a:solidFill>
              <a:latin typeface="Times New Roman"/>
            </a:endParaRPr>
          </a:p>
          <a:p>
            <a:endParaRPr b="1" u="sng" dirty="0">
              <a:solidFill>
                <a:srgbClr val="1E3A8A"/>
              </a:solidFill>
              <a:latin typeface="Times New Roman"/>
            </a:endParaRPr>
          </a:p>
        </p:txBody>
      </p:sp>
      <p:pic>
        <p:nvPicPr>
          <p:cNvPr id="15367" name="Picture 15366" descr="problem_statement_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919" y="1063837"/>
            <a:ext cx="3383280" cy="47929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CD132D-7EFE-BA48-BB3B-524FC85C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465101"/>
            <a:ext cx="12191999" cy="39139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DBC940-9FC2-64D5-377E-E2AFE5CB3347}"/>
              </a:ext>
            </a:extLst>
          </p:cNvPr>
          <p:cNvSpPr txBox="1">
            <a:spLocks/>
          </p:cNvSpPr>
          <p:nvPr/>
        </p:nvSpPr>
        <p:spPr>
          <a:xfrm>
            <a:off x="10716769" y="6549002"/>
            <a:ext cx="1371600" cy="36576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IN"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87AD398B-D53C-FCB3-0E9C-64B9EEB5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3745" y="6466601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" name="Connector 17411">
            <a:extLst>
              <a:ext uri="{FF2B5EF4-FFF2-40B4-BE49-F238E27FC236}">
                <a16:creationId xmlns:a16="http://schemas.microsoft.com/office/drawing/2014/main" id="{D7BB342F-60FE-9DDD-A08C-E64FCFB36491}"/>
              </a:ext>
            </a:extLst>
          </p:cNvPr>
          <p:cNvCxnSpPr>
            <a:cxnSpLocks/>
          </p:cNvCxnSpPr>
          <p:nvPr/>
        </p:nvCxnSpPr>
        <p:spPr>
          <a:xfrm>
            <a:off x="4233672" y="1051560"/>
            <a:ext cx="0" cy="530352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17411">
            <a:extLst>
              <a:ext uri="{FF2B5EF4-FFF2-40B4-BE49-F238E27FC236}">
                <a16:creationId xmlns:a16="http://schemas.microsoft.com/office/drawing/2014/main" id="{F7CD9DC4-4630-C5C1-654A-45FE6E480D3B}"/>
              </a:ext>
            </a:extLst>
          </p:cNvPr>
          <p:cNvCxnSpPr>
            <a:cxnSpLocks/>
          </p:cNvCxnSpPr>
          <p:nvPr/>
        </p:nvCxnSpPr>
        <p:spPr>
          <a:xfrm>
            <a:off x="7824216" y="1006602"/>
            <a:ext cx="0" cy="530352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7411">
            <a:extLst>
              <a:ext uri="{FF2B5EF4-FFF2-40B4-BE49-F238E27FC236}">
                <a16:creationId xmlns:a16="http://schemas.microsoft.com/office/drawing/2014/main" id="{BCB46383-6A73-4727-9EF3-78B3DC18C4B6}"/>
              </a:ext>
            </a:extLst>
          </p:cNvPr>
          <p:cNvCxnSpPr>
            <a:cxnSpLocks/>
          </p:cNvCxnSpPr>
          <p:nvPr/>
        </p:nvCxnSpPr>
        <p:spPr>
          <a:xfrm>
            <a:off x="7909560" y="3333586"/>
            <a:ext cx="4178809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7411">
            <a:extLst>
              <a:ext uri="{FF2B5EF4-FFF2-40B4-BE49-F238E27FC236}">
                <a16:creationId xmlns:a16="http://schemas.microsoft.com/office/drawing/2014/main" id="{4D2430E3-84CC-9788-9E3A-091818DC6EDC}"/>
              </a:ext>
            </a:extLst>
          </p:cNvPr>
          <p:cNvCxnSpPr>
            <a:cxnSpLocks/>
          </p:cNvCxnSpPr>
          <p:nvPr/>
        </p:nvCxnSpPr>
        <p:spPr>
          <a:xfrm>
            <a:off x="54863" y="3333586"/>
            <a:ext cx="4178809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192B878-EC92-4FBF-0E78-021F6F9FE902}"/>
              </a:ext>
            </a:extLst>
          </p:cNvPr>
          <p:cNvSpPr txBox="1"/>
          <p:nvPr/>
        </p:nvSpPr>
        <p:spPr>
          <a:xfrm>
            <a:off x="8012675" y="3888131"/>
            <a:ext cx="4017262" cy="2292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World-First Blind </a:t>
            </a:r>
            <a:r>
              <a:rPr sz="1200" b="1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 Solve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r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: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Custom Galois Field GF(2) linear engine extracts blind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matrix depths in &lt;1.2 seconds, requiring zero metadata.</a:t>
            </a:r>
          </a:p>
          <a:p>
            <a:pPr>
              <a:spcBef>
                <a:spcPts val="18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Deep Neural Robustness: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Dual-engine AI classifier fuses analytical cumulant thresholds with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ResNet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features, excelling in severely jammed or fading channels (-4 dB).</a:t>
            </a:r>
          </a:p>
          <a:p>
            <a:pPr>
              <a:spcBef>
                <a:spcPts val="18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100x Intelligence Acceleration: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Triage cycle time is violently slashed from 45 minutes down to 1.2 seconds on standard field-grade tactical laptops.</a:t>
            </a:r>
          </a:p>
          <a:p>
            <a:pPr>
              <a:spcBef>
                <a:spcPts val="18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100% Sovereign Air-Gapped Security: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Completely self-contained software architecture with zero external APIs, preventing catastrophic supply chain backdoors.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8600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 dirty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28600"/>
            <a:ext cx="20116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sz="1500" b="0">
                <a:solidFill>
                  <a:srgbClr val="0F172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1399518" y="6497605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Times New Roman"/>
              </a:rPr>
              <a:t>3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393693" y="1188720"/>
            <a:ext cx="0" cy="530352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4393693" y="4709160"/>
            <a:ext cx="7360920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6" name="Picture 17415" descr="spectra_3layer_approa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980568"/>
            <a:ext cx="3072384" cy="1567947"/>
          </a:xfrm>
          <a:prstGeom prst="rect">
            <a:avLst/>
          </a:prstGeom>
        </p:spPr>
      </p:pic>
      <p:sp>
        <p:nvSpPr>
          <p:cNvPr id="17417" name="Rectangle 17416"/>
          <p:cNvSpPr/>
          <p:nvPr/>
        </p:nvSpPr>
        <p:spPr>
          <a:xfrm>
            <a:off x="8463776" y="4975037"/>
            <a:ext cx="3566160" cy="1401965"/>
          </a:xfrm>
          <a:prstGeom prst="rect">
            <a:avLst/>
          </a:prstGeom>
          <a:solidFill>
            <a:srgbClr val="F1F5F9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8641077" y="5061257"/>
            <a:ext cx="3474720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Times New Roman"/>
              </a:rPr>
              <a:t>GitHub link:
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https://github.com/harikesh2709-creator/FUTURISTICS
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YouTube video :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DC2626"/>
                </a:solidFill>
                <a:latin typeface="Times New Roman"/>
              </a:rPr>
              <a:t>Above 45% of the prototype is completed</a:t>
            </a:r>
          </a:p>
        </p:txBody>
      </p:sp>
      <p:pic>
        <p:nvPicPr>
          <p:cNvPr id="3" name="Picture 2" descr="system_architecture_drawio.png">
            <a:extLst>
              <a:ext uri="{FF2B5EF4-FFF2-40B4-BE49-F238E27FC236}">
                <a16:creationId xmlns:a16="http://schemas.microsoft.com/office/drawing/2014/main" id="{8D86B665-2D11-6AEB-5AEF-7988BDE09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693" y="1432946"/>
            <a:ext cx="7092696" cy="3095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1DB7F6-516C-03C9-B463-E41336E4CEB3}"/>
              </a:ext>
            </a:extLst>
          </p:cNvPr>
          <p:cNvSpPr txBox="1"/>
          <p:nvPr/>
        </p:nvSpPr>
        <p:spPr>
          <a:xfrm>
            <a:off x="4590288" y="1088372"/>
            <a:ext cx="217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1647D-ED29-FDF4-B2ED-CB787761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66300"/>
            <a:ext cx="12191999" cy="3927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C03911-6796-17D1-B8A8-E0D1394114E4}"/>
              </a:ext>
            </a:extLst>
          </p:cNvPr>
          <p:cNvSpPr txBox="1">
            <a:spLocks/>
          </p:cNvSpPr>
          <p:nvPr/>
        </p:nvSpPr>
        <p:spPr>
          <a:xfrm>
            <a:off x="10637520" y="6444921"/>
            <a:ext cx="1371600" cy="36576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IN" sz="1000" b="1" dirty="0">
                <a:solidFill>
                  <a:srgbClr val="FFFFFF"/>
                </a:solidFill>
                <a:latin typeface="Times New Roman"/>
              </a:rPr>
              <a:t>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09C875D9-37A2-6117-93E2-D7C71A93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5559" y="6452845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D6F714-3D5C-9B27-2A76-82228C723E3E}"/>
              </a:ext>
            </a:extLst>
          </p:cNvPr>
          <p:cNvSpPr txBox="1"/>
          <p:nvPr/>
        </p:nvSpPr>
        <p:spPr>
          <a:xfrm>
            <a:off x="4690873" y="4869806"/>
            <a:ext cx="3383280" cy="1461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Technologies Used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HTML5 &amp; WebGL 2.0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Sub-16ms telemetry.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Python &amp; </a:t>
            </a:r>
            <a:r>
              <a:rPr sz="1200" b="1" dirty="0" err="1">
                <a:solidFill>
                  <a:srgbClr val="1E3A8A"/>
                </a:solidFill>
                <a:latin typeface="Times New Roman"/>
              </a:rPr>
              <a:t>FastAPI</a:t>
            </a:r>
            <a:r>
              <a:rPr sz="1200" b="1" dirty="0">
                <a:solidFill>
                  <a:srgbClr val="1E3A8A"/>
                </a:solidFill>
                <a:latin typeface="Times New Roman"/>
              </a:rPr>
              <a:t>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High-throughput streaming.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NumPy &amp; SciPy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Accelerated FFT &amp; PSD.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1D-CNN + Bi-LSTM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Neural AMC classification.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GF(2) Matrix Solver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Fast rank solver.</a:t>
            </a:r>
          </a:p>
          <a:p>
            <a:pPr>
              <a:spcBef>
                <a:spcPts val="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Viterbi/Reed-Solomon —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FEC channel decoders.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44C483-C27E-BD2A-F6C5-F62E04B9E498}"/>
              </a:ext>
            </a:extLst>
          </p:cNvPr>
          <p:cNvSpPr txBox="1"/>
          <p:nvPr/>
        </p:nvSpPr>
        <p:spPr>
          <a:xfrm>
            <a:off x="101345" y="3783987"/>
            <a:ext cx="4200147" cy="4744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Prototype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Real-Time Tactical Spectrum &amp; Telemetry GUI (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+ WebGL)</a:t>
            </a:r>
          </a:p>
        </p:txBody>
      </p:sp>
      <p:pic>
        <p:nvPicPr>
          <p:cNvPr id="19" name="Picture 18" descr="crop_module1_telemetry.png">
            <a:extLst>
              <a:ext uri="{FF2B5EF4-FFF2-40B4-BE49-F238E27FC236}">
                <a16:creationId xmlns:a16="http://schemas.microsoft.com/office/drawing/2014/main" id="{95F30F9F-0AB4-3190-AFD6-BA6247F68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15968"/>
            <a:ext cx="4328157" cy="2136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183BD6-2071-D887-C736-B168874285EA}"/>
              </a:ext>
            </a:extLst>
          </p:cNvPr>
          <p:cNvSpPr txBox="1"/>
          <p:nvPr/>
        </p:nvSpPr>
        <p:spPr>
          <a:xfrm>
            <a:off x="49788" y="1003725"/>
            <a:ext cx="4251710" cy="2741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Execution Flow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 marL="171450" indent="-1714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Step 1: Signal Ingestion —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Raw .IQ &amp; .wav files are ingested via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, buffering at 40MSPS for continuous streaming.</a:t>
            </a:r>
          </a:p>
          <a:p>
            <a:pPr marL="171450" indent="-1714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Step 2: Signal Conditioning —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Pre-processing removes DC bias and applies phase/gain imbalance corrections autonomously.</a:t>
            </a:r>
          </a:p>
          <a:p>
            <a:pPr marL="171450" indent="-1714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Step 3: Neural AMC —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Extracted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cyclostationary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features and C40/C63 cumulants feed a 1D-CNN + Bi-LSTM for 98% accurate modulation classification.</a:t>
            </a:r>
          </a:p>
          <a:p>
            <a:pPr marL="171450" indent="-1714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Step 4: Blind FEC Solving —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Gardner TED &amp; Costas Loop acquire sync. Unstructured data is passed to a GF(2) matrix solver to determine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depth.</a:t>
            </a:r>
          </a:p>
          <a:p>
            <a:pPr marL="171450" indent="-1714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Step 5: Decoding &amp; Audit —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Viterbi and Reed-Solomon algorithms extract raw bits, finally secured via SHA-256 cryptographic hashing.</a:t>
            </a:r>
          </a:p>
        </p:txBody>
      </p:sp>
      <p:cxnSp>
        <p:nvCxnSpPr>
          <p:cNvPr id="10" name="Connector 17414">
            <a:extLst>
              <a:ext uri="{FF2B5EF4-FFF2-40B4-BE49-F238E27FC236}">
                <a16:creationId xmlns:a16="http://schemas.microsoft.com/office/drawing/2014/main" id="{177973E1-31E2-EF23-8CE0-94A11D70E5F5}"/>
              </a:ext>
            </a:extLst>
          </p:cNvPr>
          <p:cNvCxnSpPr>
            <a:cxnSpLocks/>
          </p:cNvCxnSpPr>
          <p:nvPr/>
        </p:nvCxnSpPr>
        <p:spPr>
          <a:xfrm flipV="1">
            <a:off x="0" y="3745501"/>
            <a:ext cx="4393693" cy="1904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8600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28600"/>
            <a:ext cx="20116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sz="1500" b="0">
                <a:solidFill>
                  <a:srgbClr val="0F172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Times New Roman"/>
              </a:rPr>
              <a:t>4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6089904" y="1143000"/>
            <a:ext cx="0" cy="534924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365760" y="3932506"/>
            <a:ext cx="11338560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396241" y="1090613"/>
            <a:ext cx="548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Feasibility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Validated on Benchmark &amp; Real RF Datasets: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Extensively tested against official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SigMF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baseband captures,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RadioML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2018.01A benchmarks, and real SDR captures across diverse SNRs (-10 dB to +25 dB).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Standard Binary &amp; Audio Formats: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Native parsers for .IQ (float32, int16, complex64) and .wav audio/IF files from 8 kHz to 40 MSPS without external codec dependencies.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Mathematical Certainty: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Higher-Order Cumulants (C40, C42, C63) mathematically guarantee separation of PSK, QAM, and FSK without requiring massive GPU training data.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Edge Compute Feasibility: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Entire parameter extraction pipeline executes in &lt;180ms on standard Intel Core i5 and &lt;650ms on Raspberry Pi 4.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309360" y="1051560"/>
            <a:ext cx="53949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Commercial feasibility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Strategic Operational Demand: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Tailored specifically for NTRO,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Defence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Intelligence Agency (DIA), Indian Navy WESEE, and Army Corps of Signals for tactical SIGINT triage.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100% Import Substitution: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Replaces multi-lakh foreign commercial software suites (Keysight 89600 VSA, Rohde &amp; Schwarz AMMOS) with zero per-seat licensing costs.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Flexible Deployment Modes: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Deployable as an air-gapped standalone CLI tool,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Dockerized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REST API for ground stations, or lightweight browser-based WebGL tactical dashboard.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Rapid Mission Adaptability: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Modular Python architecture allows SIGINT operators to add custom demodulators and framing decoders in under 24 hours.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4106242"/>
            <a:ext cx="5486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Challenges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Low SNR &amp; Heavy Multipath: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Tactical signals in contested borders often arrive below 0 dB SNR with severe multipath fading.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Carrier Offset &amp; Rapid Doppler Shifts: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LEO satellites and mobile airborne emitters experience continuous frequency drift up to ±50 kHz.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Unknown Framing &amp; Interleaving: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Non-cooperative transmissions use proprietary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depths and scrambling polynomials to prevent interception.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Massive Baseband Data Deluge: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High-bandwidth SDR captures produce multi-gigabyte .IQ files that quickly exhaust edge RAM during processing.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17920" y="4125834"/>
            <a:ext cx="53949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Strategy: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</a:t>
            </a:r>
            <a:r>
              <a:rPr sz="1200" b="1" dirty="0" err="1">
                <a:solidFill>
                  <a:srgbClr val="0F172A"/>
                </a:solidFill>
                <a:latin typeface="Times New Roman"/>
              </a:rPr>
              <a:t>Cyclostationary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 &amp; Wavelet Denoising: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Spectral correlation density concentrates modulated energy into cyclic peaks, extracting baud rates even at -4 dB SNR.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Dual-Stage Frequency Tracking: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Coarse FFT peak finding combined with closed-loop Costas loop and Gardner TED eliminates carrier and symbol clock drift.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Galois Field GF(2) Rank Solver: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Gauss-Jordan matrix elimination analyzes bit dependencies across candidate strides, blindly identifying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depth in &lt;1.2s.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F172A"/>
                </a:solidFill>
                <a:latin typeface="Times New Roman"/>
              </a:rPr>
              <a:t>• Memory-Mapped Streaming (</a:t>
            </a:r>
            <a:r>
              <a:rPr sz="1200" b="1" dirty="0" err="1">
                <a:solidFill>
                  <a:srgbClr val="0F172A"/>
                </a:solidFill>
                <a:latin typeface="Times New Roman"/>
              </a:rPr>
              <a:t>np.memmap</a:t>
            </a:r>
            <a:r>
              <a:rPr sz="1200" b="1" dirty="0">
                <a:solidFill>
                  <a:srgbClr val="0F172A"/>
                </a:solidFill>
                <a:latin typeface="Times New Roman"/>
              </a:rPr>
              <a:t>):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Chunked FFT and polyphase decimation process arbitrary file sizes with flat &lt;300 MB RAM consumption.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EE8CC6-2195-C42A-4C3D-ED0D5F9E4D85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F65C7-6E38-711E-BFDB-6D8E5F091E7B}"/>
              </a:ext>
            </a:extLst>
          </p:cNvPr>
          <p:cNvSpPr txBox="1"/>
          <p:nvPr/>
        </p:nvSpPr>
        <p:spPr>
          <a:xfrm>
            <a:off x="11399518" y="6497605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Times New Roman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76F1E0-059C-B790-AD59-A523EAF3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66300"/>
            <a:ext cx="12191999" cy="3927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294B18E-52DE-EC9E-EE37-CB609498B426}"/>
              </a:ext>
            </a:extLst>
          </p:cNvPr>
          <p:cNvSpPr txBox="1">
            <a:spLocks/>
          </p:cNvSpPr>
          <p:nvPr/>
        </p:nvSpPr>
        <p:spPr>
          <a:xfrm>
            <a:off x="10637520" y="6444921"/>
            <a:ext cx="1371600" cy="36576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GB" sz="1000" b="1" dirty="0">
                <a:solidFill>
                  <a:srgbClr val="FFFFFF"/>
                </a:solidFill>
                <a:latin typeface="Times New Roman"/>
              </a:rPr>
              <a:t>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41B954A0-2DD1-4984-0DD0-13C64C77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5559" y="6452845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788656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37760" y="1280160"/>
            <a:ext cx="2395728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892040" y="1234440"/>
            <a:ext cx="239572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937760" y="1298448"/>
            <a:ext cx="23042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Times New Roman"/>
              </a:rPr>
              <a:t>SDG GOALS</a:t>
            </a:r>
          </a:p>
        </p:txBody>
      </p:sp>
      <p:pic>
        <p:nvPicPr>
          <p:cNvPr id="17413" name="Picture 17412" descr="sdg_9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64208"/>
            <a:ext cx="1554480" cy="15544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37760" y="3246120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9: Industry, Innovation
&amp; Infrastructure</a:t>
            </a:r>
          </a:p>
        </p:txBody>
      </p:sp>
      <p:pic>
        <p:nvPicPr>
          <p:cNvPr id="17415" name="Picture 17414" descr="sdg_16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611880"/>
            <a:ext cx="1554480" cy="1554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37760" y="5193792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16: Peace, Justice
&amp; Strong Institutions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5532120"/>
            <a:ext cx="23042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75569"/>
                </a:solidFill>
                <a:latin typeface="Times New Roman"/>
              </a:rPr>
              <a:t>Relevance: Sovereign Deep-Tech &amp;
National Defense Infrastructure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1325880"/>
            <a:ext cx="3931920" cy="15004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chemeClr val="tx2"/>
                </a:solidFill>
                <a:latin typeface="Times New Roman"/>
              </a:rPr>
              <a:t>Direct Targeted Users</a:t>
            </a:r>
            <a:r>
              <a:rPr lang="en-GB" b="1" dirty="0">
                <a:solidFill>
                  <a:schemeClr val="tx2"/>
                </a:solidFill>
                <a:latin typeface="Times New Roman"/>
              </a:rPr>
              <a:t>:</a:t>
            </a:r>
            <a:endParaRPr b="1" dirty="0">
              <a:solidFill>
                <a:schemeClr val="tx2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Primary Core: </a:t>
            </a:r>
            <a:r>
              <a:rPr sz="1200" dirty="0">
                <a:latin typeface="Times New Roman"/>
              </a:rPr>
              <a:t>NTRO signal intelligence analysts requiring automated, real-time RF triage capabilities.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Tactical Forces: </a:t>
            </a:r>
            <a:r>
              <a:rPr sz="1200" dirty="0">
                <a:latin typeface="Times New Roman"/>
              </a:rPr>
              <a:t>Frontline Tri-Services Electronic Warfare (EW) battalions across the Indian Army, Navy, and Air Force.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Strategic Agencies: </a:t>
            </a:r>
            <a:r>
              <a:rPr sz="1200" dirty="0">
                <a:latin typeface="Times New Roman"/>
              </a:rPr>
              <a:t>Indian Coast Guard for coastal SIGINT, and ISRO Space Operations for satellite telemetry analysis.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434072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7388352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7525512" y="1325880"/>
            <a:ext cx="3931920" cy="1869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chemeClr val="tx2"/>
                </a:solidFill>
                <a:latin typeface="Times New Roman"/>
              </a:rPr>
              <a:t>Strategic Benefits</a:t>
            </a:r>
            <a:r>
              <a:rPr lang="en-GB" b="1" dirty="0">
                <a:solidFill>
                  <a:schemeClr val="tx2"/>
                </a:solidFill>
                <a:latin typeface="Times New Roman"/>
              </a:rPr>
              <a:t>:</a:t>
            </a:r>
            <a:endParaRPr b="1" dirty="0">
              <a:solidFill>
                <a:schemeClr val="tx2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 dirty="0">
                <a:latin typeface="Times New Roman"/>
              </a:rPr>
              <a:t>Total Autonomy: </a:t>
            </a:r>
            <a:r>
              <a:rPr sz="1200" dirty="0">
                <a:latin typeface="Times New Roman"/>
              </a:rPr>
              <a:t>Complete sovereign control of vital electronic intelligence software without foreign dependencies.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Zero-Day Triage: </a:t>
            </a:r>
            <a:r>
              <a:rPr sz="1200" dirty="0">
                <a:latin typeface="Times New Roman"/>
              </a:rPr>
              <a:t>Instantly identifies lethal frequency-hopping jammers and covert hostile waveforms in under 100 milliseconds.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Economic Dominance: </a:t>
            </a:r>
            <a:r>
              <a:rPr sz="1200" dirty="0">
                <a:latin typeface="Times New Roman"/>
              </a:rPr>
              <a:t>Projected massive annual savings of ₹18+ Crores by terminating expensive Western proprietary toolchain licenses.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731520" y="3840479"/>
            <a:ext cx="3931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chemeClr val="tx2"/>
                </a:solidFill>
                <a:latin typeface="Times New Roman"/>
              </a:rPr>
              <a:t>Strategic Impacts</a:t>
            </a:r>
            <a:r>
              <a:rPr lang="en-GB" b="1" dirty="0">
                <a:solidFill>
                  <a:schemeClr val="tx2"/>
                </a:solidFill>
                <a:latin typeface="Times New Roman"/>
              </a:rPr>
              <a:t>:</a:t>
            </a:r>
            <a:endParaRPr b="1" dirty="0">
              <a:solidFill>
                <a:schemeClr val="tx2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 dirty="0">
                <a:latin typeface="Times New Roman"/>
              </a:rPr>
              <a:t>100x Efficiency Surge: </a:t>
            </a:r>
            <a:r>
              <a:rPr sz="1200" dirty="0">
                <a:latin typeface="Times New Roman"/>
              </a:rPr>
              <a:t>Accelerates human signal triage operations by orders of magnitude, turning 45-minute chores into 1.2-second scans.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Cognitive Relief: </a:t>
            </a:r>
            <a:r>
              <a:rPr sz="1200" dirty="0">
                <a:latin typeface="Times New Roman"/>
              </a:rPr>
              <a:t>Slashes 94% of manual waterfall parameter hunting, allowing analysts to focus on high-level adversarial threat tactics.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Forensic Ledger</a:t>
            </a:r>
            <a:r>
              <a:rPr sz="1200" b="1" dirty="0">
                <a:solidFill>
                  <a:srgbClr val="1E3A8A"/>
                </a:solidFill>
                <a:latin typeface="Times New Roman"/>
              </a:rPr>
              <a:t>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Yields cryptographically signed SHA-256 evidence dossiers, solidifying strategic defense intelligence records.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434072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7388352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7525512" y="3840479"/>
            <a:ext cx="3931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chemeClr val="tx2"/>
                </a:solidFill>
                <a:latin typeface="Times New Roman"/>
              </a:rPr>
              <a:t>Social and Economic Benefits</a:t>
            </a:r>
            <a:r>
              <a:rPr lang="en-GB" b="1" dirty="0">
                <a:solidFill>
                  <a:schemeClr val="tx2"/>
                </a:solidFill>
                <a:latin typeface="Times New Roman"/>
              </a:rPr>
              <a:t>:</a:t>
            </a:r>
            <a:endParaRPr b="1" dirty="0">
              <a:solidFill>
                <a:schemeClr val="tx2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Impenetrable Security: </a:t>
            </a:r>
            <a:r>
              <a:rPr sz="1200" dirty="0">
                <a:latin typeface="Times New Roman"/>
              </a:rPr>
              <a:t>Fortifies the nation's borders and communication lifelines against catastrophic foreign cyber and electronic warfare.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Financial Efficiency: </a:t>
            </a:r>
            <a:r>
              <a:rPr sz="1200" dirty="0">
                <a:latin typeface="Times New Roman"/>
              </a:rPr>
              <a:t>The open-architecture platform amortizes development deployment costs in less than 30 days due to zero licensing fees.</a:t>
            </a:r>
          </a:p>
          <a:p>
            <a:pPr>
              <a:spcBef>
                <a:spcPts val="250"/>
              </a:spcBef>
            </a:pPr>
            <a:r>
              <a:rPr sz="1200" b="1" dirty="0">
                <a:latin typeface="Times New Roman"/>
              </a:rPr>
              <a:t>• Edge Deployment: </a:t>
            </a:r>
            <a:r>
              <a:rPr sz="1200" dirty="0">
                <a:latin typeface="Times New Roman"/>
              </a:rPr>
              <a:t>Ultra-efficient algorithms run natively on field-deployed laptops, averting the need for massive, power-hungry server farms.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8600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 dirty="0">
                <a:solidFill>
                  <a:srgbClr val="0F172A"/>
                </a:solidFill>
                <a:latin typeface="Times New Roman"/>
              </a:rPr>
              <a:t>Research and </a:t>
            </a:r>
            <a:r>
              <a:rPr lang="en-GB" sz="2400" b="1" dirty="0">
                <a:solidFill>
                  <a:srgbClr val="0F172A"/>
                </a:solidFill>
                <a:latin typeface="Times New Roman"/>
              </a:rPr>
              <a:t>References</a:t>
            </a:r>
            <a:endParaRPr sz="2400" b="1" dirty="0">
              <a:solidFill>
                <a:srgbClr val="0F172A"/>
              </a:solidFill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28600"/>
            <a:ext cx="20116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sz="1500" b="0">
                <a:solidFill>
                  <a:srgbClr val="0F172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Times New Roman"/>
              </a:rPr>
              <a:t>6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6089904" y="1143000"/>
            <a:ext cx="0" cy="534924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365760" y="2880360"/>
            <a:ext cx="11338560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365760" y="4709160"/>
            <a:ext cx="11338560" cy="0"/>
          </a:xfrm>
          <a:prstGeom prst="line">
            <a:avLst/>
          </a:prstGeom>
          <a:ln w="17780">
            <a:solidFill>
              <a:srgbClr val="F472B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365760" y="1097280"/>
            <a:ext cx="557784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Gap &amp; Problem Identification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Manual Triage Bottleneck: Traditional waterfall inspection in GNU Radio/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inspectrum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takes 30–45 mins per intercept and fails below 0 dB SNR.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[IEEE MILCOM '23]</a:t>
            </a: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Baseband Data Deluge: Modern SDRs capture &gt;10 GB/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hr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; manual SIGINT operators analyze &lt;5% of intercepted spectrum files.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[DRDO EW Tech Report]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2971800"/>
            <a:ext cx="55778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Literature Survey &amp; Competitive Analysis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Blind Modulation Classification: Swami &amp; Sadler proved 4th/6th order cumulants provide optimal blind separation of M-PSK &amp; M-QAM without CSI.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[IEEE Trans. Sig. Proc. Vol 48]</a:t>
            </a: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Deep Learning in Low SNR: O'Shea et al. verified 1D-ResNet neural architectures outperform traditional thresholding under severe multipath.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[IEEE Trans. Cog. Comm '18]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65760" y="4800600"/>
            <a:ext cx="557784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Technology Benchmarking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Execution Speedup: SPECTRA extracts parameters from a 10s 20 MSPS .IQ capture in 1.18 seconds vs. 38 mins manual inspection (&gt;1900x triage speedup).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[Internal Benchmark]</a:t>
            </a: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Modulation Accuracy: Achieves 98.4% accuracy across 11 modulation schemes (BPSK, QPSK, 8PSK, 16QAM, 64QAM, FSK, MSK, OFDM) down to -4 dB SNR.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[Accuracy Matrix]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09360" y="1097280"/>
            <a:ext cx="53949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Economic &amp; Strategic Landscape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Market Expansion: Global COMINT/SIGINT market reaching $22.4B by 2028 (CAGR 6.8%); Indian procurement prioritized under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iDEX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and Make-II schemes.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</a:t>
            </a:r>
            <a:r>
              <a:rPr sz="1200" u="sng" dirty="0" err="1">
                <a:solidFill>
                  <a:srgbClr val="1D4ED8"/>
                </a:solidFill>
                <a:latin typeface="Times New Roman"/>
              </a:rPr>
              <a:t>MarketsandMarkets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 2023]</a:t>
            </a: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Cost Advantage: Commercial suites (Keysight/R&amp;S) cost $65,000+ per workstation license; SPECTRA delivers zero licensing cost for national defense agencies.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[Pricing Analytic</a:t>
            </a:r>
            <a:r>
              <a:rPr lang="en-GB" sz="1200" u="sng" dirty="0">
                <a:solidFill>
                  <a:srgbClr val="1D4ED8"/>
                </a:solidFill>
                <a:latin typeface="Times New Roman"/>
              </a:rPr>
              <a:t>s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]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309360" y="2971800"/>
            <a:ext cx="5394960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Simulation Results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Extensive Dataset Validation: Evaluated across 5,000+ synthetic .IQ files and real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HackRF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/RTL-SDR captures with carrier drift up to ±50 kHz.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</a:t>
            </a:r>
            <a:r>
              <a:rPr sz="1200" u="sng" dirty="0" err="1">
                <a:solidFill>
                  <a:srgbClr val="1D4ED8"/>
                </a:solidFill>
                <a:latin typeface="Times New Roman"/>
              </a:rPr>
              <a:t>RadioML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 2018.01A]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09360" y="4800600"/>
            <a:ext cx="53949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Policy &amp; Ecosystem Analysis</a:t>
            </a:r>
            <a:r>
              <a:rPr lang="en-GB" b="1" dirty="0">
                <a:solidFill>
                  <a:srgbClr val="1E3A8A"/>
                </a:solidFill>
                <a:latin typeface="Times New Roman"/>
              </a:rPr>
              <a:t>:</a:t>
            </a:r>
            <a:endParaRPr b="1" dirty="0">
              <a:solidFill>
                <a:srgbClr val="1E3A8A"/>
              </a:solidFill>
              <a:latin typeface="Times New Roman"/>
            </a:endParaRP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Defense Acquisition Procedure (DAP 2020): Mandates Buy (Indian-IDDM) priority for electronic intelligence, defense communications, and signal analysis software.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[MoD DAP 2020]</a:t>
            </a:r>
          </a:p>
          <a:p>
            <a:pPr>
              <a:spcBef>
                <a:spcPts val="25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National Sovereign Security: Strictly adheres to national air-gapped guidelines, preventing classified intercepted basebands from exposure to external cloud APIs. </a:t>
            </a:r>
            <a:r>
              <a:rPr sz="1200" u="sng" dirty="0">
                <a:solidFill>
                  <a:srgbClr val="1D4ED8"/>
                </a:solidFill>
                <a:latin typeface="Times New Roman"/>
              </a:rPr>
              <a:t>[NCIIPC Guidelines]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6FB1E25-1670-1E81-A971-8007CE37A7DD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ED220-65DF-BD18-619A-7A457E88671C}"/>
              </a:ext>
            </a:extLst>
          </p:cNvPr>
          <p:cNvSpPr txBox="1"/>
          <p:nvPr/>
        </p:nvSpPr>
        <p:spPr>
          <a:xfrm>
            <a:off x="11399518" y="6497605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Times New Roman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71769-0B72-C898-78A2-4CB0EEFE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66300"/>
            <a:ext cx="12191999" cy="3927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43BCD04-C697-6111-0BA7-69470DE10D91}"/>
              </a:ext>
            </a:extLst>
          </p:cNvPr>
          <p:cNvSpPr txBox="1">
            <a:spLocks/>
          </p:cNvSpPr>
          <p:nvPr/>
        </p:nvSpPr>
        <p:spPr>
          <a:xfrm>
            <a:off x="10637520" y="6444921"/>
            <a:ext cx="1371600" cy="36576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GB" sz="1000" b="1" dirty="0">
                <a:solidFill>
                  <a:srgbClr val="FFFFFF"/>
                </a:solidFill>
                <a:latin typeface="Times New Roman"/>
              </a:rPr>
              <a:t>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673936-FC90-3E6B-1327-3E6B9AAE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5559" y="6452845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A568A-8210-5585-78BA-9D1A91B63123}"/>
              </a:ext>
            </a:extLst>
          </p:cNvPr>
          <p:cNvSpPr txBox="1"/>
          <p:nvPr/>
        </p:nvSpPr>
        <p:spPr>
          <a:xfrm>
            <a:off x="6309360" y="381762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F172A"/>
                </a:solidFill>
                <a:latin typeface="Times New Roman"/>
              </a:rPr>
              <a:t>Resilience Testing: Demonstrated robust Viterbi decoding even with 15% bit error rates (BER) induced by simulated AWGN and fading.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7670</TotalTime>
  <Words>1846</Words>
  <Application>Microsoft Office PowerPoint</Application>
  <PresentationFormat>Widescreen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SPECTRA: Automated Cognitive .IQ &amp; .wav Signal Analyzer with Blind Parameter Extraction &amp; Demodulation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164</cp:revision>
  <dcterms:created xsi:type="dcterms:W3CDTF">2013-12-12T18:46:50Z</dcterms:created>
  <dcterms:modified xsi:type="dcterms:W3CDTF">2026-09-24T14:27:25Z</dcterms:modified>
  <cp:category/>
</cp:coreProperties>
</file>