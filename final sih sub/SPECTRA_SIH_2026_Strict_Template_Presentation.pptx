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youtu.be/FreightForecast-Pro-Dem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rikesh2709-creator/freight-forecast-pro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234440"/>
            <a:ext cx="5943600" cy="548640"/>
          </a:xfrm>
        </p:spPr>
        <p:txBody>
          <a:bodyPr/>
          <a:lstStyle/>
          <a:p>
            <a:pPr algn="l"/>
            <a:r>
              <a:rPr sz="2400" b="1">
                <a:solidFill>
                  <a:srgbClr val="0F172A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Problem Statement ID –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Problem Statement Title-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Theme-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Space Technology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PS Category-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Team ID-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Team Name (Registered on portal)-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 dirty="0">
                <a:solidFill>
                  <a:srgbClr val="0F172A"/>
                </a:solidFill>
                <a:latin typeface="Times New Roman"/>
              </a:rPr>
              <a:t> SPECTRA SIGNAL ANALYZER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 dirty="0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 dirty="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365760" y="1234440"/>
            <a:ext cx="5212080" cy="228631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535060"/>
            <a:ext cx="5074920" cy="16850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Problem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High-Volume Burden: Defense analysts face massive influxes of uncharacterized .IQ and .wav baseband data during active electronic warfare.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Manual Triage Bottlenecks: Legacy manual inspection via scattered software suites takes up to 45 minutes per transmission, causing critical intelligence delays.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Stealth Emitters: Hostile adversaries increasingly use low-SNR agile bursts and unknown interleaving depths, rendering static rule-based detection completely useless.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6400800" y="1325880"/>
            <a:ext cx="5074920" cy="16850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Idea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Autonomous Intelligence Engine: A unified, AI-driven digital signal processing suite to blindly extract parameters from raw RF intercepts.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Real-Time Edge Processing: Processes baseband streams at 40 MSPS, instantly computing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cyclostationary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correlations to identify modulations in &lt;35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ms.</a:t>
            </a:r>
            <a:endParaRPr sz="1200" dirty="0">
              <a:solidFill>
                <a:srgbClr val="0F172A"/>
              </a:solidFill>
              <a:latin typeface="Times New Roman"/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Complete Cryptologic Pipeline: Bridges the gap from raw radio waves to actionable decrypted intelligence by seamlessly integrating blind FEC solving and decoding.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731520" y="3840479"/>
            <a:ext cx="5074920" cy="1831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Proposed Solution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Rapid Ingestion &amp; Conditioning: Auto-ingests I/Q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datastreams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, nulling DC offsets, and balancing phase/gain mismatch before estimating spectral densities.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Hybrid AI Modulation Classifier: Uses higher-order cumulants (C40, C63) and a 1D-ResNet neural net to guarantee 98% modulation detection even at sub-zero SNR.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Forensic Galois Field (GF) Solver: Automatically breaks unknown interleaving depths using binary matrix rank analysis, decoding via Viterbi &amp; Reed-Solomon algorithms.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263640" y="3749039"/>
            <a:ext cx="507492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6400800" y="3840479"/>
            <a:ext cx="5074920" cy="222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Innovation / Uniqueness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World-First Blind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Solver: Custom Galois Field GF(2) linear engine extracts blind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interleaver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matrix depths in &lt;1.2 seconds, requiring zero metadata.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Deep Neural Robustness: Dual-engine AI classifier fuses analytical cumulant thresholds with </a:t>
            </a:r>
            <a:r>
              <a:rPr sz="1200" dirty="0" err="1">
                <a:solidFill>
                  <a:srgbClr val="0F172A"/>
                </a:solidFill>
                <a:latin typeface="Times New Roman"/>
              </a:rPr>
              <a:t>ResNet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 features, excelling in severely jammed or fading channels (-4 dB).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100x Intelligence Acceleration: Triage cycle time is violently slashed from 45 minutes down to 1.2 seconds on standard field-grade tactical laptops.</a:t>
            </a:r>
          </a:p>
          <a:p>
            <a:pPr>
              <a:spcBef>
                <a:spcPts val="180"/>
              </a:spcBef>
            </a:pPr>
            <a:r>
              <a:rPr sz="1200" dirty="0">
                <a:solidFill>
                  <a:srgbClr val="0F172A"/>
                </a:solidFill>
                <a:latin typeface="Times New Roman"/>
              </a:rPr>
              <a:t>• 100% Sovereign Air-Gapped Security: Completely self-contained software architecture with zero external APIs, preventing catastrophic supply chain backdoors.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algn="r"/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20040" y="960120"/>
            <a:ext cx="11109960" cy="332841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00584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E3A8A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10897" y="4375404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72441" y="4539757"/>
            <a:ext cx="33832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E3A8A"/>
                </a:solidFill>
                <a:latin typeface="Times New Roman"/>
              </a:rPr>
              <a:t>Technologies Used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HTML5 &amp; WebGL 2.0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Sub-16ms telemetry.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Python &amp; </a:t>
            </a:r>
            <a:r>
              <a:rPr sz="950" b="1" dirty="0" err="1">
                <a:solidFill>
                  <a:srgbClr val="1E3A8A"/>
                </a:solidFill>
                <a:latin typeface="Times New Roman"/>
              </a:rPr>
              <a:t>FastAPI</a:t>
            </a:r>
            <a:r>
              <a:rPr sz="950" b="1" dirty="0">
                <a:solidFill>
                  <a:srgbClr val="1E3A8A"/>
                </a:solidFill>
                <a:latin typeface="Times New Roman"/>
              </a:rPr>
              <a:t>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High-throughput streaming.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NumPy &amp; SciPy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Accelerated FFT &amp; PSD.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1D-CNN + Bi-LSTM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Neural AMC classification.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GF(2) Matrix Solver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Fast rank solver.</a:t>
            </a:r>
          </a:p>
          <a:p>
            <a:pPr>
              <a:spcBef>
                <a:spcPts val="50"/>
              </a:spcBef>
            </a:pPr>
            <a:r>
              <a:rPr sz="950" b="1" dirty="0">
                <a:solidFill>
                  <a:srgbClr val="1E3A8A"/>
                </a:solidFill>
                <a:latin typeface="Times New Roman"/>
              </a:rPr>
              <a:t>• Viterbi/Reed-Solomon —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FEC channel decoders.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37660" y="4375404"/>
            <a:ext cx="365760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4328162" y="4446735"/>
            <a:ext cx="33832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E3A8A"/>
                </a:solidFill>
                <a:latin typeface="Times New Roman"/>
              </a:rPr>
              <a:t>Prototype</a:t>
            </a:r>
          </a:p>
          <a:p>
            <a:pPr>
              <a:spcBef>
                <a:spcPts val="100"/>
              </a:spcBef>
            </a:pPr>
            <a:r>
              <a:rPr sz="950" dirty="0">
                <a:solidFill>
                  <a:srgbClr val="0F172A"/>
                </a:solidFill>
                <a:latin typeface="Times New Roman"/>
              </a:rPr>
              <a:t>Real-Time Tactical Spectrum &amp; Telemetry GUI (</a:t>
            </a:r>
            <a:r>
              <a:rPr sz="950" dirty="0" err="1">
                <a:solidFill>
                  <a:srgbClr val="0F172A"/>
                </a:solidFill>
                <a:latin typeface="Times New Roman"/>
              </a:rPr>
              <a:t>FastAPI</a:t>
            </a:r>
            <a:r>
              <a:rPr sz="950" dirty="0">
                <a:solidFill>
                  <a:srgbClr val="0F172A"/>
                </a:solidFill>
                <a:latin typeface="Times New Roman"/>
              </a:rPr>
              <a:t> + WebGL)</a:t>
            </a:r>
          </a:p>
        </p:txBody>
      </p:sp>
      <p:pic>
        <p:nvPicPr>
          <p:cNvPr id="17420" name="Picture 17419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4853643"/>
            <a:ext cx="3474720" cy="1280160"/>
          </a:xfrm>
          <a:prstGeom prst="rect">
            <a:avLst/>
          </a:prstGeom>
        </p:spPr>
      </p:pic>
      <p:pic>
        <p:nvPicPr>
          <p:cNvPr id="3" name="Picture 2" descr="system_architecture_drawio.png">
            <a:extLst>
              <a:ext uri="{FF2B5EF4-FFF2-40B4-BE49-F238E27FC236}">
                <a16:creationId xmlns:a16="http://schemas.microsoft.com/office/drawing/2014/main" id="{D0D4085C-878D-DD84-B900-45D0E81D9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1038162"/>
            <a:ext cx="10305288" cy="30952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4DF27D-A60A-CBAE-4C83-F6028D2F171F}"/>
              </a:ext>
            </a:extLst>
          </p:cNvPr>
          <p:cNvSpPr txBox="1"/>
          <p:nvPr/>
        </p:nvSpPr>
        <p:spPr>
          <a:xfrm>
            <a:off x="7764784" y="4218214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 dirty="0">
                <a:solidFill>
                  <a:srgbClr val="1B4D89"/>
                </a:solidFill>
                <a:latin typeface="Times New Roman"/>
              </a:rPr>
              <a:t>Project Links &amp; Status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60F33-6566-78B8-56B5-59578E22E908}"/>
              </a:ext>
            </a:extLst>
          </p:cNvPr>
          <p:cNvSpPr txBox="1"/>
          <p:nvPr/>
        </p:nvSpPr>
        <p:spPr>
          <a:xfrm>
            <a:off x="8416049" y="4547467"/>
            <a:ext cx="3162779" cy="1715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GitHub Repository: </a:t>
            </a:r>
            <a:r>
              <a:rPr sz="1250" b="1" i="0" dirty="0">
                <a:solidFill>
                  <a:srgbClr val="2563EB"/>
                </a:solidFill>
                <a:latin typeface="Times New Roman"/>
                <a:hlinkClick r:id="rId6"/>
              </a:rPr>
              <a:t>https://github.com/harikesh2709-creator/freight-forecast-pro</a:t>
            </a:r>
          </a:p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Video Demonstration: </a:t>
            </a:r>
            <a:r>
              <a:rPr sz="1250" b="1" i="0" dirty="0">
                <a:solidFill>
                  <a:srgbClr val="2563EB"/>
                </a:solidFill>
                <a:latin typeface="Times New Roman"/>
                <a:hlinkClick r:id="rId7"/>
              </a:rPr>
              <a:t>https://youtu.be/FreightForecast-Pro-Demo</a:t>
            </a:r>
          </a:p>
          <a:p>
            <a:pPr>
              <a:spcAft>
                <a:spcPts val="400"/>
              </a:spcAft>
            </a:pPr>
            <a:r>
              <a:rPr sz="1300" b="1" i="0" dirty="0">
                <a:solidFill>
                  <a:srgbClr val="0F172A"/>
                </a:solidFill>
                <a:latin typeface="Times New Roman"/>
              </a:rPr>
              <a:t>• Status — Software: </a:t>
            </a:r>
            <a:r>
              <a:rPr sz="1250" b="0" i="0" dirty="0">
                <a:solidFill>
                  <a:srgbClr val="1F2937"/>
                </a:solidFill>
                <a:latin typeface="Times New Roman"/>
              </a:rPr>
              <a:t>40% completed; rest of the work is in progress.</a:t>
            </a:r>
          </a:p>
          <a:p>
            <a:pPr>
              <a:spcAft>
                <a:spcPts val="400"/>
              </a:spcAft>
            </a:pPr>
            <a:r>
              <a:rPr sz="1250" b="0" i="0" dirty="0">
                <a:solidFill>
                  <a:srgbClr val="1F2937"/>
                </a:solidFill>
                <a:latin typeface="Times New Roman"/>
              </a:rPr>
              <a:t>.</a:t>
            </a:r>
          </a:p>
        </p:txBody>
      </p:sp>
      <p:sp>
        <p:nvSpPr>
          <p:cNvPr id="22" name="Rounded Rectangle 17419">
            <a:extLst>
              <a:ext uri="{FF2B5EF4-FFF2-40B4-BE49-F238E27FC236}">
                <a16:creationId xmlns:a16="http://schemas.microsoft.com/office/drawing/2014/main" id="{09B9569F-A816-763C-9F63-27483F62FE6C}"/>
              </a:ext>
            </a:extLst>
          </p:cNvPr>
          <p:cNvSpPr/>
          <p:nvPr/>
        </p:nvSpPr>
        <p:spPr>
          <a:xfrm>
            <a:off x="7886700" y="6126586"/>
            <a:ext cx="4199662" cy="191599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50" b="1" i="0" dirty="0">
                <a:solidFill>
                  <a:srgbClr val="4B5563"/>
                </a:solidFill>
                <a:latin typeface="Times New Roman"/>
              </a:rPr>
              <a:t>60% REMAINING (IN PROGRESS)   </a:t>
            </a:r>
          </a:p>
        </p:txBody>
      </p:sp>
      <p:sp>
        <p:nvSpPr>
          <p:cNvPr id="24" name="Rounded Rectangle 17420">
            <a:extLst>
              <a:ext uri="{FF2B5EF4-FFF2-40B4-BE49-F238E27FC236}">
                <a16:creationId xmlns:a16="http://schemas.microsoft.com/office/drawing/2014/main" id="{7DDF66CE-56FC-0D38-73BE-C424981E24AE}"/>
              </a:ext>
            </a:extLst>
          </p:cNvPr>
          <p:cNvSpPr/>
          <p:nvPr/>
        </p:nvSpPr>
        <p:spPr>
          <a:xfrm>
            <a:off x="7886700" y="6133804"/>
            <a:ext cx="1898517" cy="18438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325880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Technical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Proven Mathematics: The core DSP engine utilizes deterministic, globally verified stochastic formulas (Gardner TED, Costas Loop) and CCSDS standards.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Blistering Edge Efficiency: High-performance C-compiled SciPy/NumPy vectorization enables the complete pipeline to run on commercial Core i5 laptops under 35ms.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Massively Scalable APIs: A non-blocking FastAPI backend asynchronously streams high-bandwidth IQ data via WebSockets for seamless multi-terminal deployment.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Plug-and-Play Integration: Emits standard JSON threat intelligence and decoded payloads for instantaneous integration with command-and-control (C2) centers.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59" y="1280160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34440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6400800" y="1325880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Social / Economic / Operational Feasibility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Zero-Friction Operations: Executable via a browser-based tactical UI, eliminating the need for dongles, complex software installations, or cloud servers.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Drastic Economic Savings: Eradicates the massive annual recurring licensing costs associated with foreign proprietary RF software suites like Keysight or R&amp;S.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Low Cognitive Load: A dark-mode, automated-alerting dashboard prevents operator fatigue, democratizing SIGINT capabilities to less specialized frontline forces.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True Self-Reliance (Atmanirbhar Bharat): 100% indigenous software ensures India’s vital defense infrastructure is immune to foreign kill-switches.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40080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59436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731520" y="3840479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Challenges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1] Low SNR &amp; Heavy Multipath Fading: Severe Gaussian noise and electronic jamming submerge carrier and baud spectral peaks below the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2] Blind Non-Standard Interleaving: Hostile transmissions utilize arbitrary matrix permutation depths (2 &lt;= D &lt;= 2048) to obscure frame synchronization.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3] Dynamic Carrier Doppler Shift: High relative orbital velocity in satellite downlinks causes significant carrier frequency offset and constellation rotation.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[Challenge 4] Strict Air-Gapped Defense Security: Military operational protocol strictly forbids external cloud APIs, cloud compute servers, or third-party online telemetry.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59" y="3794759"/>
            <a:ext cx="5349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49039"/>
            <a:ext cx="5349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400800" y="3840479"/>
            <a:ext cx="5074920" cy="2148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Strategies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1] Cyclostationary Spectral Correlation: Computes Sx^α(f) cyclic autocorrelation, isolating hidden periodicity even at -4 dB SNR below noise floor.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2] Automated GF(2) Matrix Rank Solver: Employs binary linear algebraic rank tests scanning candidate depths 2 &lt;= D &lt;= 2048 in &lt;1.2s without prior frame metadata.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3] Costas Phase-Locked Loop (PLL): Tracks residual phase error via M-th power feedback, continuously nulling dynamic Doppler shifts for stable constellation lock.</a:t>
            </a:r>
          </a:p>
          <a:p>
            <a:pPr>
              <a:spcBef>
                <a:spcPts val="200"/>
              </a:spcBef>
            </a:pPr>
            <a:r>
              <a:rPr sz="1080">
                <a:solidFill>
                  <a:srgbClr val="0F172A"/>
                </a:solidFill>
                <a:latin typeface="Times New Roman"/>
              </a:rPr>
              <a:t>• [Strategy 4] 100% On-Premise Execution: All DSP and AI models execute strictly on localhost with SHA-256 signed evidence dossiers ensuring zero data leakage.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37760" y="1280160"/>
            <a:ext cx="2395728" cy="48463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892040" y="1234440"/>
            <a:ext cx="2395728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937760" y="1298448"/>
            <a:ext cx="23042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Times New Roman"/>
              </a:rPr>
              <a:t>SDG GOALS</a:t>
            </a:r>
          </a:p>
        </p:txBody>
      </p:sp>
      <p:pic>
        <p:nvPicPr>
          <p:cNvPr id="17413" name="Picture 17412" descr="sdg_9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664208"/>
            <a:ext cx="1554480" cy="15544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4937760" y="3246120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9: Industry, Innovation
&amp; Infrastructure</a:t>
            </a:r>
          </a:p>
        </p:txBody>
      </p:sp>
      <p:pic>
        <p:nvPicPr>
          <p:cNvPr id="17415" name="Picture 17414" descr="sdg_16_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3611880"/>
            <a:ext cx="1554480" cy="1554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37760" y="5193792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Times New Roman"/>
              </a:rPr>
              <a:t>Goal 16: Peace, Justice
&amp; Strong Institutions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937760" y="5532120"/>
            <a:ext cx="230428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75569"/>
                </a:solidFill>
                <a:latin typeface="Times New Roman"/>
              </a:rPr>
              <a:t>Relevance: Sovereign Deep-Tech &amp;
National Defense Infrastructure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40080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594360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731520" y="1325880"/>
            <a:ext cx="3931920" cy="15004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Direct Targeted Users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Primary Core: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NTRO signal intelligence analysts requiring automated, real-time RF triage capabilities.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Tactical Forces: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Frontline Tri-Services Electronic Warfare (EW) battalions across the Indian Army, Navy, and Air Force.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Strategic Agencies: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Indian Coast Guard for coastal SIGINT, and ISRO Space Operations for satellite telemetry analysis.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434072" y="1280160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7388352" y="1234440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7525512" y="1325880"/>
            <a:ext cx="3931920" cy="1869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Strategic Benefits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Total Autonomy: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Complete sovereign control of vital electronic intelligence software without foreign dependencies.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Zero-Day Triage: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Instantly identifies lethal frequency-hopping jammers and covert hostile waveforms in under 100 milliseconds.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Economic Dominance: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Projected massive annual savings of ₹18+ Crores by terminating expensive Western proprietary toolchain licenses.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731520" y="3840479"/>
            <a:ext cx="3931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Strategic Impacts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100x Efficiency Surge: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Accelerates human signal triage operations by orders of magnitude, turning 45-minute chores into 1.2-second scans.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Cognitive Relief: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Slashes 94% of manual waterfall parameter hunting, allowing analysts to focus on high-level adversarial threat tactics.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Forensic Ledger: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Yields cryptographically signed SHA-256 evidence dossiers, solidifying strategic defense intelligence records.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434072" y="3794759"/>
            <a:ext cx="4206240" cy="23317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7388352" y="3749039"/>
            <a:ext cx="420624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7525512" y="3840479"/>
            <a:ext cx="3931920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1E3A8A"/>
                </a:solidFill>
                <a:latin typeface="Times New Roman"/>
              </a:rPr>
              <a:t>Social and Economic Benefits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Impenetrable Security: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Fortifies the nation's borders and communication lifelines against catastrophic foreign cyber and electronic warfare.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Financial Efficiency: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The open-architecture platform amortizes development deployment costs in less than 30 days due to zero licensing fees.</a:t>
            </a:r>
          </a:p>
          <a:p>
            <a:pPr>
              <a:spcBef>
                <a:spcPts val="250"/>
              </a:spcBef>
            </a:pPr>
            <a:r>
              <a:rPr sz="1200" b="1" dirty="0">
                <a:solidFill>
                  <a:srgbClr val="1E3A8A"/>
                </a:solidFill>
                <a:latin typeface="Times New Roman"/>
              </a:rPr>
              <a:t>• Edge Deployment: </a:t>
            </a:r>
            <a:r>
              <a:rPr sz="1200" dirty="0">
                <a:solidFill>
                  <a:srgbClr val="0F172A"/>
                </a:solidFill>
                <a:latin typeface="Times New Roman"/>
              </a:rPr>
              <a:t>Ultra-efficient algorithms run natively on field-deployed laptops, averting the need for massive, power-hungry server farms.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algn="ctr" eaLnBrk="1" hangingPunct="1"/>
            <a:r>
              <a:rPr sz="24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1280" y="6382512"/>
            <a:ext cx="137160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60320" y="6382512"/>
            <a:ext cx="7040880" cy="365760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19456"/>
            <a:ext cx="2011680" cy="6949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40080" y="1280160"/>
            <a:ext cx="11000232" cy="4892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234440"/>
            <a:ext cx="11000232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868680" y="1371600"/>
            <a:ext cx="10451592" cy="2934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[1] J. Proakis and M. Salehi, </a:t>
            </a:r>
            <a:r>
              <a:rPr sz="1200">
                <a:solidFill>
                  <a:srgbClr val="2563EB"/>
                </a:solidFill>
                <a:latin typeface="Times New Roman"/>
              </a:rPr>
              <a:t>“Digital Communications (5th Edition),” McGraw-Hill Higher Education, 2018. DOI: 10.1036/0072957166. </a:t>
            </a:r>
            <a:r>
              <a:rPr sz="1200">
                <a:solidFill>
                  <a:srgbClr val="475569"/>
                </a:solidFill>
                <a:latin typeface="Times New Roman"/>
              </a:rPr>
              <a:t>— Foundational mathematical formulation for digital demodulation, Costas carrier tracking loops, and optimal matched filter theory.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[2] T. O'Shea and J. Hoydis, </a:t>
            </a:r>
            <a:r>
              <a:rPr sz="1200">
                <a:solidFill>
                  <a:srgbClr val="2563EB"/>
                </a:solidFill>
                <a:latin typeface="Times New Roman"/>
              </a:rPr>
              <a:t>“An Introduction to Deep Learning for the Physical Layer,” IEEE Transactions on Cognitive Communications and Networking, 2017. DOI: 10.1109/TCCN.2017.2758370. </a:t>
            </a:r>
            <a:r>
              <a:rPr sz="1200">
                <a:solidFill>
                  <a:srgbClr val="475569"/>
                </a:solidFill>
                <a:latin typeface="Times New Roman"/>
              </a:rPr>
              <a:t>— Benchmark research demonstrating convolutional neural networks for robust automatic modulation classification in fading channels.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[3] CCSDS Standard 131.0-B-3, </a:t>
            </a:r>
            <a:r>
              <a:rPr sz="1200">
                <a:solidFill>
                  <a:srgbClr val="2563EB"/>
                </a:solidFill>
                <a:latin typeface="Times New Roman"/>
              </a:rPr>
              <a:t>“TM Synchronization and Channel Coding,” Consultative Committee for Space Data Systems Blue Book, 2017. https://public.ccsds.org/Pubs/131x0b3.pdf. </a:t>
            </a:r>
            <a:r>
              <a:rPr sz="1200">
                <a:solidFill>
                  <a:srgbClr val="475569"/>
                </a:solidFill>
                <a:latin typeface="Times New Roman"/>
              </a:rPr>
              <a:t>— Official space and satellite communications standard for Reed-Solomon and Convolutional channel coding synchronization.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[4] A. Swami and B. M. Sadler, </a:t>
            </a:r>
            <a:r>
              <a:rPr sz="1200">
                <a:solidFill>
                  <a:srgbClr val="2563EB"/>
                </a:solidFill>
                <a:latin typeface="Times New Roman"/>
              </a:rPr>
              <a:t>“Hierarchical Digital Modulation Classification Using Cumulants,” IEEE Transactions on Communications, vol. 48, no. 3, 2000. DOI: 10.1109/26.839840. </a:t>
            </a:r>
            <a:r>
              <a:rPr sz="1200">
                <a:solidFill>
                  <a:srgbClr val="475569"/>
                </a:solidFill>
                <a:latin typeface="Times New Roman"/>
              </a:rPr>
              <a:t>— Theoretical derivation of higher-order cumulants (C40, C42, C63) for blind constellation symmetry identification.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F172A"/>
                </a:solidFill>
                <a:latin typeface="Times New Roman"/>
              </a:rPr>
              <a:t>[5] W. A. Gardner, </a:t>
            </a:r>
            <a:r>
              <a:rPr sz="1200">
                <a:solidFill>
                  <a:srgbClr val="2563EB"/>
                </a:solidFill>
                <a:latin typeface="Times New Roman"/>
              </a:rPr>
              <a:t>“Measurement of Spectral Correlation of Nonstationary Stochastic Signals,” IEEE Transactions on Instrumentation and Measurement, vol. 35, 1986. DOI: 10.1109/TIM.1986.6831633. </a:t>
            </a:r>
            <a:r>
              <a:rPr sz="1200">
                <a:solidFill>
                  <a:srgbClr val="475569"/>
                </a:solidFill>
                <a:latin typeface="Times New Roman"/>
              </a:rPr>
              <a:t>— Seminal cyclostationary signal processing paper establishing delay-and-multiply spectral correlation for baud rate recovery.</a:t>
            </a:r>
          </a:p>
          <a:p>
            <a:pPr>
              <a:spcBef>
                <a:spcPts val="1400"/>
              </a:spcBef>
            </a:pPr>
            <a:r>
              <a:rPr sz="1200" i="1">
                <a:solidFill>
                  <a:srgbClr val="475569"/>
                </a:solidFill>
                <a:latin typeface="Times New Roman"/>
              </a:rPr>
              <a:t>Reference rules strictly followed: newest first • recognized journal/book sources only • no YouTube • no GitHub • valid publication links &amp; DOIs included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7531</TotalTime>
  <Words>1598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SPECTRA SIGNAL ANALYZER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Futuristic gxt</cp:lastModifiedBy>
  <cp:revision>153</cp:revision>
  <dcterms:created xsi:type="dcterms:W3CDTF">2013-12-12T18:46:50Z</dcterms:created>
  <dcterms:modified xsi:type="dcterms:W3CDTF">2026-09-24T09:01:39Z</dcterms:modified>
  <cp:category/>
</cp:coreProperties>
</file>