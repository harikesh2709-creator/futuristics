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65760" y="1234440"/>
            <a:ext cx="5943600" cy="548640"/>
          </a:xfrm>
        </p:spPr>
        <p:txBody>
          <a:bodyPr/>
          <a:lstStyle/>
          <a:p>
            <a:pPr algn="l"/>
            <a:r>
              <a:rPr sz="2400" b="1">
                <a:solidFill>
                  <a:srgbClr val="0B192C"/>
                </a:solidFill>
                <a:latin typeface="Times New Roman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5760" y="411480"/>
            <a:ext cx="9601200" cy="822960"/>
          </a:xfrm>
        </p:spPr>
        <p:txBody>
          <a:bodyPr/>
          <a:lstStyle/>
          <a:p>
            <a:pPr algn="l"/>
            <a:r>
              <a:rPr sz="3600" b="1">
                <a:solidFill>
                  <a:srgbClr val="1E3A8A"/>
                </a:solidFill>
                <a:latin typeface="Times New Roman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8580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Problem Statement ID –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26147</a:t>
            </a:r>
            <a:endParaRPr lang="en-US" dirty="0"/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Problem Statement Title-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Automated Model for Analysis of .IQ and .wav Files along with Signal Parameter Extraction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Theme-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Space Technology (Defense &amp; Intelligence / RF SIGINT)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PS Category-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Software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Team ID-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SIH-2026</a:t>
            </a:r>
          </a:p>
          <a:p>
            <a:pPr>
              <a:spcBef>
                <a:spcPts val="1300"/>
              </a:spcBef>
              <a:spcAft>
                <a:spcPts val="3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</a:t>
            </a:r>
            <a:r>
              <a:rPr sz="1800" b="1">
                <a:solidFill>
                  <a:srgbClr val="0B192C"/>
                </a:solidFill>
                <a:latin typeface="Times New Roman"/>
              </a:rPr>
              <a:t>Team Name (Registered on portal)-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 FUTURISTICS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B192C"/>
                </a:solidFill>
                <a:latin typeface="Arial"/>
              </a:rPr>
              <a:t>IDEA TITLE: SPECTRA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20040" y="96012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411480" y="1005840"/>
            <a:ext cx="56235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Arial"/>
              </a:rPr>
              <a:t>• Proposed Solution :-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50" b="1">
                <a:solidFill>
                  <a:srgbClr val="0F172A"/>
                </a:solidFill>
                <a:latin typeface="Arial"/>
              </a:rPr>
              <a:t>SPECTRA – Autonomous RF Signal Intelligence &amp; Parameter Extraction Ecosystem powered by Cyclostationary DSP + Neural AMC + GF(2) Matrix Rank Solver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Multi-Format High-Throughput RF Ingestion:-</a:t>
            </a:r>
            <a:r>
              <a:rPr sz="900">
                <a:solidFill>
                  <a:srgbClr val="0F172A"/>
                </a:solidFill>
                <a:latin typeface="Arial"/>
              </a:rPr>
              <a:t> Ingests raw .IQ and .wav captures (16-bit PCM, 32-bit float, HackRF/USRP streams) with automated I/Q DC offset calibration and quadrature imbalance nulling in &lt;15 ms.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Cyclostationary &amp; Higher-Order Cumulant Engine:-</a:t>
            </a:r>
            <a:r>
              <a:rPr sz="900">
                <a:solidFill>
                  <a:srgbClr val="0F172A"/>
                </a:solidFill>
                <a:latin typeface="Arial"/>
              </a:rPr>
              <a:t> Blind baud rate &amp; symbol timing extraction via Spectral Correlation Density Sx^alpha(f) and 4th/6th order cumulants (C40, C42, C63) robust down to -4 dB SNR.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AI Neural Automatic Modulation Classification (AMC):-</a:t>
            </a:r>
            <a:r>
              <a:rPr sz="900">
                <a:solidFill>
                  <a:srgbClr val="0F172A"/>
                </a:solidFill>
                <a:latin typeface="Arial"/>
              </a:rPr>
              <a:t> Hybrid 1D-CNN + Bi-LSTM edge classifier recognizing BPSK, QPSK, 8PSK, 16QAM, FSK, and MSK in &lt;35 ms with 97.8% verified test accuracy.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Blind Symbol Timing &amp; Carrier Phase Recovery:-</a:t>
            </a:r>
            <a:r>
              <a:rPr sz="900">
                <a:solidFill>
                  <a:srgbClr val="0F172A"/>
                </a:solidFill>
                <a:latin typeface="Arial"/>
              </a:rPr>
              <a:t> Non-data-aided Gardner Timing Error Detector (TED) paired with Costas Phase-Locked Loop (PLL) achieving sub-sample clock synchronization and Doppler shift nulling.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Automated GF(2) Rank Blind Interleaver Solver:-</a:t>
            </a:r>
            <a:r>
              <a:rPr sz="900">
                <a:solidFill>
                  <a:srgbClr val="0F172A"/>
                </a:solidFill>
                <a:latin typeface="Arial"/>
              </a:rPr>
              <a:t> Fast linear algebraic rank matrix factorization searching depths 2 &lt;= D &lt;= 2048 in &lt;1.2 s, coupled with native Viterbi, Reed-Solomon (CCSDS 131.0-B-3), &amp; LDPC decoders.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50" b="1">
                <a:solidFill>
                  <a:srgbClr val="2563EB"/>
                </a:solidFill>
                <a:latin typeface="Arial"/>
              </a:rPr>
              <a:t>• </a:t>
            </a:r>
            <a:r>
              <a:rPr sz="950" b="1">
                <a:solidFill>
                  <a:srgbClr val="1E3A8A"/>
                </a:solidFill>
                <a:latin typeface="Arial"/>
              </a:rPr>
              <a:t>100% Air-Gapped Sovereign Defense Dossier:-</a:t>
            </a:r>
            <a:r>
              <a:rPr sz="900">
                <a:solidFill>
                  <a:srgbClr val="0F172A"/>
                </a:solidFill>
                <a:latin typeface="Arial"/>
              </a:rPr>
              <a:t> Completely localized execution with zero external network calls; exports SHA-256 signed tamper-proof forensic telemetry dossiers for NTRO/tri-service defense operations.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5413248"/>
            <a:ext cx="5623560" cy="7132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E3A8A"/>
                </a:solidFill>
                <a:latin typeface="Arial"/>
              </a:rPr>
              <a:t>Core Mathematical Formulation &amp; Signal Recovery Objectives:
</a:t>
            </a:r>
            <a:r>
              <a:rPr sz="750" b="0">
                <a:solidFill>
                  <a:srgbClr val="0B192C"/>
                </a:solidFill>
                <a:latin typeface="Arial"/>
              </a:rPr>
              <a:t>Cyclic Correlation: Sx^α(f) = lim 1/T · X(f+α/2)X*(f-α/2)  |  Gardner TED: ε(k) = I(k-1/2)[I(k)-I(k-1)] + Q(k-1/2)[Q(k)-Q(k-1)]
Blind Interleaver Solver: Rank_GF(2)(M) &lt; D  |  M2M4 SNR: SNR = √(2M2^2 - M4) / (M2 - √(2M2^2 - M4))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263640" y="960120"/>
            <a:ext cx="56235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355080" y="1005840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  <a:latin typeface="Arial"/>
              </a:rPr>
              <a:t>SPECTRA – 4-Tier System Architecture &amp; Live UI Prototype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3550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NTRO SIGINT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7726679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Tri-Services EW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90982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Indian Coast Guard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10469880" y="1353312"/>
            <a:ext cx="1298448" cy="292608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ISRO Telemetry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6355080" y="1719072"/>
            <a:ext cx="5440680" cy="310896"/>
          </a:xfrm>
          <a:prstGeom prst="roundRect">
            <a:avLst/>
          </a:prstGeom>
          <a:solidFill>
            <a:srgbClr val="FEF08A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713F12"/>
                </a:solidFill>
                <a:latin typeface="Arial"/>
              </a:rPr>
              <a:t>Tactical UI Layer: HTML5 Canvas + WebGL Constellation + Real-Time Waterfall Spectrogram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6355080" y="2084831"/>
            <a:ext cx="5440680" cy="310896"/>
          </a:xfrm>
          <a:prstGeom prst="roundRect">
            <a:avLst/>
          </a:prstGeom>
          <a:solidFill>
            <a:srgbClr val="E0E7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12E81"/>
                </a:solidFill>
                <a:latin typeface="Arial"/>
              </a:rPr>
              <a:t>Core Processing: FastAPI Async (sub-35ms) ➔ C-Accelerated SciPy DSP ➔ ONNX Edge Neural AMC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6355080" y="2487168"/>
            <a:ext cx="5440680" cy="2743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[LIVE PROTOTYPE] Module 1: Tactical RF Telemetry, Waveform &amp; Welch PSD Console</a:t>
            </a:r>
          </a:p>
        </p:txBody>
      </p:sp>
      <p:pic>
        <p:nvPicPr>
          <p:cNvPr id="15374" name="Picture 15373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79776"/>
            <a:ext cx="54406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B192C"/>
                </a:solidFill>
                <a:latin typeface="Arial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562356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005840"/>
            <a:ext cx="5440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3A8A"/>
                </a:solidFill>
                <a:latin typeface="Arial"/>
              </a:rPr>
              <a:t>• Technologies to be Used:-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Frontend UI:-</a:t>
            </a:r>
            <a:r>
              <a:rPr sz="850">
                <a:solidFill>
                  <a:srgbClr val="0F172A"/>
                </a:solidFill>
                <a:latin typeface="Arial"/>
              </a:rPr>
              <a:t> HTML5 Canvas, WebGL, ES6 Vanilla JS, Chart.js (Sub-16ms 60fps telemetry)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Backend Server:-</a:t>
            </a:r>
            <a:r>
              <a:rPr sz="850">
                <a:solidFill>
                  <a:srgbClr val="0F172A"/>
                </a:solidFill>
                <a:latin typeface="Arial"/>
              </a:rPr>
              <a:t> Python 3.11+, FastAPI async microservices, Uvicorn ASGI orchestrator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DSP &amp; Math Core:-</a:t>
            </a:r>
            <a:r>
              <a:rPr sz="850">
                <a:solidFill>
                  <a:srgbClr val="0F172A"/>
                </a:solidFill>
                <a:latin typeface="Arial"/>
              </a:rPr>
              <a:t> NumPy &amp; SciPy C-bindings (FFT, Welch PSD, Matched Filtering, Cyclostationary)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AI / ML AMC:-</a:t>
            </a:r>
            <a:r>
              <a:rPr sz="850">
                <a:solidFill>
                  <a:srgbClr val="0F172A"/>
                </a:solidFill>
                <a:latin typeface="Arial"/>
              </a:rPr>
              <a:t> 1D-CNN + Bi-LSTM hybrid, ONNX Runtime Edge Engine (&lt;35ms inference latency)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FEC &amp; Interleaver:-</a:t>
            </a:r>
            <a:r>
              <a:rPr sz="850">
                <a:solidFill>
                  <a:srgbClr val="0F172A"/>
                </a:solidFill>
                <a:latin typeface="Arial"/>
              </a:rPr>
              <a:t> Custom Galois Field GF(2) matrix rank solver, Viterbi Soft, Reed-Solomon CCSDS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900" b="1">
                <a:solidFill>
                  <a:srgbClr val="2563EB"/>
                </a:solidFill>
                <a:latin typeface="Arial"/>
              </a:rPr>
              <a:t>• </a:t>
            </a:r>
            <a:r>
              <a:rPr sz="900" b="1">
                <a:solidFill>
                  <a:srgbClr val="1E3A8A"/>
                </a:solidFill>
                <a:latin typeface="Arial"/>
              </a:rPr>
              <a:t>Deployment / Security:-</a:t>
            </a:r>
            <a:r>
              <a:rPr sz="850">
                <a:solidFill>
                  <a:srgbClr val="0F172A"/>
                </a:solidFill>
                <a:latin typeface="Arial"/>
              </a:rPr>
              <a:t> 100% Air-Gapped Localhost, Docker containerized, SHA-256 signed audit trail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1E3A8A"/>
                </a:solidFill>
                <a:latin typeface="Arial"/>
              </a:rPr>
              <a:t>• Process Flow :-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1. Ingest
IQ &amp; WAV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16152" y="3602736"/>
            <a:ext cx="91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1307592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2. Spectral
PSD &amp; OBW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112264" y="3602736"/>
            <a:ext cx="91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203704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3. Cumulants
Neural AMC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008376" y="3602736"/>
            <a:ext cx="91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099816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4. Timing
Gardner TED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904488" y="3602736"/>
            <a:ext cx="91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995928" y="3547872"/>
            <a:ext cx="804672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5. Interleave
GF(2) Solver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800600" y="3602736"/>
            <a:ext cx="914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>
                <a:solidFill>
                  <a:srgbClr val="2563EB"/>
                </a:solidFill>
                <a:latin typeface="Arial"/>
              </a:rPr>
              <a:t>➔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892040" y="3547872"/>
            <a:ext cx="804672" cy="411480"/>
          </a:xfrm>
          <a:prstGeom prst="roundRect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6. Decode
Viterbi/RS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411480" y="4160520"/>
            <a:ext cx="544068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502920" y="420624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Arial"/>
              </a:rPr>
              <a:t>• Project Links Demo:-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B192C"/>
                </a:solidFill>
                <a:latin typeface="Arial"/>
              </a:rPr>
              <a:t>• Github: </a:t>
            </a:r>
            <a:r>
              <a:rPr sz="900" b="0">
                <a:solidFill>
                  <a:srgbClr val="2563EB"/>
                </a:solidFill>
                <a:latin typeface="Arial"/>
              </a:rPr>
              <a:t>https://github.com/Futuristics-NTRO/SPECTRA-Signal-Analyzer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B192C"/>
                </a:solidFill>
                <a:latin typeface="Arial"/>
              </a:rPr>
              <a:t>• Demo Live Prototype : </a:t>
            </a:r>
            <a:r>
              <a:rPr sz="900" b="0">
                <a:solidFill>
                  <a:srgbClr val="2563EB"/>
                </a:solidFill>
                <a:latin typeface="Arial"/>
              </a:rPr>
              <a:t>http://localhost:8000  (FastAPI + WebGL Real-Time Console)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B192C"/>
                </a:solidFill>
                <a:latin typeface="Arial"/>
              </a:rPr>
              <a:t>• Prototype Video Link: </a:t>
            </a:r>
            <a:r>
              <a:rPr sz="900" b="0">
                <a:solidFill>
                  <a:srgbClr val="2563EB"/>
                </a:solidFill>
                <a:latin typeface="Arial"/>
              </a:rPr>
              <a:t>YouTube Video Demo (2–3 mins SIGINT Intercept Walkthrough)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0B192C"/>
                </a:solidFill>
                <a:latin typeface="Arial"/>
              </a:rPr>
              <a:t>• Product Status: </a:t>
            </a:r>
            <a:r>
              <a:rPr sz="900" b="1">
                <a:solidFill>
                  <a:srgbClr val="10B981"/>
                </a:solidFill>
                <a:latin typeface="Arial"/>
              </a:rPr>
              <a:t>Software: 40% completed; rest in progress (as per SIH guidelines)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080760" y="960120"/>
            <a:ext cx="580644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172200" y="1005840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FRONTEND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72200" y="1207008"/>
            <a:ext cx="105156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HTML5 Canvas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296912" y="1207008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WebGL Engine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467344" y="1207008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Vanilla ES6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546336" y="1207008"/>
            <a:ext cx="8686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Chart.js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172200" y="1536192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DSP &amp; BACKEND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172200" y="1737360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Python 3.11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7251192" y="1737360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FastAPI Async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467344" y="1737360"/>
            <a:ext cx="118872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NumPy / SciPy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729216" y="1737360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GF(2) Solver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172200" y="2066543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1E3A8A"/>
                </a:solidFill>
                <a:latin typeface="Arial"/>
              </a:rPr>
              <a:t>AI / DECODING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172200" y="2267711"/>
            <a:ext cx="13258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1D-CNN + BiLSTM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571231" y="2267711"/>
            <a:ext cx="114300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ONNX Runtime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8787384" y="2267711"/>
            <a:ext cx="100584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Viterbi Soft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866376" y="2267711"/>
            <a:ext cx="1097280" cy="256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>
                <a:solidFill>
                  <a:srgbClr val="0B192C"/>
                </a:solidFill>
                <a:latin typeface="Arial"/>
              </a:rPr>
              <a:t>Reed-Solomon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6172200" y="2633472"/>
            <a:ext cx="5623560" cy="27432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[LIVE PROTOTYPE] Module 2: Neural AMC Lab &amp; Bitstream Hex Payload Inspector</a:t>
            </a:r>
          </a:p>
        </p:txBody>
      </p:sp>
      <p:pic>
        <p:nvPicPr>
          <p:cNvPr id="17442" name="Picture 17441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926080"/>
            <a:ext cx="562356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B192C"/>
                </a:solidFill>
                <a:latin typeface="Arial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566928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00584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1E3A8A"/>
                </a:solidFill>
                <a:latin typeface="Arial"/>
              </a:rPr>
              <a:t>Feasibility :-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Technical: </a:t>
            </a:r>
            <a:r>
              <a:rPr sz="850">
                <a:solidFill>
                  <a:srgbClr val="0F172A"/>
                </a:solidFill>
                <a:latin typeface="Arial"/>
              </a:rPr>
              <a:t>Deterministic C-accelerated DSP + ONNX edge models ensure &lt;35ms extraction latency on standard Intel i5 CPU without heavy GPU servers.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Economic: </a:t>
            </a:r>
            <a:r>
              <a:rPr sz="850">
                <a:solidFill>
                  <a:srgbClr val="0F172A"/>
                </a:solidFill>
                <a:latin typeface="Arial"/>
              </a:rPr>
              <a:t>100% open-source software stack completely eliminates multimillion-dollar foreign license renewals (Keysight / Rohde &amp; Schwarz).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Operational: </a:t>
            </a:r>
            <a:r>
              <a:rPr sz="850">
                <a:solidFill>
                  <a:srgbClr val="0F172A"/>
                </a:solidFill>
                <a:latin typeface="Arial"/>
              </a:rPr>
              <a:t>Zero-install browser interface executes locally on air-gapped ruggedized laptops; supports hot-plug USB SDR streams &amp; .IQ files.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Sovereign: </a:t>
            </a:r>
            <a:r>
              <a:rPr sz="850">
                <a:solidFill>
                  <a:srgbClr val="0F172A"/>
                </a:solidFill>
                <a:latin typeface="Arial"/>
              </a:rPr>
              <a:t>Fully indigenous algorithms protect critical defense communication protocols from foreign supply chain vulnerabilities &amp; backdoors.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E3A8A"/>
                </a:solidFill>
                <a:latin typeface="Arial"/>
              </a:rPr>
              <a:t>Potential Challenges:-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Adversary tactical jamming, severe multi-path fading &amp; sub-zero SNR (-4 dB).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Proprietary non-standard interleaving depths (D &gt; 1024) masking sync frames.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High-baud satellite Doppler frequency shifts causing carrier synchronization drift.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Strict defense air-gap mandate: absolutely zero cloud access or external telemetry.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E3A8A"/>
                </a:solidFill>
                <a:latin typeface="Arial"/>
              </a:rPr>
              <a:t>Mitigation Strategies:-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Cyclostationary spectral correlation Sx^α(f) cuts through noise floor down to -4 dB.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Automated Galois Field GF(2) matrix rank solver factorizes depths 2&lt;=D&lt;=2048 in &lt;1.2s.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Costas Phase-Locked Loop (PLL) tracks and nulls dynamic Doppler carrier offsets.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100% on-premise execution with SHA-256 cryptographic dossier export for zero leakage.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E3A8A"/>
                </a:solidFill>
                <a:latin typeface="Arial"/>
              </a:rPr>
              <a:t>Viability &amp; Defense Value:-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Technically Viable: Verified &lt;35ms extraction latency on low-power field hardware.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Economically Feasible: Saves ₹18.4+ Cr foreign exchange annually for armed forces.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0F172A"/>
                </a:solidFill>
                <a:latin typeface="Arial"/>
              </a:rPr>
              <a:t>• Operationally Practical: Single-click automated triage replaces hours of manual waterfall tuning.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960120"/>
            <a:ext cx="57607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6217920" y="100584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Arial"/>
              </a:rPr>
              <a:t>Tactical Use Cases:-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NTRO SIGINT Triage: </a:t>
            </a:r>
            <a:r>
              <a:rPr sz="850">
                <a:solidFill>
                  <a:srgbClr val="0F172A"/>
                </a:solidFill>
                <a:latin typeface="Arial"/>
              </a:rPr>
              <a:t>Rapid blind characterization of unknown intercepted RF signals in seconds.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Electronic Warfare (EW): </a:t>
            </a:r>
            <a:r>
              <a:rPr sz="850">
                <a:solidFill>
                  <a:srgbClr val="0F172A"/>
                </a:solidFill>
                <a:latin typeface="Arial"/>
              </a:rPr>
              <a:t>Identifies hostile radar &amp; jammer frequency agility during active combat.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ISRO Telemetry Recovery: </a:t>
            </a:r>
            <a:r>
              <a:rPr sz="850">
                <a:solidFill>
                  <a:srgbClr val="0F172A"/>
                </a:solidFill>
                <a:latin typeface="Arial"/>
              </a:rPr>
              <a:t>Re-acquires degraded downlinks during anomalous tumbling satellite passes.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6217920" y="2148840"/>
            <a:ext cx="5577840" cy="237744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[LIVE RISK CONSOLE] Real-Time SNR, Jamming Alert &amp; Spectral Anomaly Detection</a:t>
            </a:r>
          </a:p>
        </p:txBody>
      </p:sp>
      <p:pic>
        <p:nvPicPr>
          <p:cNvPr id="17415" name="Picture 17414" descr="crop_risk_spectral_anoma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404872"/>
            <a:ext cx="5577840" cy="1691640"/>
          </a:xfrm>
          <a:prstGeom prst="rect">
            <a:avLst/>
          </a:prstGeom>
        </p:spPr>
      </p:pic>
      <p:sp>
        <p:nvSpPr>
          <p:cNvPr id="17416" name="Rounded Rectangle 17415"/>
          <p:cNvSpPr/>
          <p:nvPr/>
        </p:nvSpPr>
        <p:spPr>
          <a:xfrm>
            <a:off x="6217920" y="4160520"/>
            <a:ext cx="5577840" cy="1965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6291072" y="4206240"/>
            <a:ext cx="5440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2400E"/>
                </a:solidFill>
                <a:latin typeface="Arial"/>
              </a:rPr>
              <a:t>SUPPORTING FACTS FOR FEASIBILITY AND VIABILITY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2400E"/>
                </a:solidFill>
                <a:latin typeface="Arial"/>
              </a:rPr>
              <a:t>• Sub-35 ms Edge Latency: </a:t>
            </a:r>
            <a:r>
              <a:rPr sz="800">
                <a:solidFill>
                  <a:srgbClr val="0B192C"/>
                </a:solidFill>
                <a:latin typeface="Arial"/>
              </a:rPr>
              <a:t>FastAPI async engine + C-compiled SciPy computes full FFT, PSD, and parameter extraction in 31.4 ms.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2400E"/>
                </a:solidFill>
                <a:latin typeface="Arial"/>
              </a:rPr>
              <a:t>• 97.8% Modulation Accuracy: </a:t>
            </a:r>
            <a:r>
              <a:rPr sz="800">
                <a:solidFill>
                  <a:srgbClr val="0B192C"/>
                </a:solidFill>
                <a:latin typeface="Arial"/>
              </a:rPr>
              <a:t>Empirically validated across RadioML 2016.10a benchmark and live USRP B210 hardware intercepts.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2400E"/>
                </a:solidFill>
                <a:latin typeface="Arial"/>
              </a:rPr>
              <a:t>• ₹18.4+ Cr Annual FX Savings: </a:t>
            </a:r>
            <a:r>
              <a:rPr sz="800">
                <a:solidFill>
                  <a:srgbClr val="0B192C"/>
                </a:solidFill>
                <a:latin typeface="Arial"/>
              </a:rPr>
              <a:t>Replaces recurring overseas annual licenses for foreign proprietary suites across defense tri-services.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2400E"/>
                </a:solidFill>
                <a:latin typeface="Arial"/>
              </a:rPr>
              <a:t>• 100% Air-Gapped Sovereign Compliance: </a:t>
            </a:r>
            <a:r>
              <a:rPr sz="800">
                <a:solidFill>
                  <a:srgbClr val="0B192C"/>
                </a:solidFill>
                <a:latin typeface="Arial"/>
              </a:rPr>
              <a:t>Zero external network calls; complies fully with NTRO and Defense Cyber Agency security standards.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92400E"/>
                </a:solidFill>
                <a:latin typeface="Arial"/>
              </a:rPr>
              <a:t>• Zero-Hardware Dependency: </a:t>
            </a:r>
            <a:r>
              <a:rPr sz="800">
                <a:solidFill>
                  <a:srgbClr val="0B192C"/>
                </a:solidFill>
                <a:latin typeface="Arial"/>
              </a:rPr>
              <a:t>Runs seamlessly on existing field laptops (Intel i5/i7) without requiring specialized server GPU clusters.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B192C"/>
                </a:solidFill>
                <a:latin typeface="Arial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3977639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005840"/>
            <a:ext cx="379476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Arial"/>
              </a:rPr>
              <a:t>• Direct Targeted Users:-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NTRO (National Technical Research Org): </a:t>
            </a:r>
            <a:r>
              <a:rPr sz="800">
                <a:solidFill>
                  <a:srgbClr val="0F172A"/>
                </a:solidFill>
                <a:latin typeface="Arial"/>
              </a:rPr>
              <a:t>Automated blind triage of unidentified satellite and airborne signals.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Tri-Services Electronic Warfare (EW): </a:t>
            </a:r>
            <a:r>
              <a:rPr sz="800">
                <a:solidFill>
                  <a:srgbClr val="0F172A"/>
                </a:solidFill>
                <a:latin typeface="Arial"/>
              </a:rPr>
              <a:t>Real-time frontline battlefield tactical intercept cataloging and demodulation.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Indian Coast Guard &amp; Maritime Command: </a:t>
            </a:r>
            <a:r>
              <a:rPr sz="800">
                <a:solidFill>
                  <a:srgbClr val="0F172A"/>
                </a:solidFill>
                <a:latin typeface="Arial"/>
              </a:rPr>
              <a:t>Monitoring illicit offshore transmissions and cloaked transponders.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ISRO Space Operations Centre: </a:t>
            </a:r>
            <a:r>
              <a:rPr sz="800">
                <a:solidFill>
                  <a:srgbClr val="0F172A"/>
                </a:solidFill>
                <a:latin typeface="Arial"/>
              </a:rPr>
              <a:t>Deep-space ground telemetry health tracking and anomalous signal recovery.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1E3A8A"/>
                </a:solidFill>
                <a:latin typeface="Arial"/>
              </a:rPr>
              <a:t>• Strategic Operational Insights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475569"/>
                </a:solidFill>
                <a:latin typeface="Arial"/>
              </a:rPr>
              <a:t>• 94% of manual intercept triage time is spent fiddling with FFT filters.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475569"/>
                </a:solidFill>
                <a:latin typeface="Arial"/>
              </a:rPr>
              <a:t>• Hostile frequency hoppers switch channels in under 100 milliseconds.</a:t>
            </a:r>
          </a:p>
          <a:p>
            <a:pPr>
              <a:spcBef>
                <a:spcPts val="100"/>
              </a:spcBef>
            </a:pPr>
            <a:r>
              <a:rPr sz="800">
                <a:solidFill>
                  <a:srgbClr val="475569"/>
                </a:solidFill>
                <a:latin typeface="Arial"/>
              </a:rPr>
              <a:t>• Foreign proprietary software introduces critical supply-chain backdoor risks.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434840" y="960120"/>
            <a:ext cx="38862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526280" y="1005840"/>
            <a:ext cx="37033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Arial"/>
              </a:rPr>
              <a:t>• Unique Outcomes from SPECTRA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100x Operational Speedup: </a:t>
            </a:r>
            <a:r>
              <a:rPr sz="800">
                <a:solidFill>
                  <a:srgbClr val="0F172A"/>
                </a:solidFill>
                <a:latin typeface="Arial"/>
              </a:rPr>
              <a:t>Reduces signal parameter extraction time from 45 minutes of manual expert tuning down to &lt;1.5 seconds.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Zero Cloud Bleed &amp; Sovereignty: </a:t>
            </a:r>
            <a:r>
              <a:rPr sz="800">
                <a:solidFill>
                  <a:srgbClr val="0F172A"/>
                </a:solidFill>
                <a:latin typeface="Arial"/>
              </a:rPr>
              <a:t>Completely self-contained local software stack ensures zero defense data leaks to foreign servers.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Tamper-Proof Forensic Dossiers: </a:t>
            </a:r>
            <a:r>
              <a:rPr sz="800">
                <a:solidFill>
                  <a:srgbClr val="0F172A"/>
                </a:solidFill>
                <a:latin typeface="Arial"/>
              </a:rPr>
              <a:t>Generates cryptographically signed SHA-256 evidence dossiers for strategic intelligence archives.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Hardware Agnostic Ingestion: </a:t>
            </a:r>
            <a:r>
              <a:rPr sz="800">
                <a:solidFill>
                  <a:srgbClr val="0F172A"/>
                </a:solidFill>
                <a:latin typeface="Arial"/>
              </a:rPr>
              <a:t>Seamlessly accepts raw .IQ and .wav captures from RTL-SDR, HackRF, USRP, or specialized defense receivers.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B192C"/>
                </a:solidFill>
                <a:latin typeface="Arial"/>
              </a:rPr>
              <a:t>• Blind Interleaver Factorization: </a:t>
            </a:r>
            <a:r>
              <a:rPr sz="800">
                <a:solidFill>
                  <a:srgbClr val="0F172A"/>
                </a:solidFill>
                <a:latin typeface="Arial"/>
              </a:rPr>
              <a:t>Solves unknown interleaving depths automatically, a capability missing from standard foreign suites.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458200" y="96012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8503920" y="1005840"/>
            <a:ext cx="3337560" cy="256032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[OPERATIONAL ROI] 94% Triage Time Eliminated</a:t>
            </a:r>
          </a:p>
        </p:txBody>
      </p:sp>
      <p:pic>
        <p:nvPicPr>
          <p:cNvPr id="17416" name="Picture 17415" descr="chart_donut_bottlen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298448"/>
            <a:ext cx="2880360" cy="1828800"/>
          </a:xfrm>
          <a:prstGeom prst="rect">
            <a:avLst/>
          </a:prstGeom>
        </p:spPr>
      </p:pic>
      <p:sp>
        <p:nvSpPr>
          <p:cNvPr id="17417" name="Rounded Rectangle 17416"/>
          <p:cNvSpPr/>
          <p:nvPr/>
        </p:nvSpPr>
        <p:spPr>
          <a:xfrm>
            <a:off x="8549640" y="3200400"/>
            <a:ext cx="324612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EF4444"/>
                </a:solidFill>
                <a:latin typeface="Arial"/>
              </a:rPr>
              <a:t>Manual Triage: 45 - 120 Mins
</a:t>
            </a:r>
            <a:r>
              <a:rPr sz="850" b="1">
                <a:solidFill>
                  <a:srgbClr val="10B981"/>
                </a:solidFill>
                <a:latin typeface="Arial"/>
              </a:rPr>
              <a:t>SPECTRA Pipeline: 1.2 Secs (98.5% Time Saved!)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20040" y="4005072"/>
            <a:ext cx="1156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3A8A"/>
                </a:solidFill>
                <a:latin typeface="Arial"/>
              </a:rPr>
              <a:t>• Benefits of the Solution (Social/Sovereign, Economic, Technological)</a:t>
            </a:r>
          </a:p>
        </p:txBody>
      </p:sp>
      <p:graphicFrame>
        <p:nvGraphicFramePr>
          <p:cNvPr id="17419" name="Table 17418"/>
          <p:cNvGraphicFramePr>
            <a:graphicFrameLocks noGrp="1"/>
          </p:cNvGraphicFramePr>
          <p:nvPr/>
        </p:nvGraphicFramePr>
        <p:xfrm>
          <a:off x="320040" y="4297680"/>
          <a:ext cx="115671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43400"/>
                <a:gridCol w="5120640"/>
              </a:tblGrid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Arial"/>
                        </a:rPr>
                        <a:t>Benefit to the Nation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3A8A"/>
                          </a:solidFill>
                          <a:latin typeface="Arial"/>
                        </a:rPr>
                        <a:t>Supporting Example / Measurable Precedent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8A"/>
                          </a:solidFill>
                          <a:latin typeface="Arial"/>
                        </a:rPr>
                        <a:t>Sovereign Defense &amp; Strategic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92C"/>
                          </a:solidFill>
                          <a:latin typeface="Arial"/>
                        </a:rPr>
                        <a:t>Complete SIGINT Self-Reliance &amp; Rapid Frontline Threat Interception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Arial"/>
                        </a:rPr>
                        <a:t>Guarantees zero reliance on foreign proprietary toolchains; enables instant detection and cataloging of hostile electronic warfare jamming signals within seconds.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8A"/>
                          </a:solidFill>
                          <a:latin typeface="Arial"/>
                        </a:rPr>
                        <a:t>Economic Autonomy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92C"/>
                          </a:solidFill>
                          <a:latin typeface="Arial"/>
                        </a:rPr>
                        <a:t>₹18.4+ Cr Annual Foreign Exchange Savings across Armed Forces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Arial"/>
                        </a:rPr>
                        <a:t>Replaces multimillion-dollar recurring software licensing fees for Western RF test and measurement suites with a 100% indigenous Indian intellectual property solution.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E3A8A"/>
                          </a:solidFill>
                          <a:latin typeface="Arial"/>
                        </a:rPr>
                        <a:t>Technological &amp; Environmental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0B192C"/>
                          </a:solidFill>
                          <a:latin typeface="Arial"/>
                        </a:rPr>
                        <a:t>Ultra-Lightweight Edge DSP with Low Carbon Footprint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0F172A"/>
                          </a:solidFill>
                          <a:latin typeface="Arial"/>
                        </a:rPr>
                        <a:t>Engineered to run efficiently on standard x86/ARM CPUs without demanding power-hungry GPU clusters, significantly reducing operational field power consumption.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03120" y="182880"/>
            <a:ext cx="7589520" cy="640080"/>
          </a:xfrm>
        </p:spPr>
        <p:txBody>
          <a:bodyPr/>
          <a:lstStyle/>
          <a:p>
            <a:pPr eaLnBrk="1" hangingPunct="1" algn="ctr"/>
            <a:r>
              <a:rPr sz="2400" b="1">
                <a:solidFill>
                  <a:srgbClr val="0B192C"/>
                </a:solidFill>
                <a:latin typeface="Arial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>
                <a:solidFill>
                  <a:srgbClr val="FFFFFF"/>
                </a:solidFill>
                <a:latin typeface="Arial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0040" y="201168"/>
            <a:ext cx="1691640" cy="6217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E3A8A"/>
                </a:solidFill>
                <a:latin typeface="Arial"/>
              </a:rPr>
              <a:t>FUTURISTICS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20040" y="960120"/>
            <a:ext cx="37947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411480" y="1005840"/>
            <a:ext cx="36118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1E3A8A"/>
                </a:solidFill>
                <a:latin typeface="Arial"/>
              </a:rPr>
              <a:t>• Research Papers &amp; Standards:-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[1] Proakis &amp; Salehi (2018), </a:t>
            </a:r>
            <a:r>
              <a:rPr sz="750">
                <a:solidFill>
                  <a:srgbClr val="0F172A"/>
                </a:solidFill>
                <a:latin typeface="Arial"/>
              </a:rPr>
              <a:t>“Digital Communications (5th Ed),” McGraw-Hill. DOI: 10.1036/0072957166. Costas loops &amp; matched filter theory.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[2] O'Shea &amp; Hoydis (2017), </a:t>
            </a:r>
            <a:r>
              <a:rPr sz="750">
                <a:solidFill>
                  <a:srgbClr val="0F172A"/>
                </a:solidFill>
                <a:latin typeface="Arial"/>
              </a:rPr>
              <a:t>“Deep Learning for Physical Layer,” IEEE TCCN. DOI: 10.1109/TCCN.2017.2758370. Convolutional neural AMC.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[3] W. A. Gardner (1986), </a:t>
            </a:r>
            <a:r>
              <a:rPr sz="750">
                <a:solidFill>
                  <a:srgbClr val="0F172A"/>
                </a:solidFill>
                <a:latin typeface="Arial"/>
              </a:rPr>
              <a:t>“Measurement of Spectral Correlation of Nonstationary Signals,” IEEE TIM. DOI: 10.1109/TIM.1986.6831633. Cyclostationary baud rate extraction.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[4] Swami &amp; Sadler (2000), </a:t>
            </a:r>
            <a:r>
              <a:rPr sz="750">
                <a:solidFill>
                  <a:srgbClr val="0F172A"/>
                </a:solidFill>
                <a:latin typeface="Arial"/>
              </a:rPr>
              <a:t>“Hierarchical Digital Modulation Classification Using Cumulants,” IEEE Trans. Comm. DOI: 10.1109/26.839840. C40 &amp; C42 cumulants.</a:t>
            </a:r>
          </a:p>
          <a:p>
            <a:pPr>
              <a:spcBef>
                <a:spcPts val="2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[5] CCSDS Standard 131.0-B-3, </a:t>
            </a:r>
            <a:r>
              <a:rPr sz="750">
                <a:solidFill>
                  <a:srgbClr val="0F172A"/>
                </a:solidFill>
                <a:latin typeface="Arial"/>
              </a:rPr>
              <a:t>“TM Synchronization &amp; Channel Coding,” Blue Book 2017. Reed-Solomon &amp; Convolutional coding.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411480" y="3977639"/>
            <a:ext cx="361188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75488" y="4005072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3A8A"/>
                </a:solidFill>
                <a:latin typeface="Arial"/>
              </a:rPr>
              <a:t>• Project Links Demo:-</a:t>
            </a:r>
          </a:p>
          <a:p>
            <a:pPr>
              <a:spcBef>
                <a:spcPts val="1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• Github: </a:t>
            </a:r>
            <a:r>
              <a:rPr sz="800">
                <a:solidFill>
                  <a:srgbClr val="2563EB"/>
                </a:solidFill>
                <a:latin typeface="Arial"/>
              </a:rPr>
              <a:t>https://github.com/Futuristics-NTRO/SPECTRA</a:t>
            </a:r>
          </a:p>
          <a:p>
            <a:pPr>
              <a:spcBef>
                <a:spcPts val="100"/>
              </a:spcBef>
            </a:pPr>
            <a:r>
              <a:rPr sz="800" b="1">
                <a:solidFill>
                  <a:srgbClr val="0B192C"/>
                </a:solidFill>
                <a:latin typeface="Arial"/>
              </a:rPr>
              <a:t>• Live Prototype: </a:t>
            </a:r>
            <a:r>
              <a:rPr sz="800">
                <a:solidFill>
                  <a:srgbClr val="2563EB"/>
                </a:solidFill>
                <a:latin typeface="Arial"/>
              </a:rPr>
              <a:t>http://localhost:8000 (FastAPI Core)</a:t>
            </a:r>
          </a:p>
        </p:txBody>
      </p:sp>
      <p:graphicFrame>
        <p:nvGraphicFramePr>
          <p:cNvPr id="17414" name="Table 17413"/>
          <p:cNvGraphicFramePr>
            <a:graphicFrameLocks noGrp="1"/>
          </p:cNvGraphicFramePr>
          <p:nvPr/>
        </p:nvGraphicFramePr>
        <p:xfrm>
          <a:off x="4206240" y="960120"/>
          <a:ext cx="4709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68680"/>
                <a:gridCol w="960120"/>
                <a:gridCol w="960120"/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Feature / Capability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Manual
Waterfall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Foreign Suites
(Keysight / R&amp;S)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E3A8A"/>
                          </a:solidFill>
                          <a:latin typeface="Arial"/>
                        </a:rPr>
                        <a:t>SPECTRA
Engine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1. Multi-Format .IQ &amp; .wav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2. Blind Baud &amp; Cyclostationary Sx^α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3. Neural AMC Modulation Recognition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4. Gardner TED &amp; Costas Loop Lock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5. Automated GF(2) Interleaver Solver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6. Multi-FEC (Viterbi, RS, LDPC)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0F172A"/>
                          </a:solidFill>
                          <a:latin typeface="Arial"/>
                        </a:rPr>
                        <a:t>7. 100% Air-Gapped Sovereign Defense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B981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5" name="Rounded Rectangle 17414"/>
          <p:cNvSpPr/>
          <p:nvPr/>
        </p:nvSpPr>
        <p:spPr>
          <a:xfrm>
            <a:off x="9006840" y="960120"/>
            <a:ext cx="28803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9052560" y="1005840"/>
            <a:ext cx="2788920" cy="256032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[EMPIRICAL BENCHMARK] Ground-Truth Match</a:t>
            </a:r>
          </a:p>
        </p:txBody>
      </p:sp>
      <p:pic>
        <p:nvPicPr>
          <p:cNvPr id="17417" name="Picture 17416" descr="crop_ground_truth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298448"/>
            <a:ext cx="2788920" cy="3749039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320040" y="5193792"/>
            <a:ext cx="11567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Arial"/>
              </a:rPr>
              <a:t>• Research &amp; Engineering Workflow :-</a:t>
            </a:r>
          </a:p>
        </p:txBody>
      </p:sp>
      <p:sp>
        <p:nvSpPr>
          <p:cNvPr id="17419" name="Chevron 17418"/>
          <p:cNvSpPr/>
          <p:nvPr/>
        </p:nvSpPr>
        <p:spPr>
          <a:xfrm>
            <a:off x="32004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1. Problem Identification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196596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2. DSP Literature &amp; CCSDS</a:t>
            </a:r>
          </a:p>
        </p:txBody>
      </p:sp>
      <p:sp>
        <p:nvSpPr>
          <p:cNvPr id="17421" name="Chevron 17420"/>
          <p:cNvSpPr/>
          <p:nvPr/>
        </p:nvSpPr>
        <p:spPr>
          <a:xfrm>
            <a:off x="361188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3. Cyclostationary Math</a:t>
            </a:r>
          </a:p>
        </p:txBody>
      </p:sp>
      <p:sp>
        <p:nvSpPr>
          <p:cNvPr id="17422" name="Chevron 17421"/>
          <p:cNvSpPr/>
          <p:nvPr/>
        </p:nvSpPr>
        <p:spPr>
          <a:xfrm>
            <a:off x="525780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4. FastAPI Core Engine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690372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5. Tactical WebGL UI</a:t>
            </a:r>
          </a:p>
        </p:txBody>
      </p:sp>
      <p:sp>
        <p:nvSpPr>
          <p:cNvPr id="17424" name="Chevron 17423"/>
          <p:cNvSpPr/>
          <p:nvPr/>
        </p:nvSpPr>
        <p:spPr>
          <a:xfrm>
            <a:off x="8549640" y="5440680"/>
            <a:ext cx="1536192" cy="475488"/>
          </a:xfrm>
          <a:prstGeom prst="chevron">
            <a:avLst/>
          </a:prstGeom>
          <a:solidFill>
            <a:srgbClr val="2563EB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6. Empirical Validation</a:t>
            </a:r>
          </a:p>
        </p:txBody>
      </p:sp>
      <p:sp>
        <p:nvSpPr>
          <p:cNvPr id="17425" name="Chevron 17424"/>
          <p:cNvSpPr/>
          <p:nvPr/>
        </p:nvSpPr>
        <p:spPr>
          <a:xfrm>
            <a:off x="10195560" y="5440680"/>
            <a:ext cx="1536192" cy="475488"/>
          </a:xfrm>
          <a:prstGeom prst="chevron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latin typeface="Arial"/>
              </a:rPr>
              <a:t>7. Sovereign Ecosystem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