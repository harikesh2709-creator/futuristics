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02920"/>
            <a:ext cx="2377440" cy="868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FUTURISTICS</a:t>
            </a:r>
          </a:p>
          <a:p>
            <a:pPr algn="ctr">
              <a:defRPr sz="1000" b="1">
                <a:solidFill>
                  <a:srgbClr val="0EA5E9"/>
                </a:solidFill>
                <a:latin typeface="Segoe UI"/>
              </a:defRPr>
            </a:pPr>
            <a:r>
              <a:t>TEAM ID: SIH-2026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83280" y="475488"/>
            <a:ext cx="621792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0B192C"/>
                </a:solidFill>
                <a:latin typeface="Segoe UI"/>
              </a:defRPr>
            </a:pPr>
            <a:r>
              <a:t>SMART INDIA HACKATHON 2026</a:t>
            </a:r>
          </a:p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NATIONAL GRAND FINALE • SOFTWARE EDITION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84048"/>
            <a:ext cx="1828800" cy="862361"/>
          </a:xfrm>
          <a:prstGeom prst="rect">
            <a:avLst/>
          </a:prstGeom>
        </p:spPr>
      </p:pic>
      <p:pic>
        <p:nvPicPr>
          <p:cNvPr id="5" name="Picture 4" descr="sih_bul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645920"/>
            <a:ext cx="4480560" cy="479163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645920"/>
            <a:ext cx="6217920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5760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 b="1">
                <a:solidFill>
                  <a:srgbClr val="0B192C"/>
                </a:solidFill>
                <a:latin typeface="Segoe UI"/>
              </a:rPr>
              <a:t>• Problem Statement ID – </a:t>
            </a:r>
            <a:r>
              <a:rPr sz="1350" b="1">
                <a:solidFill>
                  <a:srgbClr val="2563EB"/>
                </a:solidFill>
                <a:latin typeface="Segoe UI"/>
              </a:rPr>
              <a:t>26147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0B192C"/>
                </a:solidFill>
                <a:latin typeface="Segoe UI"/>
              </a:rPr>
              <a:t>• Problem Statement Title – </a:t>
            </a:r>
            <a:r>
              <a:rPr sz="1350" b="0">
                <a:solidFill>
                  <a:srgbClr val="0B192C"/>
                </a:solidFill>
                <a:latin typeface="Segoe UI"/>
              </a:rPr>
              <a:t>Automated model for analysis of .IQ and .wav files along with signal parameter extraction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0B192C"/>
                </a:solidFill>
                <a:latin typeface="Segoe UI"/>
              </a:rPr>
              <a:t>• Category – </a:t>
            </a:r>
            <a:r>
              <a:rPr sz="1350" b="0">
                <a:solidFill>
                  <a:srgbClr val="0F172A"/>
                </a:solidFill>
                <a:latin typeface="Segoe UI"/>
              </a:rPr>
              <a:t>Software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0B192C"/>
                </a:solidFill>
                <a:latin typeface="Segoe UI"/>
              </a:rPr>
              <a:t>• Theme – </a:t>
            </a:r>
            <a:r>
              <a:rPr sz="1350" b="0">
                <a:solidFill>
                  <a:srgbClr val="2563EB"/>
                </a:solidFill>
                <a:latin typeface="Segoe UI"/>
              </a:rPr>
              <a:t>Space Technology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0B192C"/>
                </a:solidFill>
                <a:latin typeface="Segoe UI"/>
              </a:rPr>
              <a:t>• Team ID – </a:t>
            </a:r>
            <a:r>
              <a:rPr sz="1350" b="0">
                <a:solidFill>
                  <a:srgbClr val="2563EB"/>
                </a:solidFill>
                <a:latin typeface="Segoe UI"/>
              </a:rPr>
              <a:t>[SIH-2026-XXXX]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0B192C"/>
                </a:solidFill>
                <a:latin typeface="Segoe UI"/>
              </a:rPr>
              <a:t>• Team Name – </a:t>
            </a:r>
            <a:r>
              <a:rPr sz="1350" b="1">
                <a:solidFill>
                  <a:srgbClr val="10B981"/>
                </a:solidFill>
                <a:latin typeface="Segoe UI"/>
              </a:rPr>
              <a:t>FUTURISTICS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989320"/>
            <a:ext cx="10725912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EA5E9"/>
                </a:solidFill>
                <a:latin typeface="Segoe UI"/>
              </a:defRPr>
            </a:pPr>
            <a:r>
              <a:t>⚡ Autonomous Signal Intelligence  •  Deep Cyclostationary Analysis  •  Blind FEC &amp; Interleaver Solver  •  100% Air-Gapped Sovereign AI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510528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1109167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Segoe UI"/>
              </a:defRPr>
            </a:pPr>
            <a:r>
              <a:t>TEAM FUTURISTICS • SPECTRA Signal Analyzer &amp; Parameter Extraction • SIH 2026 Final Round | Slide 1 of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74320"/>
            <a:ext cx="2194560" cy="868680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FUTURISTICS</a:t>
            </a:r>
          </a:p>
          <a:p>
            <a:pPr algn="ctr">
              <a:defRPr sz="900" b="1">
                <a:solidFill>
                  <a:srgbClr val="0EA5E9"/>
                </a:solidFill>
                <a:latin typeface="Segoe UI"/>
              </a:defRPr>
            </a:pPr>
            <a:r>
              <a:t>TEAM ID: SIH-2026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274320"/>
            <a:ext cx="68580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SMART INDIA HACKATHON 2026</a:t>
            </a:r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t>SPECTRA: Autonomous RF Signal Intelligence &amp; Parameter Extraction Engine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82880"/>
            <a:ext cx="1691640" cy="79768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234440"/>
            <a:ext cx="40233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4023360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CORE INTELLIGENCE HUB &amp; DECISION PIPELINE</a:t>
            </a:r>
          </a:p>
        </p:txBody>
      </p:sp>
      <p:sp>
        <p:nvSpPr>
          <p:cNvPr id="7" name="Oval 6"/>
          <p:cNvSpPr/>
          <p:nvPr/>
        </p:nvSpPr>
        <p:spPr>
          <a:xfrm>
            <a:off x="2011680" y="2148840"/>
            <a:ext cx="1097280" cy="86868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SPECTRA</a:t>
            </a:r>
            <a:br/>
            <a:r>
              <a:t>CORE AI &amp; DSP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37360" y="1627632"/>
            <a:ext cx="1645920" cy="43891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Multi-Format Streams</a:t>
            </a:r>
            <a:br/>
            <a:r>
              <a:t>(.IQ, .wav, HackRF, USRP)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240280"/>
            <a:ext cx="1234440" cy="6858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Cyclostationary</a:t>
            </a:r>
            <a:br/>
            <a:r>
              <a:t>&amp; Cumulants</a:t>
            </a:r>
            <a:br/>
            <a:r>
              <a:t>Sx^α(f) Engine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2240280"/>
            <a:ext cx="1234440" cy="685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Blind Timing</a:t>
            </a:r>
            <a:br/>
            <a:r>
              <a:t>&amp; Carrier Sync</a:t>
            </a:r>
            <a:br/>
            <a:r>
              <a:t>(Gardner 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1640" y="3108960"/>
            <a:ext cx="1737360" cy="5029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GF(2) Interleaver</a:t>
            </a:r>
            <a:br/>
            <a:r>
              <a:t>&amp; FEC Matrix Solver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94760"/>
            <a:ext cx="402336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794760"/>
            <a:ext cx="40233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END-TO-END WORKFLOW PIPELINE: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160520"/>
            <a:ext cx="3803904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19" b="1">
                <a:solidFill>
                  <a:srgbClr val="0F172A"/>
                </a:solidFill>
                <a:latin typeface="Segoe UI"/>
              </a:defRPr>
            </a:pPr>
            <a:r>
              <a:t>✓ 1. Ingest Raw Terrestrial/Satellite .IQ &amp; .wav Streams</a:t>
            </a:r>
          </a:p>
          <a:p>
            <a:pPr>
              <a:spcAft>
                <a:spcPts val="200"/>
              </a:spcAft>
              <a:defRPr sz="919" b="1">
                <a:solidFill>
                  <a:srgbClr val="0F172A"/>
                </a:solidFill>
                <a:latin typeface="Segoe UI"/>
              </a:defRPr>
            </a:pPr>
            <a:r>
              <a:t>✓ 2. Polyphase Decimation, DC &amp; IQ Imbalance Balancing</a:t>
            </a:r>
          </a:p>
          <a:p>
            <a:pPr>
              <a:spcAft>
                <a:spcPts val="200"/>
              </a:spcAft>
              <a:defRPr sz="919" b="1">
                <a:solidFill>
                  <a:srgbClr val="0F172A"/>
                </a:solidFill>
                <a:latin typeface="Segoe UI"/>
              </a:defRPr>
            </a:pPr>
            <a:r>
              <a:t>✓ 3. Extract Spectral Correlation &amp; 4th-Order Cumulants</a:t>
            </a:r>
          </a:p>
          <a:p>
            <a:pPr>
              <a:spcAft>
                <a:spcPts val="200"/>
              </a:spcAft>
              <a:defRPr sz="919" b="1">
                <a:solidFill>
                  <a:srgbClr val="0F172A"/>
                </a:solidFill>
                <a:latin typeface="Segoe UI"/>
              </a:defRPr>
            </a:pPr>
            <a:r>
              <a:t>✓ 4. ResNet-1D Blind Modulation Classification (&lt;35ms)</a:t>
            </a:r>
          </a:p>
          <a:p>
            <a:pPr>
              <a:spcAft>
                <a:spcPts val="200"/>
              </a:spcAft>
              <a:defRPr sz="919" b="1">
                <a:solidFill>
                  <a:srgbClr val="0F172A"/>
                </a:solidFill>
                <a:latin typeface="Segoe UI"/>
              </a:defRPr>
            </a:pPr>
            <a:r>
              <a:t>✓ 5. Gardner TED Symbol Clock Sync &amp; Costas Phase Lock</a:t>
            </a:r>
          </a:p>
          <a:p>
            <a:pPr>
              <a:spcAft>
                <a:spcPts val="200"/>
              </a:spcAft>
              <a:defRPr sz="919" b="1">
                <a:solidFill>
                  <a:srgbClr val="0F172A"/>
                </a:solidFill>
                <a:latin typeface="Segoe UI"/>
              </a:defRPr>
            </a:pPr>
            <a:r>
              <a:t>✓ 6. Solve Galois Field GF(2) Matrix Rank Interleaver Depth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5943600"/>
            <a:ext cx="3803904" cy="3657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LIVE FEEDS: HF/VHF/UHF • Sub-100ms • 97.8% AMC • Zero Cloud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1234440"/>
            <a:ext cx="68580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54880" y="1234440"/>
            <a:ext cx="6858000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FEATURE MATRIX: LEGACY MANUAL SIGINT vs. SPECTRA AI ENGINE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846320" y="1627632"/>
          <a:ext cx="66751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377440"/>
                <a:gridCol w="2651760"/>
              </a:tblGrid>
              <a:tr h="40233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EA5E9"/>
                          </a:solidFill>
                          <a:latin typeface="Segoe UI"/>
                        </a:defRPr>
                      </a:pPr>
                      <a:r>
                        <a:t>Core Dimension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EA5E9"/>
                          </a:solidFill>
                          <a:latin typeface="Segoe UI"/>
                        </a:defRPr>
                      </a:pPr>
                      <a:r>
                        <a:t>Legacy Manual EW Desks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EA5E9"/>
                          </a:solidFill>
                          <a:latin typeface="Segoe UI"/>
                        </a:defRPr>
                      </a:pPr>
                      <a:r>
                        <a:t>SPECTRA Autonomous AI Engine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B192C"/>
                          </a:solidFill>
                          <a:latin typeface="Segoe UI"/>
                        </a:defRPr>
                      </a:pPr>
                      <a:r>
                        <a:t>Modulation Recognition (AMC)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✗ Manual waterfall inspection; slow (hrs)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✓ AI Neural AMC (ResNet) in &lt;35ms (97.8% acc)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B192C"/>
                          </a:solidFill>
                          <a:latin typeface="Segoe UI"/>
                        </a:defRPr>
                      </a:pPr>
                      <a:r>
                        <a:t>Carrier &amp; Timing Recovery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✗ Trial-and-error manual tuning; drifts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✓ Automated 4th-power FFT &amp; Gardner 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B192C"/>
                          </a:solidFill>
                          <a:latin typeface="Segoe UI"/>
                        </a:defRPr>
                      </a:pPr>
                      <a:r>
                        <a:t>Interleaver Depth Solving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✗ Disjointed tools; fails on unknown keys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✓ Automated GF(2) rank-deficiency solver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B192C"/>
                          </a:solidFill>
                          <a:latin typeface="Segoe UI"/>
                        </a:defRPr>
                      </a:pPr>
                      <a:r>
                        <a:t>Operational Sovereignty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✗ Proprietary foreign suites; telemetry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✓ 100% Air-Gapped sovereign; 0% cloud bleed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4754880" y="3794760"/>
            <a:ext cx="68580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54880" y="3794760"/>
            <a:ext cx="6858000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OUR 4-PILLAR NOVEL PREDICTIVE SOLUTION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92040" y="4187952"/>
            <a:ext cx="3200400" cy="8229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950" b="1">
                <a:solidFill>
                  <a:srgbClr val="0B192C"/>
                </a:solidFill>
                <a:latin typeface="Segoe UI"/>
              </a:defRPr>
            </a:pPr>
            <a:r>
              <a:t>[97.8% ACC] AI Neural AMC Engine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ResNet-1D &amp; CNN-LSTM hybrid classifies 10+ analog/digital modulations (BPSK, QPSK, 16QAM, FSK, OFDM) across -10dB to +20dB SNR.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79" y="4187952"/>
            <a:ext cx="3291840" cy="8229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950" b="1">
                <a:solidFill>
                  <a:srgbClr val="0B192C"/>
                </a:solidFill>
                <a:latin typeface="Segoe UI"/>
              </a:defRPr>
            </a:pPr>
            <a:r>
              <a:t>[SUB-100ms] Blind Parameter Estimator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Gardner Timing Error Detector &amp; Costas loop recover carrier frequency fc, symbol rate Rs, and timing phase in sub-100ms.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92040" y="5047488"/>
            <a:ext cx="3200400" cy="8229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950" b="1">
                <a:solidFill>
                  <a:srgbClr val="0B192C"/>
                </a:solidFill>
                <a:latin typeface="Segoe UI"/>
              </a:defRPr>
            </a:pPr>
            <a:r>
              <a:t>[SOLVER] Interleaver Depth &amp; FEC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Automated GF(2) rank deficiency solver identifies block/convolutional interleaver depth D in [2, 2048] and decodes FEC rates.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79" y="5047488"/>
            <a:ext cx="3291840" cy="8229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950" b="1">
                <a:solidFill>
                  <a:srgbClr val="0B192C"/>
                </a:solidFill>
                <a:latin typeface="Segoe UI"/>
              </a:defRPr>
            </a:pPr>
            <a:r>
              <a:t>[AIR-GAPPED] Sovereign Defense Dossier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100% air-gapped architecture generates SHA-256 tamper-proof intelligence dossiers, constellation plots, and raw IQ telemetry exports.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0" y="6016752"/>
            <a:ext cx="164592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  <a:latin typeface="Segoe UI"/>
              </a:defRPr>
            </a:pPr>
            <a:r>
              <a:t>🌐 Live Web App (PWA Ready)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6016752"/>
            <a:ext cx="164592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  <a:latin typeface="Segoe UI"/>
              </a:defRPr>
            </a:pPr>
            <a:r>
              <a:t>📡 RF Telemetry Stream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6016752"/>
            <a:ext cx="164592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  <a:latin typeface="Segoe UI"/>
              </a:defRPr>
            </a:pPr>
            <a:r>
              <a:t>⚡ FastAPI REST Core (&lt;35ms)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66960" y="6016752"/>
            <a:ext cx="164592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  <a:latin typeface="Segoe UI"/>
              </a:defRPr>
            </a:pPr>
            <a:r>
              <a:t>🛡️ Air-Gapped Sovereign Ready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6510528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537960"/>
            <a:ext cx="1109167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Segoe UI"/>
              </a:defRPr>
            </a:pPr>
            <a:r>
              <a:t>TEAM FUTURISTICS • SPECTRA Signal Analyzer &amp; Parameter Extraction • SIH 2026 Final Round | Slide 2 of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74320"/>
            <a:ext cx="2194560" cy="868680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FUTURISTICS</a:t>
            </a:r>
          </a:p>
          <a:p>
            <a:pPr algn="ctr">
              <a:defRPr sz="900" b="1">
                <a:solidFill>
                  <a:srgbClr val="0EA5E9"/>
                </a:solidFill>
                <a:latin typeface="Segoe UI"/>
              </a:defRPr>
            </a:pPr>
            <a:r>
              <a:t>TEAM ID: SIH-2026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274320"/>
            <a:ext cx="68580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SMART INDIA HACKATHON 2026</a:t>
            </a:r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t>TECHNICAL APPROACH &amp; SYSTEM ARCHITECTURE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82880"/>
            <a:ext cx="1691640" cy="79768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1234440"/>
            <a:ext cx="11091672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4-ZONE ENTERPRISE DEFENSE &amp; SIGNAL ARCHITECTURE (END-TO-END FLOW)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2724912" cy="1143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980" b="1">
                <a:solidFill>
                  <a:srgbClr val="0B192C"/>
                </a:solidFill>
                <a:latin typeface="Segoe UI"/>
              </a:defRPr>
            </a:pPr>
            <a:r>
              <a:t>ZONE 1: Telemetry &amp; Ingestion</a:t>
            </a:r>
          </a:p>
          <a:p>
            <a:pPr>
              <a:defRPr sz="880">
                <a:solidFill>
                  <a:srgbClr val="64748B"/>
                </a:solidFill>
                <a:latin typeface="Segoe UI"/>
              </a:defRPr>
            </a:pPr>
            <a:r>
              <a:t>Raw .IQ (float32/int16) &amp; WAV stream parser, DC offset nulling, IQ balance, polyphase channelizer.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600200"/>
            <a:ext cx="2724912" cy="1143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980" b="1">
                <a:solidFill>
                  <a:srgbClr val="0B192C"/>
                </a:solidFill>
                <a:latin typeface="Segoe UI"/>
              </a:defRPr>
            </a:pPr>
            <a:r>
              <a:t>ZONE 2: Presentation Layer</a:t>
            </a:r>
          </a:p>
          <a:p>
            <a:pPr>
              <a:defRPr sz="880">
                <a:solidFill>
                  <a:srgbClr val="64748B"/>
                </a:solidFill>
                <a:latin typeface="Segoe UI"/>
              </a:defRPr>
            </a:pPr>
            <a:r>
              <a:t>Responsive WebGL Canvas constellation, multi-horizon FFT spectrum, real-time audio demodulation.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00200"/>
            <a:ext cx="2724912" cy="1143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980" b="1">
                <a:solidFill>
                  <a:srgbClr val="0B192C"/>
                </a:solidFill>
                <a:latin typeface="Segoe UI"/>
              </a:defRPr>
            </a:pPr>
            <a:r>
              <a:t>ZONE 3: High-Speed Core API</a:t>
            </a:r>
          </a:p>
          <a:p>
            <a:pPr>
              <a:defRPr sz="880">
                <a:solidFill>
                  <a:srgbClr val="64748B"/>
                </a:solidFill>
                <a:latin typeface="Segoe UI"/>
              </a:defRPr>
            </a:pPr>
            <a:r>
              <a:t>Python FastAPI async framework, Uvicorn ASGI, Redis/In-Memory sub-35ms Cache, SSE events.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15400" y="1600200"/>
            <a:ext cx="2724912" cy="1143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980" b="1">
                <a:solidFill>
                  <a:srgbClr val="0B192C"/>
                </a:solidFill>
                <a:latin typeface="Segoe UI"/>
              </a:defRPr>
            </a:pPr>
            <a:r>
              <a:t>ZONE 4: AI &amp; Math Engine</a:t>
            </a:r>
          </a:p>
          <a:p>
            <a:pPr>
              <a:defRPr sz="880">
                <a:solidFill>
                  <a:srgbClr val="64748B"/>
                </a:solidFill>
                <a:latin typeface="Segoe UI"/>
              </a:defRPr>
            </a:pPr>
            <a:r>
              <a:t>ResNet-1D Neural AMC, Cyclostationary Rx(τ), Gardner TED, GF(2) Rank solver, Viterbi decoder.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852928"/>
            <a:ext cx="5303520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IMPLEMENTATION PROCESS &amp; PIPELINE STAGES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18688"/>
            <a:ext cx="530352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980" b="1">
                <a:solidFill>
                  <a:srgbClr val="0B192C"/>
                </a:solidFill>
                <a:latin typeface="Segoe UI"/>
              </a:defRPr>
            </a:pPr>
            <a:r>
              <a:t>[STAGE 1] Ingestion &amp; RF Conditioning</a:t>
            </a:r>
          </a:p>
          <a:p>
            <a:pPr>
              <a:defRPr sz="880">
                <a:solidFill>
                  <a:srgbClr val="64748B"/>
                </a:solidFill>
                <a:latin typeface="Segoe UI"/>
              </a:defRPr>
            </a:pPr>
            <a:r>
              <a:t>Handles raw interleaved 32-bit float / 16-bit PCM; executes automated DC offset removal, power normalization (AGC), and polyphase decimation filtering.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41648"/>
            <a:ext cx="530352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980" b="1">
                <a:solidFill>
                  <a:srgbClr val="0B192C"/>
                </a:solidFill>
                <a:latin typeface="Segoe UI"/>
              </a:defRPr>
            </a:pPr>
            <a:r>
              <a:t>[STAGE 2] Cyclostationary &amp; Cumulant Extraction</a:t>
            </a:r>
          </a:p>
          <a:p>
            <a:pPr>
              <a:defRPr sz="880">
                <a:solidFill>
                  <a:srgbClr val="64748B"/>
                </a:solidFill>
                <a:latin typeface="Segoe UI"/>
              </a:defRPr>
            </a:pPr>
            <a:r>
              <a:t>Computes Spectral Correlation Function Sx(f) and 4th-order cumulants (C40, C42) to isolate cyclostationary spectral lines immune to stationary noise and jamming.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864608"/>
            <a:ext cx="530352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980" b="1">
                <a:solidFill>
                  <a:srgbClr val="0B192C"/>
                </a:solidFill>
                <a:latin typeface="Segoe UI"/>
              </a:defRPr>
            </a:pPr>
            <a:r>
              <a:t>[STAGE 3] Blind Symbol Timing &amp; Carrier Lock</a:t>
            </a:r>
          </a:p>
          <a:p>
            <a:pPr>
              <a:defRPr sz="880">
                <a:solidFill>
                  <a:srgbClr val="64748B"/>
                </a:solidFill>
                <a:latin typeface="Segoe UI"/>
              </a:defRPr>
            </a:pPr>
            <a:r>
              <a:t>Gardner Timing Error Detector (TED) extracts symbol clock without prior timing knowledge; 4th-power FFT strips modulation to lock carrier frequency and phase.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687568"/>
            <a:ext cx="530352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980" b="1">
                <a:solidFill>
                  <a:srgbClr val="0B192C"/>
                </a:solidFill>
                <a:latin typeface="Segoe UI"/>
              </a:defRPr>
            </a:pPr>
            <a:r>
              <a:t>[STAGE 4] Decision Advisory &amp; Interleaver Solving</a:t>
            </a:r>
          </a:p>
          <a:p>
            <a:pPr>
              <a:defRPr sz="880">
                <a:solidFill>
                  <a:srgbClr val="64748B"/>
                </a:solidFill>
                <a:latin typeface="Segoe UI"/>
              </a:defRPr>
            </a:pPr>
            <a:r>
              <a:t>Solves linear matrix rank equations R × C over GF(2) to recover interleaving depth D and convolutional generators (g1, g2).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2852928"/>
            <a:ext cx="5605272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MATHEMATICAL FORMULATION &amp; LIVE PROTOTYPE ENGINE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3218688"/>
            <a:ext cx="5605272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Consolas"/>
              </a:defRPr>
            </a:pPr>
            <a:r>
              <a:t>S_x^α(f) = lim (1/T) X(f+α/2)X*(f-α/2) | ε(k) = I(k-½)[I(k)-I(k-1)] + Q(k-½)[Q(k)-Q(k-1)] | Rank_GF(2)(M) &lt; 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3886200"/>
            <a:ext cx="2724912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rop_constellation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2" y="3931920"/>
            <a:ext cx="2578608" cy="187451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108192" y="5852160"/>
            <a:ext cx="257860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0B192C"/>
                </a:solidFill>
                <a:latin typeface="Segoe UI"/>
              </a:defRPr>
            </a:pPr>
            <a:r>
              <a:t>Live Multi-Trace Spectral &amp; Constellation Matrix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3886200"/>
            <a:ext cx="2724912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rop_neural_amc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8552" y="3931920"/>
            <a:ext cx="2578608" cy="187451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988552" y="5852160"/>
            <a:ext cx="257860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0B192C"/>
                </a:solidFill>
                <a:latin typeface="Segoe UI"/>
              </a:defRPr>
            </a:pPr>
            <a:r>
              <a:t>AI Neural AMC &amp; Gardner Timing Optimizer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6510528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537960"/>
            <a:ext cx="1109167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Segoe UI"/>
              </a:defRPr>
            </a:pPr>
            <a:r>
              <a:t>TEAM FUTURISTICS • SPECTRA Signal Analyzer &amp; Parameter Extraction • SIH 2026 Final Round | Slide 3 of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74320"/>
            <a:ext cx="2194560" cy="868680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FUTURISTICS</a:t>
            </a:r>
          </a:p>
          <a:p>
            <a:pPr algn="ctr">
              <a:defRPr sz="900" b="1">
                <a:solidFill>
                  <a:srgbClr val="0EA5E9"/>
                </a:solidFill>
                <a:latin typeface="Segoe UI"/>
              </a:defRPr>
            </a:pPr>
            <a:r>
              <a:t>TEAM ID: SIH-2026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274320"/>
            <a:ext cx="68580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SMART INDIA HACKATHON 2026</a:t>
            </a:r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t>FEASIBILITY, RISK ANALYSIS &amp; MITIGATION MATRIX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82880"/>
            <a:ext cx="1691640" cy="79768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234440"/>
            <a:ext cx="3593592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3593592" cy="3200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TECHNICAL FEASIBILITY [SUB-35ms]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341071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• Sub-35ms query latency powered by vectorized NumPy/SciPy C-bindings.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• 100% air-gapped sovereign architecture; zero dedicated GPU requirement.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• Python FastAPI async backend with OpenAPI 3.0 specs &amp; JWT security.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• High-availability Docker deployment with 99.9% uptime SLA.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234440"/>
            <a:ext cx="3593592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234440"/>
            <a:ext cx="3593592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OPERATIONAL FEASIBILITY [100% AIR-GAPPED]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600200"/>
            <a:ext cx="341071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• 100% compliant with military intelligence SIGINT workflows &amp; STANAG formats.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• Ingests raw binary .IQ (float32/int16), .wav, and SDR formats (HackRF/USRP).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• Zero operational disruption; integrates directly into C4ISR &amp; EW consoles.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• Graceful offline fallback uses robust cumulant models during signal outages.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234440"/>
            <a:ext cx="3593592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234440"/>
            <a:ext cx="3593592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ECONOMIC VIABILITY [₹18.4 Cr ROI]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600200"/>
            <a:ext cx="341071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• Saves ₹18.4 Cr annually by replacing expensive foreign proprietary RF suites.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• Eliminates ₹6.2 Cr in recurring licensing penalties ($22,500/yr saved per station).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• Saves ₹3.8 Cr through optimized CPU inference without costly hardware cards.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• Complete sovereign software setup and deployment pays back in under 22 days.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364992"/>
            <a:ext cx="6217920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OPERATIONAL RISKS ──► ENGINEERED MITIGATION STRATEGIES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49039"/>
            <a:ext cx="256032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defRPr sz="880" b="1">
                <a:solidFill>
                  <a:srgbClr val="EF4444"/>
                </a:solidFill>
                <a:latin typeface="Segoe UI"/>
              </a:defRPr>
            </a:pPr>
            <a:r>
              <a:t>[RISK] 01. Hostile RF Jamming &amp; Low SNR (-10dB)</a:t>
            </a:r>
          </a:p>
          <a:p>
            <a:pPr>
              <a:defRPr sz="819">
                <a:solidFill>
                  <a:srgbClr val="64748B"/>
                </a:solidFill>
                <a:latin typeface="Segoe UI"/>
              </a:defRPr>
            </a:pPr>
            <a:r>
              <a:t>Sudden electronic warfare jamming degrades constellation clusters.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154680" y="3913631"/>
            <a:ext cx="320040" cy="219456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20440" y="3749039"/>
            <a:ext cx="324612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defRPr sz="880" b="1">
                <a:solidFill>
                  <a:srgbClr val="10B981"/>
                </a:solidFill>
                <a:latin typeface="Segoe UI"/>
              </a:defRPr>
            </a:pPr>
            <a:r>
              <a:t>[SOLVED BY] 01. Cyclostationary Feature Integration</a:t>
            </a:r>
          </a:p>
          <a:p>
            <a:pPr>
              <a:defRPr sz="819">
                <a:solidFill>
                  <a:srgbClr val="64748B"/>
                </a:solidFill>
                <a:latin typeface="Segoe UI"/>
              </a:defRPr>
            </a:pPr>
            <a:r>
              <a:t>Exploits hidden spectral periodicity; stationary jamming has zero cyclic lines.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407408"/>
            <a:ext cx="256032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defRPr sz="880" b="1">
                <a:solidFill>
                  <a:srgbClr val="EF4444"/>
                </a:solidFill>
                <a:latin typeface="Segoe UI"/>
              </a:defRPr>
            </a:pPr>
            <a:r>
              <a:t>[RISK] 02. Non-Standard Interleaving Depths</a:t>
            </a:r>
          </a:p>
          <a:p>
            <a:pPr>
              <a:defRPr sz="819">
                <a:solidFill>
                  <a:srgbClr val="64748B"/>
                </a:solidFill>
                <a:latin typeface="Segoe UI"/>
              </a:defRPr>
            </a:pPr>
            <a:r>
              <a:t>Unknown commercial or military framing obscures bitstream decoding.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154680" y="4572000"/>
            <a:ext cx="320040" cy="219456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520440" y="4407408"/>
            <a:ext cx="324612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defRPr sz="880" b="1">
                <a:solidFill>
                  <a:srgbClr val="10B981"/>
                </a:solidFill>
                <a:latin typeface="Segoe UI"/>
              </a:defRPr>
            </a:pPr>
            <a:r>
              <a:t>[SOLVED BY] 02. GF(2) Matrix Rank Defect Search</a:t>
            </a:r>
          </a:p>
          <a:p>
            <a:pPr>
              <a:defRPr sz="819">
                <a:solidFill>
                  <a:srgbClr val="64748B"/>
                </a:solidFill>
                <a:latin typeface="Segoe UI"/>
              </a:defRPr>
            </a:pPr>
            <a:r>
              <a:t>Automated rank-deficiency search across variable depths 2 ≤ D ≤ 2048.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065776"/>
            <a:ext cx="256032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defRPr sz="880" b="1">
                <a:solidFill>
                  <a:srgbClr val="EF4444"/>
                </a:solidFill>
                <a:latin typeface="Segoe UI"/>
              </a:defRPr>
            </a:pPr>
            <a:r>
              <a:t>[RISK] 03. High Doppler Shifts &amp; Carrier Offsets</a:t>
            </a:r>
          </a:p>
          <a:p>
            <a:pPr>
              <a:defRPr sz="819">
                <a:solidFill>
                  <a:srgbClr val="64748B"/>
                </a:solidFill>
                <a:latin typeface="Segoe UI"/>
              </a:defRPr>
            </a:pPr>
            <a:r>
              <a:t>Fast aerial or low-earth orbit emitters cause major frequency drift.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154680" y="5230368"/>
            <a:ext cx="320040" cy="219456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520440" y="5065776"/>
            <a:ext cx="324612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defRPr sz="880" b="1">
                <a:solidFill>
                  <a:srgbClr val="10B981"/>
                </a:solidFill>
                <a:latin typeface="Segoe UI"/>
              </a:defRPr>
            </a:pPr>
            <a:r>
              <a:t>[SOLVED BY] 03. Dual-Stage Coarse FFT + Fine Costas Loop</a:t>
            </a:r>
          </a:p>
          <a:p>
            <a:pPr>
              <a:defRPr sz="819">
                <a:solidFill>
                  <a:srgbClr val="64748B"/>
                </a:solidFill>
                <a:latin typeface="Segoe UI"/>
              </a:defRPr>
            </a:pPr>
            <a:r>
              <a:t>Wideband tracker pulls in ±250 kHz offsets before fine Costas PLL lock.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724144"/>
            <a:ext cx="256032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defRPr sz="880" b="1">
                <a:solidFill>
                  <a:srgbClr val="EF4444"/>
                </a:solidFill>
                <a:latin typeface="Segoe UI"/>
              </a:defRPr>
            </a:pPr>
            <a:r>
              <a:t>[RISK] 04. Tactical Field Computing Constraints</a:t>
            </a:r>
          </a:p>
          <a:p>
            <a:pPr>
              <a:defRPr sz="819">
                <a:solidFill>
                  <a:srgbClr val="64748B"/>
                </a:solidFill>
                <a:latin typeface="Segoe UI"/>
              </a:defRPr>
            </a:pPr>
            <a:r>
              <a:t>Field operations lack heavy GPU servers; requires fast CPU inference.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3154680" y="5888736"/>
            <a:ext cx="320040" cy="219456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520440" y="5724144"/>
            <a:ext cx="324612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defRPr sz="880" b="1">
                <a:solidFill>
                  <a:srgbClr val="10B981"/>
                </a:solidFill>
                <a:latin typeface="Segoe UI"/>
              </a:defRPr>
            </a:pPr>
            <a:r>
              <a:t>[SOLVED BY] 04. ONNX Runtime &amp; INT8 Quantized Kernels</a:t>
            </a:r>
          </a:p>
          <a:p>
            <a:pPr>
              <a:defRPr sz="819">
                <a:solidFill>
                  <a:srgbClr val="64748B"/>
                </a:solidFill>
                <a:latin typeface="Segoe UI"/>
              </a:defRPr>
            </a:pPr>
            <a:r>
              <a:t>Lightweight quantized model weights run in &lt;35ms on dual-core laptops.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49440" y="3364992"/>
            <a:ext cx="4690872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LIVE ANOMALY &amp; CONTAMINATED SPECTRUM CONSOLE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49440" y="3749039"/>
            <a:ext cx="4690872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crop_risk_spectral_anoma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2" y="3822191"/>
            <a:ext cx="4544568" cy="22402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949440" y="6108192"/>
            <a:ext cx="46908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Live Prototype: Real-Time SNR Degradation &amp; Contaminated Jamming Detection in Action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6510528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537960"/>
            <a:ext cx="1109167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Segoe UI"/>
              </a:defRPr>
            </a:pPr>
            <a:r>
              <a:t>TEAM FUTURISTICS • SPECTRA Signal Analyzer &amp; Parameter Extraction • SIH 2026 Final Round | Slide 4 of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74320"/>
            <a:ext cx="2194560" cy="868680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FUTURISTICS</a:t>
            </a:r>
          </a:p>
          <a:p>
            <a:pPr algn="ctr">
              <a:defRPr sz="900" b="1">
                <a:solidFill>
                  <a:srgbClr val="0EA5E9"/>
                </a:solidFill>
                <a:latin typeface="Segoe UI"/>
              </a:defRPr>
            </a:pPr>
            <a:r>
              <a:t>TEAM ID: SIH-2026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274320"/>
            <a:ext cx="68580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SMART INDIA HACKATHON 2026</a:t>
            </a:r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t>IMPACT, QUANTIFIABLE ROI &amp; ECOSYSTEM BENEFITS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82880"/>
            <a:ext cx="1691640" cy="79768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234440"/>
            <a:ext cx="2724912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2200" b="1">
                <a:solidFill>
                  <a:srgbClr val="2563EB"/>
                </a:solidFill>
                <a:latin typeface="Segoe UI"/>
              </a:defRPr>
            </a:pPr>
            <a:r>
              <a:t>97.8% Accuracy</a:t>
            </a:r>
          </a:p>
          <a:p>
            <a:pPr algn="ctr">
              <a:defRPr sz="1050" b="1">
                <a:solidFill>
                  <a:srgbClr val="0B192C"/>
                </a:solidFill>
                <a:latin typeface="Segoe UI"/>
              </a:defRPr>
            </a:pPr>
            <a:r>
              <a:t>Net Modulation Accuracy</a:t>
            </a:r>
          </a:p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Deep learning classification across 10+ digital modulations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234440"/>
            <a:ext cx="2724912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2200" b="1">
                <a:solidFill>
                  <a:srgbClr val="EF4444"/>
                </a:solidFill>
                <a:latin typeface="Segoe UI"/>
              </a:defRPr>
            </a:pPr>
            <a:r>
              <a:t>&lt; 100 ms</a:t>
            </a:r>
          </a:p>
          <a:p>
            <a:pPr algn="ctr">
              <a:defRPr sz="1050" b="1">
                <a:solidFill>
                  <a:srgbClr val="0B192C"/>
                </a:solidFill>
                <a:latin typeface="Segoe UI"/>
              </a:defRPr>
            </a:pPr>
            <a:r>
              <a:t>Real-Time Inference Latency</a:t>
            </a:r>
          </a:p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Real-time blind signal detection and parameter extraction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234440"/>
            <a:ext cx="2724912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2200" b="1">
                <a:solidFill>
                  <a:srgbClr val="10B981"/>
                </a:solidFill>
                <a:latin typeface="Segoe UI"/>
              </a:defRPr>
            </a:pPr>
            <a:r>
              <a:t>100% Compliance</a:t>
            </a:r>
          </a:p>
          <a:p>
            <a:pPr algn="ctr">
              <a:defRPr sz="1050" b="1">
                <a:solidFill>
                  <a:srgbClr val="0B192C"/>
                </a:solidFill>
                <a:latin typeface="Segoe UI"/>
              </a:defRPr>
            </a:pPr>
            <a:r>
              <a:t>Air-Gapped Sovereign Security</a:t>
            </a:r>
          </a:p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Zero external network dependency, zero cloud leakage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15400" y="1234440"/>
            <a:ext cx="2724912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2200" b="1">
                <a:solidFill>
                  <a:srgbClr val="0B192C"/>
                </a:solidFill>
                <a:latin typeface="Segoe UI"/>
              </a:defRPr>
            </a:pPr>
            <a:r>
              <a:t>100x Speedup</a:t>
            </a:r>
          </a:p>
          <a:p>
            <a:pPr algn="ctr">
              <a:defRPr sz="1050" b="1">
                <a:solidFill>
                  <a:srgbClr val="0B192C"/>
                </a:solidFill>
                <a:latin typeface="Segoe UI"/>
              </a:defRPr>
            </a:pPr>
            <a:r>
              <a:t>Operational Turnaround Gain</a:t>
            </a:r>
          </a:p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Accelerated intelligence turnaround vs manual inspection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338328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606040"/>
            <a:ext cx="3383280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TARGET AUDIENCE &amp; BENEFICIARIES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971800"/>
            <a:ext cx="316382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950" b="1">
                <a:solidFill>
                  <a:srgbClr val="0B192C"/>
                </a:solidFill>
                <a:latin typeface="Segoe UI"/>
              </a:rPr>
              <a:t>[DEFENSE / INTEL] NTRO &amp; Strategic Agencies
</a:t>
            </a:r>
            <a:r>
              <a:rPr sz="850">
                <a:solidFill>
                  <a:srgbClr val="64748B"/>
                </a:solidFill>
                <a:latin typeface="Segoe UI"/>
              </a:rPr>
              <a:t>Instant automated triage of high-volume intercepted RF traffic across HF/VHF/UHF bands saving ₹15–₹50+ Cr annually.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0B192C"/>
                </a:solidFill>
                <a:latin typeface="Segoe UI"/>
              </a:rPr>
              <a:t>[TACTICAL EW] Tri-Services Electronic Warfare
</a:t>
            </a:r>
            <a:r>
              <a:rPr sz="850">
                <a:solidFill>
                  <a:srgbClr val="64748B"/>
                </a:solidFill>
                <a:latin typeface="Segoe UI"/>
              </a:rPr>
              <a:t>Rapid emitter classification, radar/comms sorting, and electronic counter-measure (ECM) cueing.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0B192C"/>
                </a:solidFill>
                <a:latin typeface="Segoe UI"/>
              </a:rPr>
              <a:t>[COASTAL SECURITY] Indian Coast Guard &amp; Navy
</a:t>
            </a:r>
            <a:r>
              <a:rPr sz="850">
                <a:solidFill>
                  <a:srgbClr val="64748B"/>
                </a:solidFill>
                <a:latin typeface="Segoe UI"/>
              </a:rPr>
              <a:t>Interception and identification of dark vessels, unauthorized maritime transmitters, and AIS spoofing.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0B192C"/>
                </a:solidFill>
                <a:latin typeface="Segoe UI"/>
              </a:rPr>
              <a:t>[SPACE &amp; SATELLITE] ISRO Ground Stations
</a:t>
            </a:r>
            <a:r>
              <a:rPr sz="850">
                <a:solidFill>
                  <a:srgbClr val="64748B"/>
                </a:solidFill>
                <a:latin typeface="Segoe UI"/>
              </a:rPr>
              <a:t>Downlink signal health verification, telemetry anomaly detection, and blind demodulation validation.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9080" y="2606040"/>
            <a:ext cx="338328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69080" y="2606040"/>
            <a:ext cx="338328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MULTI-DIMENSIONAL BENEFITS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78808" y="2971800"/>
            <a:ext cx="316382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950" b="1">
                <a:solidFill>
                  <a:srgbClr val="2563EB"/>
                </a:solidFill>
                <a:latin typeface="Segoe UI"/>
              </a:rPr>
              <a:t>[SOVEREIGN] Aatmanirbhar Bharat in SIGINT
</a:t>
            </a:r>
            <a:r>
              <a:rPr sz="850">
                <a:solidFill>
                  <a:srgbClr val="64748B"/>
                </a:solidFill>
                <a:latin typeface="Segoe UI"/>
              </a:rPr>
              <a:t>Eliminates foreign proprietary tool dependency; keeps sensitive national spectrum data strictly on sovereign territory.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2563EB"/>
                </a:solidFill>
                <a:latin typeface="Segoe UI"/>
              </a:rPr>
              <a:t>[OPERATIONAL] Tactical Decision Superiority
</a:t>
            </a:r>
            <a:r>
              <a:rPr sz="850">
                <a:solidFill>
                  <a:srgbClr val="64748B"/>
                </a:solidFill>
                <a:latin typeface="Segoe UI"/>
              </a:rPr>
              <a:t>Shrinks signal parameter extraction time from hours to milliseconds, enabling proactive response in contested spectrum.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2563EB"/>
                </a:solidFill>
                <a:latin typeface="Segoe UI"/>
              </a:rPr>
              <a:t>[FORENSIC] SHA-256 Cryptographic Custody
</a:t>
            </a:r>
            <a:r>
              <a:rPr sz="850">
                <a:solidFill>
                  <a:srgbClr val="64748B"/>
                </a:solidFill>
                <a:latin typeface="Segoe UI"/>
              </a:rPr>
              <a:t>Every analysis record is cryptographically stamped, creating court-admissible electronic warfare evidence dossiers.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2563EB"/>
                </a:solidFill>
                <a:latin typeface="Segoe UI"/>
              </a:rPr>
              <a:t>[ECONOMIC] Massive Foreign Exchange Savings
</a:t>
            </a:r>
            <a:r>
              <a:rPr sz="850">
                <a:solidFill>
                  <a:srgbClr val="64748B"/>
                </a:solidFill>
                <a:latin typeface="Segoe UI"/>
              </a:rPr>
              <a:t>Indigenous software stack saves tens of crores annually in foreign software procurement and maintenance contracts.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2606040"/>
            <a:ext cx="4005072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35240" y="2606040"/>
            <a:ext cx="4005072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LIVE BITSTREAM &amp; FEC MATRIX SOLVER ENGINE</a:t>
            </a:r>
          </a:p>
        </p:txBody>
      </p:sp>
      <p:pic>
        <p:nvPicPr>
          <p:cNvPr id="17" name="Picture 16" descr="crop_interleaver_hex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79" y="2999232"/>
            <a:ext cx="3822191" cy="30632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635240" y="6108192"/>
            <a:ext cx="40050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Live Prototype: Blind Bitstream Reconstruction &amp; Galois Field GF(2) Rank Matrix Solution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510528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37960"/>
            <a:ext cx="1109167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Segoe UI"/>
              </a:defRPr>
            </a:pPr>
            <a:r>
              <a:t>TEAM FUTURISTICS • SPECTRA Signal Analyzer &amp; Parameter Extraction • SIH 2026 Final Round | Slide 5 of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74320"/>
            <a:ext cx="2194560" cy="868680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FUTURISTICS</a:t>
            </a:r>
          </a:p>
          <a:p>
            <a:pPr algn="ctr">
              <a:defRPr sz="900" b="1">
                <a:solidFill>
                  <a:srgbClr val="0EA5E9"/>
                </a:solidFill>
                <a:latin typeface="Segoe UI"/>
              </a:defRPr>
            </a:pPr>
            <a:r>
              <a:t>TEAM ID: SIH-2026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274320"/>
            <a:ext cx="68580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SMART INDIA HACKATHON 2026</a:t>
            </a:r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t>RESEARCH, INDUSTRY STANDARDS &amp; MARKET VALIDATION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82880"/>
            <a:ext cx="1691640" cy="79768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234440"/>
            <a:ext cx="530352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5303520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ACADEMIC LITERATURE &amp; DEFENSE RF STANDARDS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0B192C"/>
                </a:solidFill>
                <a:latin typeface="Segoe UI"/>
              </a:rPr>
              <a:t>[BENCHMARK] DeepSig RadioML 2018.01A Benchmark
</a:t>
            </a:r>
            <a:r>
              <a:rPr sz="880">
                <a:solidFill>
                  <a:srgbClr val="64748B"/>
                </a:solidFill>
                <a:latin typeface="Segoe UI"/>
              </a:rPr>
              <a:t>Standardized synthetic &amp; over-the-air dataset (10.6M frames) used to benchmark neural AMC models across SNR -20dB to +30dB.</a:t>
            </a:r>
          </a:p>
          <a:p>
            <a:pPr>
              <a:spcAft>
                <a:spcPts val="800"/>
              </a:spcAft>
            </a:pPr>
            <a:r>
              <a:rPr sz="950" b="1">
                <a:solidFill>
                  <a:srgbClr val="0B192C"/>
                </a:solidFill>
                <a:latin typeface="Segoe UI"/>
              </a:rPr>
              <a:t>[ACADEMIC] Gardner Timing Error Detection (IEEE Trans. Comm., 1986)
</a:t>
            </a:r>
            <a:r>
              <a:rPr sz="880">
                <a:solidFill>
                  <a:srgbClr val="64748B"/>
                </a:solidFill>
                <a:latin typeface="Segoe UI"/>
              </a:rPr>
              <a:t>Theoretical foundation on jitter-free blind symbol synchronization without prior carrier phase knowledge.</a:t>
            </a:r>
          </a:p>
          <a:p>
            <a:pPr>
              <a:spcAft>
                <a:spcPts val="800"/>
              </a:spcAft>
            </a:pPr>
            <a:r>
              <a:rPr sz="950" b="1">
                <a:solidFill>
                  <a:srgbClr val="0B192C"/>
                </a:solidFill>
                <a:latin typeface="Segoe UI"/>
              </a:rPr>
              <a:t>[AI SCIENCE] Swami &amp; Sadler Higher-Order Cumulants (IEEE Trans. SP)
</a:t>
            </a:r>
            <a:r>
              <a:rPr sz="880">
                <a:solidFill>
                  <a:srgbClr val="64748B"/>
                </a:solidFill>
                <a:latin typeface="Segoe UI"/>
              </a:rPr>
              <a:t>Mathematical formulation of 4th and 6th-order cumulants (C40, C42) for blind classification of QAM and PSK constellations.</a:t>
            </a:r>
          </a:p>
          <a:p>
            <a:pPr>
              <a:spcAft>
                <a:spcPts val="800"/>
              </a:spcAft>
            </a:pPr>
            <a:r>
              <a:rPr sz="950" b="1">
                <a:solidFill>
                  <a:srgbClr val="0B192C"/>
                </a:solidFill>
                <a:latin typeface="Segoe UI"/>
              </a:rPr>
              <a:t>[STANDARDS] CCSDS 131.0-B-3 &amp; STANAG 4285 / 4538
</a:t>
            </a:r>
            <a:r>
              <a:rPr sz="880">
                <a:solidFill>
                  <a:srgbClr val="64748B"/>
                </a:solidFill>
                <a:latin typeface="Segoe UI"/>
              </a:rPr>
              <a:t>NATO and space telemetry standards governing convolutional coding, interleaving, and automated link establishment.</a:t>
            </a:r>
          </a:p>
          <a:p>
            <a:pPr>
              <a:spcAft>
                <a:spcPts val="800"/>
              </a:spcAft>
            </a:pPr>
            <a:r>
              <a:rPr sz="950" b="1">
                <a:solidFill>
                  <a:srgbClr val="0B192C"/>
                </a:solidFill>
                <a:latin typeface="Segoe UI"/>
              </a:rPr>
              <a:t>[GOVT GAZETTES] Indian Defense &amp; WPC Frequency Gazettes
</a:t>
            </a:r>
            <a:r>
              <a:rPr sz="880">
                <a:solidFill>
                  <a:srgbClr val="64748B"/>
                </a:solidFill>
                <a:latin typeface="Segoe UI"/>
              </a:rPr>
              <a:t>Official band allocation rules, VHF/UHF channel plans, and tactical emission masks for military communications.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234440"/>
            <a:ext cx="5605272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35040" y="1234440"/>
            <a:ext cx="5605272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EMPIRICAL DEFENSE RESEARCH &amp; OPERATOR GROUND-TRUTH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1600200"/>
            <a:ext cx="2697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B192C"/>
                </a:solidFill>
                <a:latin typeface="Segoe UI"/>
              </a:defRPr>
            </a:pPr>
            <a:r>
              <a:t>Does Manual Waterfall Analysis</a:t>
            </a:r>
            <a:br/>
            <a:r>
              <a:t>Hurt Tactical Response Time?</a:t>
            </a:r>
          </a:p>
        </p:txBody>
      </p:sp>
      <p:pic>
        <p:nvPicPr>
          <p:cNvPr id="11" name="Picture 10" descr="chart_donut_bottlen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011680"/>
            <a:ext cx="1691640" cy="16916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80760" y="3429000"/>
            <a:ext cx="2697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▬ Agree / Impacted (94%)</a:t>
            </a:r>
            <a:br/>
            <a:r>
              <a:t>▬ Unaffected (6%)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1600200"/>
            <a:ext cx="2697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B192C"/>
                </a:solidFill>
                <a:latin typeface="Segoe UI"/>
              </a:defRPr>
            </a:pPr>
            <a:r>
              <a:t>Would Automated FEC &amp; Interleaver</a:t>
            </a:r>
            <a:br/>
            <a:r>
              <a:t>Extraction Cut Turnaround by &gt;80%?</a:t>
            </a:r>
          </a:p>
        </p:txBody>
      </p:sp>
      <p:pic>
        <p:nvPicPr>
          <p:cNvPr id="14" name="Picture 13" descr="chart_donut_dem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2011680"/>
            <a:ext cx="1691640" cy="1691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915400" y="3429000"/>
            <a:ext cx="2697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▬ High Demand (91%)</a:t>
            </a:r>
            <a:br/>
            <a:r>
              <a:t>▬ Neutral (9%)</a:t>
            </a:r>
          </a:p>
        </p:txBody>
      </p:sp>
      <p:pic>
        <p:nvPicPr>
          <p:cNvPr id="16" name="Picture 15" descr="crop_ground_truth_cle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4768" y="3840480"/>
            <a:ext cx="5385816" cy="22402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35040" y="6108192"/>
            <a:ext cx="56052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Ground-Truth Verification: 100% Parameter Match Across 6 Real Military Intercept Records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510528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37960"/>
            <a:ext cx="1109167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Segoe UI"/>
              </a:defRPr>
            </a:pPr>
            <a:r>
              <a:t>TEAM FUTURISTICS • SPECTRA Signal Analyzer &amp; Parameter Extraction • SIH 2026 Final Round | Slide 6 of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74320"/>
            <a:ext cx="2194560" cy="868680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FUTURISTICS</a:t>
            </a:r>
          </a:p>
          <a:p>
            <a:pPr algn="ctr">
              <a:defRPr sz="900" b="1">
                <a:solidFill>
                  <a:srgbClr val="0EA5E9"/>
                </a:solidFill>
                <a:latin typeface="Segoe UI"/>
              </a:defRPr>
            </a:pPr>
            <a:r>
              <a:t>TEAM ID: SIH-2026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274320"/>
            <a:ext cx="68580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SMART INDIA HACKATHON 2026</a:t>
            </a:r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t>LIVE PROTOTYPE SHOWCASE &amp; PRODUCTION TECH STACK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82880"/>
            <a:ext cx="1691640" cy="79768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234440"/>
            <a:ext cx="54406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544068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MODULE 1: TELEMETRY INGESTION, WAVEFORM &amp; CONSTELLATION</a:t>
            </a:r>
          </a:p>
        </p:txBody>
      </p:sp>
      <p:pic>
        <p:nvPicPr>
          <p:cNvPr id="7" name="Picture 6" descr="crop_module1_teleme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00200"/>
            <a:ext cx="5257800" cy="2788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407408"/>
            <a:ext cx="5257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Interactive I/Q time-domain waveform, power spectral density (PSD), and tactical radar emitter inspector.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234440"/>
            <a:ext cx="54406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9632" y="1234440"/>
            <a:ext cx="544068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MODULE 2: AI NEURAL INTELLIGENCE LAB &amp; BLIND INTERLEAVER SOLVER</a:t>
            </a:r>
          </a:p>
        </p:txBody>
      </p:sp>
      <p:pic>
        <p:nvPicPr>
          <p:cNvPr id="11" name="Picture 10" descr="crop_module2_neural_l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1600200"/>
            <a:ext cx="5257800" cy="2788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91072" y="4407408"/>
            <a:ext cx="5257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AI Neural AMC classification probabilities, Gardner symbol recovery, GF(2) rank interleaver depth solver &amp; bitstream inspector.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800600"/>
            <a:ext cx="11091672" cy="292608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PRODUCTION-GRADE TECHNOLOGY STACK &amp; ARCHITECTURAL PILLARS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138928"/>
            <a:ext cx="2724912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109728"/>
          <a:lstStyle/>
          <a:p>
            <a:pPr algn="ctr">
              <a:defRPr sz="1000" b="1">
                <a:solidFill>
                  <a:srgbClr val="0B192C"/>
                </a:solidFill>
                <a:latin typeface="Segoe UI"/>
              </a:defRPr>
            </a:pPr>
            <a:r>
              <a:t>Frontend / GUI</a:t>
            </a:r>
          </a:p>
          <a:p>
            <a:pPr>
              <a:defRPr sz="880">
                <a:solidFill>
                  <a:srgbClr val="0F172A"/>
                </a:solidFill>
                <a:latin typeface="Segoe UI"/>
              </a:defRPr>
            </a:pPr>
            <a:r>
              <a:t>✓ HTML5 Canvas / WebGL</a:t>
            </a:r>
          </a:p>
          <a:p>
            <a:pPr>
              <a:defRPr sz="880">
                <a:solidFill>
                  <a:srgbClr val="0F172A"/>
                </a:solidFill>
                <a:latin typeface="Segoe UI"/>
              </a:defRPr>
            </a:pPr>
            <a:r>
              <a:t>✓ Modern Vanilla CSS3</a:t>
            </a:r>
          </a:p>
          <a:p>
            <a:pPr>
              <a:defRPr sz="880">
                <a:solidFill>
                  <a:srgbClr val="0F172A"/>
                </a:solidFill>
                <a:latin typeface="Segoe UI"/>
              </a:defRPr>
            </a:pPr>
            <a:r>
              <a:t>✓ Chart.js Multi-Trace</a:t>
            </a:r>
          </a:p>
          <a:p>
            <a:pPr>
              <a:defRPr sz="880">
                <a:solidFill>
                  <a:srgbClr val="0F172A"/>
                </a:solidFill>
                <a:latin typeface="Segoe UI"/>
              </a:defRPr>
            </a:pPr>
            <a:r>
              <a:t>✓ Responsive Glassmorphism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5138928"/>
            <a:ext cx="2724912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109728"/>
          <a:lstStyle/>
          <a:p>
            <a:pPr algn="ctr">
              <a:defRPr sz="1000" b="1">
                <a:solidFill>
                  <a:srgbClr val="0B192C"/>
                </a:solidFill>
                <a:latin typeface="Segoe UI"/>
              </a:defRPr>
            </a:pPr>
            <a:r>
              <a:t>Backend / API Core</a:t>
            </a:r>
          </a:p>
          <a:p>
            <a:pPr>
              <a:defRPr sz="880">
                <a:solidFill>
                  <a:srgbClr val="0F172A"/>
                </a:solidFill>
                <a:latin typeface="Segoe UI"/>
              </a:defRPr>
            </a:pPr>
            <a:r>
              <a:t>✓ Python FastAPI Async</a:t>
            </a:r>
          </a:p>
          <a:p>
            <a:pPr>
              <a:defRPr sz="880">
                <a:solidFill>
                  <a:srgbClr val="0F172A"/>
                </a:solidFill>
                <a:latin typeface="Segoe UI"/>
              </a:defRPr>
            </a:pPr>
            <a:r>
              <a:t>✓ Uvicorn ASGI Server</a:t>
            </a:r>
          </a:p>
          <a:p>
            <a:pPr>
              <a:defRPr sz="880">
                <a:solidFill>
                  <a:srgbClr val="0F172A"/>
                </a:solidFill>
                <a:latin typeface="Segoe UI"/>
              </a:defRPr>
            </a:pPr>
            <a:r>
              <a:t>✓ Redis Sub-35ms Cache</a:t>
            </a:r>
          </a:p>
          <a:p>
            <a:pPr>
              <a:defRPr sz="880">
                <a:solidFill>
                  <a:srgbClr val="0F172A"/>
                </a:solidFill>
                <a:latin typeface="Segoe UI"/>
              </a:defRPr>
            </a:pPr>
            <a:r>
              <a:t>✓ Multipart Stream Ingest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5138928"/>
            <a:ext cx="2724912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109728"/>
          <a:lstStyle/>
          <a:p>
            <a:pPr algn="ctr">
              <a:defRPr sz="1000" b="1">
                <a:solidFill>
                  <a:srgbClr val="0B192C"/>
                </a:solidFill>
                <a:latin typeface="Segoe UI"/>
              </a:defRPr>
            </a:pPr>
            <a:r>
              <a:t>AI / Math Engine</a:t>
            </a:r>
          </a:p>
          <a:p>
            <a:pPr>
              <a:defRPr sz="880">
                <a:solidFill>
                  <a:srgbClr val="0F172A"/>
                </a:solidFill>
                <a:latin typeface="Segoe UI"/>
              </a:defRPr>
            </a:pPr>
            <a:r>
              <a:t>✓ ResNet-1D / CNN-LSTM AMC</a:t>
            </a:r>
          </a:p>
          <a:p>
            <a:pPr>
              <a:defRPr sz="880">
                <a:solidFill>
                  <a:srgbClr val="0F172A"/>
                </a:solidFill>
                <a:latin typeface="Segoe UI"/>
              </a:defRPr>
            </a:pPr>
            <a:r>
              <a:t>✓ SciPy Signal &amp; NumPy C</a:t>
            </a:r>
          </a:p>
          <a:p>
            <a:pPr>
              <a:defRPr sz="880">
                <a:solidFill>
                  <a:srgbClr val="0F172A"/>
                </a:solidFill>
                <a:latin typeface="Segoe UI"/>
              </a:defRPr>
            </a:pPr>
            <a:r>
              <a:t>✓ Gardner Timing Error Detector</a:t>
            </a:r>
          </a:p>
          <a:p>
            <a:pPr>
              <a:defRPr sz="880">
                <a:solidFill>
                  <a:srgbClr val="0F172A"/>
                </a:solidFill>
                <a:latin typeface="Segoe UI"/>
              </a:defRPr>
            </a:pPr>
            <a:r>
              <a:t>✓ GF(2) Matrix Rank Solver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5138928"/>
            <a:ext cx="2724912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109728"/>
          <a:lstStyle/>
          <a:p>
            <a:pPr algn="ctr">
              <a:defRPr sz="1000" b="1">
                <a:solidFill>
                  <a:srgbClr val="0B192C"/>
                </a:solidFill>
                <a:latin typeface="Segoe UI"/>
              </a:defRPr>
            </a:pPr>
            <a:r>
              <a:t>Tactical Deployment</a:t>
            </a:r>
          </a:p>
          <a:p>
            <a:pPr>
              <a:defRPr sz="880">
                <a:solidFill>
                  <a:srgbClr val="0F172A"/>
                </a:solidFill>
                <a:latin typeface="Segoe UI"/>
              </a:defRPr>
            </a:pPr>
            <a:r>
              <a:t>✓ Docker Containerization</a:t>
            </a:r>
          </a:p>
          <a:p>
            <a:pPr>
              <a:defRPr sz="880">
                <a:solidFill>
                  <a:srgbClr val="0F172A"/>
                </a:solidFill>
                <a:latin typeface="Segoe UI"/>
              </a:defRPr>
            </a:pPr>
            <a:r>
              <a:t>✓ 100% Air-Gapped Package</a:t>
            </a:r>
          </a:p>
          <a:p>
            <a:pPr>
              <a:defRPr sz="880">
                <a:solidFill>
                  <a:srgbClr val="0F172A"/>
                </a:solidFill>
                <a:latin typeface="Segoe UI"/>
              </a:defRPr>
            </a:pPr>
            <a:r>
              <a:t>✓ Cross-Platform Linux/Win</a:t>
            </a:r>
          </a:p>
          <a:p>
            <a:pPr>
              <a:defRPr sz="880">
                <a:solidFill>
                  <a:srgbClr val="0F172A"/>
                </a:solidFill>
                <a:latin typeface="Segoe UI"/>
              </a:defRPr>
            </a:pPr>
            <a:r>
              <a:t>✓ Zero External Cloud Bleed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6327648"/>
            <a:ext cx="11091672" cy="3474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EA5E9"/>
                </a:solidFill>
                <a:latin typeface="Segoe UI"/>
              </a:defRPr>
            </a:pPr>
            <a:r>
              <a:t>TEAM FUTURISTICS | End-to-End Functional Prototype Tested &amp; Validated Across HF/VHF/UHF Bands | SIH 2026 Final Round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510528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37960"/>
            <a:ext cx="1109167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Segoe UI"/>
              </a:defRPr>
            </a:pPr>
            <a:r>
              <a:t>TEAM FUTURISTICS • SPECTRA Signal Analyzer &amp; Parameter Extraction • SIH 2026 Final Round | Slide 7 of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74320"/>
            <a:ext cx="2194560" cy="868680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FUTURISTICS</a:t>
            </a:r>
          </a:p>
          <a:p>
            <a:pPr algn="ctr">
              <a:defRPr sz="900" b="1">
                <a:solidFill>
                  <a:srgbClr val="0EA5E9"/>
                </a:solidFill>
                <a:latin typeface="Segoe UI"/>
              </a:defRPr>
            </a:pPr>
            <a:r>
              <a:t>TEAM ID: SIH-2026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274320"/>
            <a:ext cx="68580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SMART INDIA HACKATHON 2026</a:t>
            </a:r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t>TECHNOLOGY STACK ARCHITECTURE &amp; TEAM CREDENTIALS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82880"/>
            <a:ext cx="1691640" cy="797684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225295" y="1234440"/>
            <a:ext cx="137160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B192C"/>
                </a:solidFill>
                <a:latin typeface="Segoe UI"/>
              </a:defRPr>
            </a:pPr>
            <a:r>
              <a:t>Backend Core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2724912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137160"/>
          <a:lstStyle/>
          <a:p>
            <a:pPr algn="ctr">
              <a:spcAft>
                <a:spcPts val="150"/>
              </a:spcAft>
              <a:defRPr sz="919">
                <a:solidFill>
                  <a:srgbClr val="0F172A"/>
                </a:solidFill>
                <a:latin typeface="Segoe UI"/>
              </a:defRPr>
            </a:pPr>
            <a:r>
              <a:t>☑  FastAPI (Python 3.11+)</a:t>
            </a:r>
          </a:p>
          <a:p>
            <a:pPr>
              <a:spcAft>
                <a:spcPts val="150"/>
              </a:spcAft>
              <a:defRPr sz="919">
                <a:solidFill>
                  <a:srgbClr val="0F172A"/>
                </a:solidFill>
                <a:latin typeface="Segoe UI"/>
              </a:defRPr>
            </a:pPr>
            <a:r>
              <a:t>☑  Uvicorn ASGI Engine</a:t>
            </a:r>
          </a:p>
          <a:p>
            <a:pPr>
              <a:spcAft>
                <a:spcPts val="150"/>
              </a:spcAft>
              <a:defRPr sz="919">
                <a:solidFill>
                  <a:srgbClr val="0F172A"/>
                </a:solidFill>
                <a:latin typeface="Segoe UI"/>
              </a:defRPr>
            </a:pPr>
            <a:r>
              <a:t>☑  Redis Sub-35ms Cache</a:t>
            </a:r>
          </a:p>
          <a:p>
            <a:pPr>
              <a:spcAft>
                <a:spcPts val="150"/>
              </a:spcAft>
              <a:defRPr sz="919">
                <a:solidFill>
                  <a:srgbClr val="0F172A"/>
                </a:solidFill>
                <a:latin typeface="Segoe UI"/>
              </a:defRPr>
            </a:pPr>
            <a:r>
              <a:t>☑  SQLite / JSON Store</a:t>
            </a:r>
          </a:p>
        </p:txBody>
      </p:sp>
      <p:sp>
        <p:nvSpPr>
          <p:cNvPr id="7" name="Oval 6"/>
          <p:cNvSpPr/>
          <p:nvPr/>
        </p:nvSpPr>
        <p:spPr>
          <a:xfrm>
            <a:off x="4014215" y="1234440"/>
            <a:ext cx="137160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B192C"/>
                </a:solidFill>
                <a:latin typeface="Segoe UI"/>
              </a:defRPr>
            </a:pPr>
            <a:r>
              <a:t>ML / AI &amp; DSP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2148840"/>
            <a:ext cx="2724912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137160"/>
          <a:lstStyle/>
          <a:p>
            <a:pPr algn="ctr">
              <a:spcAft>
                <a:spcPts val="150"/>
              </a:spcAft>
              <a:defRPr sz="919">
                <a:solidFill>
                  <a:srgbClr val="0F172A"/>
                </a:solidFill>
                <a:latin typeface="Segoe UI"/>
              </a:defRPr>
            </a:pPr>
            <a:r>
              <a:t>☑  ResNet-1D &amp; CNN-LSTM</a:t>
            </a:r>
          </a:p>
          <a:p>
            <a:pPr>
              <a:spcAft>
                <a:spcPts val="150"/>
              </a:spcAft>
              <a:defRPr sz="919">
                <a:solidFill>
                  <a:srgbClr val="0F172A"/>
                </a:solidFill>
                <a:latin typeface="Segoe UI"/>
              </a:defRPr>
            </a:pPr>
            <a:r>
              <a:t>☑  PyTorch / ONNX Runtime</a:t>
            </a:r>
          </a:p>
          <a:p>
            <a:pPr>
              <a:spcAft>
                <a:spcPts val="150"/>
              </a:spcAft>
              <a:defRPr sz="919">
                <a:solidFill>
                  <a:srgbClr val="0F172A"/>
                </a:solidFill>
                <a:latin typeface="Segoe UI"/>
              </a:defRPr>
            </a:pPr>
            <a:r>
              <a:t>☑  SciPy Signal Processing</a:t>
            </a:r>
          </a:p>
          <a:p>
            <a:pPr>
              <a:spcAft>
                <a:spcPts val="150"/>
              </a:spcAft>
              <a:defRPr sz="919">
                <a:solidFill>
                  <a:srgbClr val="0F172A"/>
                </a:solidFill>
                <a:latin typeface="Segoe UI"/>
              </a:defRPr>
            </a:pPr>
            <a:r>
              <a:t>☑  NumPy Vectorized Math</a:t>
            </a:r>
          </a:p>
        </p:txBody>
      </p:sp>
      <p:sp>
        <p:nvSpPr>
          <p:cNvPr id="9" name="Oval 8"/>
          <p:cNvSpPr/>
          <p:nvPr/>
        </p:nvSpPr>
        <p:spPr>
          <a:xfrm>
            <a:off x="6803136" y="1234440"/>
            <a:ext cx="137160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B192C"/>
                </a:solidFill>
                <a:latin typeface="Segoe UI"/>
              </a:defRPr>
            </a:pPr>
            <a:r>
              <a:t>Frontend &amp; GUI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148840"/>
            <a:ext cx="2724912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137160"/>
          <a:lstStyle/>
          <a:p>
            <a:pPr algn="ctr">
              <a:spcAft>
                <a:spcPts val="150"/>
              </a:spcAft>
              <a:defRPr sz="919">
                <a:solidFill>
                  <a:srgbClr val="0F172A"/>
                </a:solidFill>
                <a:latin typeface="Segoe UI"/>
              </a:defRPr>
            </a:pPr>
            <a:r>
              <a:t>☑  Vanilla ES6+ JavaScript</a:t>
            </a:r>
          </a:p>
          <a:p>
            <a:pPr>
              <a:spcAft>
                <a:spcPts val="150"/>
              </a:spcAft>
              <a:defRPr sz="919">
                <a:solidFill>
                  <a:srgbClr val="0F172A"/>
                </a:solidFill>
                <a:latin typeface="Segoe UI"/>
              </a:defRPr>
            </a:pPr>
            <a:r>
              <a:t>☑  HTML5 Canvas / WebGL API</a:t>
            </a:r>
          </a:p>
          <a:p>
            <a:pPr>
              <a:spcAft>
                <a:spcPts val="150"/>
              </a:spcAft>
              <a:defRPr sz="919">
                <a:solidFill>
                  <a:srgbClr val="0F172A"/>
                </a:solidFill>
                <a:latin typeface="Segoe UI"/>
              </a:defRPr>
            </a:pPr>
            <a:r>
              <a:t>☑  Chart.js Multi-Trace</a:t>
            </a:r>
          </a:p>
          <a:p>
            <a:pPr>
              <a:spcAft>
                <a:spcPts val="150"/>
              </a:spcAft>
              <a:defRPr sz="919">
                <a:solidFill>
                  <a:srgbClr val="0F172A"/>
                </a:solidFill>
                <a:latin typeface="Segoe UI"/>
              </a:defRPr>
            </a:pPr>
            <a:r>
              <a:t>☑  Lucide Defense Icons</a:t>
            </a:r>
          </a:p>
        </p:txBody>
      </p:sp>
      <p:sp>
        <p:nvSpPr>
          <p:cNvPr id="11" name="Oval 10"/>
          <p:cNvSpPr/>
          <p:nvPr/>
        </p:nvSpPr>
        <p:spPr>
          <a:xfrm>
            <a:off x="9592056" y="1234440"/>
            <a:ext cx="137160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B192C"/>
                </a:solidFill>
                <a:latin typeface="Segoe UI"/>
              </a:defRPr>
            </a:pPr>
            <a:r>
              <a:t>DevOps &amp; Security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5400" y="2148840"/>
            <a:ext cx="2724912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137160"/>
          <a:lstStyle/>
          <a:p>
            <a:pPr algn="ctr">
              <a:spcAft>
                <a:spcPts val="150"/>
              </a:spcAft>
              <a:defRPr sz="919">
                <a:solidFill>
                  <a:srgbClr val="0F172A"/>
                </a:solidFill>
                <a:latin typeface="Segoe UI"/>
              </a:defRPr>
            </a:pPr>
            <a:r>
              <a:t>☑  Docker Containerization</a:t>
            </a:r>
          </a:p>
          <a:p>
            <a:pPr>
              <a:spcAft>
                <a:spcPts val="150"/>
              </a:spcAft>
              <a:defRPr sz="919">
                <a:solidFill>
                  <a:srgbClr val="0F172A"/>
                </a:solidFill>
                <a:latin typeface="Segoe UI"/>
              </a:defRPr>
            </a:pPr>
            <a:r>
              <a:t>☑  Offline Wheel Packaging</a:t>
            </a:r>
          </a:p>
          <a:p>
            <a:pPr>
              <a:spcAft>
                <a:spcPts val="150"/>
              </a:spcAft>
              <a:defRPr sz="919">
                <a:solidFill>
                  <a:srgbClr val="0F172A"/>
                </a:solidFill>
                <a:latin typeface="Segoe UI"/>
              </a:defRPr>
            </a:pPr>
            <a:r>
              <a:t>☑  SHA-256 Tamper-Proof</a:t>
            </a:r>
          </a:p>
          <a:p>
            <a:pPr>
              <a:spcAft>
                <a:spcPts val="150"/>
              </a:spcAft>
              <a:defRPr sz="919">
                <a:solidFill>
                  <a:srgbClr val="0F172A"/>
                </a:solidFill>
                <a:latin typeface="Segoe UI"/>
              </a:defRPr>
            </a:pPr>
            <a:r>
              <a:t>☑  Air-Gapped Sovereign SLA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57600"/>
            <a:ext cx="11091672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TEAM STRUCTURE &amp; DOMAIN EXPERTISE (TEAM FUTURISTICS)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69080"/>
            <a:ext cx="1719072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4160520"/>
            <a:ext cx="1536192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Team Leader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498848"/>
            <a:ext cx="162763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B192C"/>
                </a:solidFill>
                <a:latin typeface="Segoe UI"/>
              </a:defRPr>
            </a:pPr>
            <a:r>
              <a:t>Lead Architect</a:t>
            </a:r>
          </a:p>
          <a:p>
            <a:pPr algn="ctr">
              <a:spcAft>
                <a:spcPts val="400"/>
              </a:spcAft>
              <a:defRPr sz="850" b="1">
                <a:solidFill>
                  <a:srgbClr val="2563EB"/>
                </a:solidFill>
                <a:latin typeface="Segoe UI"/>
              </a:defRPr>
            </a:pPr>
            <a:r>
              <a:t>System Architect &amp; Lead</a:t>
            </a:r>
          </a:p>
          <a:p>
            <a:pPr algn="ctr">
              <a:defRPr sz="800">
                <a:solidFill>
                  <a:srgbClr val="64748B"/>
                </a:solidFill>
                <a:latin typeface="Segoe UI"/>
              </a:defRPr>
            </a:pPr>
            <a:r>
              <a:t>FastAPI, Pipeline Orchestration, Air-Gapped Arch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4069080"/>
            <a:ext cx="1719072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514600" y="4160520"/>
            <a:ext cx="1536192" cy="29260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Member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79" y="4498848"/>
            <a:ext cx="162763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B192C"/>
                </a:solidFill>
                <a:latin typeface="Segoe UI"/>
              </a:defRPr>
            </a:pPr>
            <a:r>
              <a:t>AI/ML Specialist</a:t>
            </a:r>
          </a:p>
          <a:p>
            <a:pPr algn="ctr">
              <a:spcAft>
                <a:spcPts val="400"/>
              </a:spcAft>
              <a:defRPr sz="850" b="1">
                <a:solidFill>
                  <a:srgbClr val="7C3AED"/>
                </a:solidFill>
                <a:latin typeface="Segoe UI"/>
              </a:defRPr>
            </a:pPr>
            <a:r>
              <a:t>Deep Learning &amp; AMC Lead</a:t>
            </a:r>
          </a:p>
          <a:p>
            <a:pPr algn="ctr">
              <a:defRPr sz="800">
                <a:solidFill>
                  <a:srgbClr val="64748B"/>
                </a:solidFill>
                <a:latin typeface="Segoe UI"/>
              </a:defRPr>
            </a:pPr>
            <a:r>
              <a:t>ResNet-1D, CNN-LSTM, Feature Engineering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4069080"/>
            <a:ext cx="1719072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89120" y="4160520"/>
            <a:ext cx="1536192" cy="29260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Member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4498848"/>
            <a:ext cx="162763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B192C"/>
                </a:solidFill>
                <a:latin typeface="Segoe UI"/>
              </a:defRPr>
            </a:pPr>
            <a:r>
              <a:t>DSP / RF Engineer</a:t>
            </a:r>
          </a:p>
          <a:p>
            <a:pPr algn="ctr">
              <a:spcAft>
                <a:spcPts val="400"/>
              </a:spcAft>
              <a:defRPr sz="850" b="1">
                <a:solidFill>
                  <a:srgbClr val="0EA5E9"/>
                </a:solidFill>
                <a:latin typeface="Segoe UI"/>
              </a:defRPr>
            </a:pPr>
            <a:r>
              <a:t>Signal Processing Specialist</a:t>
            </a:r>
          </a:p>
          <a:p>
            <a:pPr algn="ctr">
              <a:defRPr sz="800">
                <a:solidFill>
                  <a:srgbClr val="64748B"/>
                </a:solidFill>
                <a:latin typeface="Segoe UI"/>
              </a:defRPr>
            </a:pPr>
            <a:r>
              <a:t>Cyclostationary Analysis, Gardner TED, Costas PLL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069080"/>
            <a:ext cx="1719072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63640" y="4160520"/>
            <a:ext cx="1536192" cy="29260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Member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498848"/>
            <a:ext cx="162763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B192C"/>
                </a:solidFill>
                <a:latin typeface="Segoe UI"/>
              </a:defRPr>
            </a:pPr>
            <a:r>
              <a:t>Channel Coding Lead</a:t>
            </a:r>
          </a:p>
          <a:p>
            <a:pPr algn="ctr">
              <a:spcAft>
                <a:spcPts val="400"/>
              </a:spcAft>
              <a:defRPr sz="850" b="1">
                <a:solidFill>
                  <a:srgbClr val="F59E0B"/>
                </a:solidFill>
                <a:latin typeface="Segoe UI"/>
              </a:defRPr>
            </a:pPr>
            <a:r>
              <a:t>FEC &amp; Cryptography Engineer</a:t>
            </a:r>
          </a:p>
          <a:p>
            <a:pPr algn="ctr">
              <a:defRPr sz="800">
                <a:solidFill>
                  <a:srgbClr val="64748B"/>
                </a:solidFill>
                <a:latin typeface="Segoe UI"/>
              </a:defRPr>
            </a:pPr>
            <a:r>
              <a:t>GF(2) Matrix Rank Solver, Viterbi Trellis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4069080"/>
            <a:ext cx="1719072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38160" y="4160520"/>
            <a:ext cx="1536192" cy="29260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Member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4498848"/>
            <a:ext cx="162763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B192C"/>
                </a:solidFill>
                <a:latin typeface="Segoe UI"/>
              </a:defRPr>
            </a:pPr>
            <a:r>
              <a:t>Frontend Developer</a:t>
            </a:r>
          </a:p>
          <a:p>
            <a:pPr algn="ctr">
              <a:spcAft>
                <a:spcPts val="400"/>
              </a:spcAft>
              <a:defRPr sz="850" b="1">
                <a:solidFill>
                  <a:srgbClr val="10B981"/>
                </a:solidFill>
                <a:latin typeface="Segoe UI"/>
              </a:defRPr>
            </a:pPr>
            <a:r>
              <a:t>UI/UX &amp; WebGL Specialist</a:t>
            </a:r>
          </a:p>
          <a:p>
            <a:pPr algn="ctr">
              <a:defRPr sz="800">
                <a:solidFill>
                  <a:srgbClr val="64748B"/>
                </a:solidFill>
                <a:latin typeface="Segoe UI"/>
              </a:defRPr>
            </a:pPr>
            <a:r>
              <a:t>Canvas API, WebGL Constellation, Audio Demod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21240" y="4069080"/>
            <a:ext cx="1719072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012680" y="4160520"/>
            <a:ext cx="1536192" cy="292608"/>
          </a:xfrm>
          <a:prstGeom prst="round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Member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0" y="4498848"/>
            <a:ext cx="162763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B192C"/>
                </a:solidFill>
                <a:latin typeface="Segoe UI"/>
              </a:defRPr>
            </a:pPr>
            <a:r>
              <a:t>DevOps &amp; Security</a:t>
            </a:r>
          </a:p>
          <a:p>
            <a:pPr algn="ctr">
              <a:spcAft>
                <a:spcPts val="400"/>
              </a:spcAft>
              <a:defRPr sz="850" b="1">
                <a:solidFill>
                  <a:srgbClr val="0B192C"/>
                </a:solidFill>
                <a:latin typeface="Segoe UI"/>
              </a:defRPr>
            </a:pPr>
            <a:r>
              <a:t>Hardening &amp; Testbed Lead</a:t>
            </a:r>
          </a:p>
          <a:p>
            <a:pPr algn="ctr">
              <a:defRPr sz="800">
                <a:solidFill>
                  <a:srgbClr val="64748B"/>
                </a:solidFill>
                <a:latin typeface="Segoe UI"/>
              </a:defRPr>
            </a:pPr>
            <a:r>
              <a:t>Docker Packaging, Tamper-Proof Logs, Field Testing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6510528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537960"/>
            <a:ext cx="1109167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Segoe UI"/>
              </a:defRPr>
            </a:pPr>
            <a:r>
              <a:t>TEAM FUTURISTICS • SPECTRA Signal Analyzer &amp; Parameter Extraction • SIH 2026 Final Round | Slide 8 of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