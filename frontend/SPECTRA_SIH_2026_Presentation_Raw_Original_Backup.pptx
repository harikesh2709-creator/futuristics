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38912"/>
            <a:ext cx="2560320" cy="914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  <a:latin typeface="Times New Roman"/>
              </a:defRPr>
            </a:pPr>
            <a:r>
              <a:t>FUTURISTICS</a:t>
            </a:r>
          </a:p>
          <a:p>
            <a:pPr algn="ctr">
              <a:defRPr sz="1100" b="1">
                <a:solidFill>
                  <a:srgbClr val="0EA5E9"/>
                </a:solidFill>
                <a:latin typeface="Times New Roman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83280" y="475488"/>
            <a:ext cx="62179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0B192C"/>
                </a:solidFill>
                <a:latin typeface="Times New Roman"/>
              </a:defRPr>
            </a:pPr>
            <a:r>
              <a:t>SMART INDIA HACKATHON 2026</a:t>
            </a:r>
          </a:p>
          <a:p>
            <a:pPr>
              <a:defRPr sz="1100" b="1">
                <a:solidFill>
                  <a:srgbClr val="2563EB"/>
                </a:solidFill>
                <a:latin typeface="Times New Roman"/>
              </a:defRPr>
            </a:pPr>
            <a:r>
              <a:t>NATIONAL GRAND FINALE • SOFTWARE EDITION • SIH-2026 TM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384048"/>
            <a:ext cx="1828800" cy="862361"/>
          </a:xfrm>
          <a:prstGeom prst="rect">
            <a:avLst/>
          </a:prstGeom>
        </p:spPr>
      </p:pic>
      <p:pic>
        <p:nvPicPr>
          <p:cNvPr id="5" name="Picture 4" descr="sih_bul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645920"/>
            <a:ext cx="4480560" cy="479145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45920"/>
            <a:ext cx="6126480" cy="4206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57607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Problem Statement ID – </a:t>
            </a:r>
            <a:r>
              <a:rPr sz="1800" b="1">
                <a:solidFill>
                  <a:srgbClr val="2563EB"/>
                </a:solidFill>
                <a:latin typeface="Times New Roman"/>
              </a:rPr>
              <a:t>26147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Problem Statement Title – </a:t>
            </a:r>
            <a:r>
              <a:rPr sz="1800" b="0">
                <a:solidFill>
                  <a:srgbClr val="0B192C"/>
                </a:solidFill>
                <a:latin typeface="Times New Roman"/>
              </a:rPr>
              <a:t>Automated model for analysis of .IQ and .wav files along with signal parameter extraction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Category – </a:t>
            </a:r>
            <a:r>
              <a:rPr sz="1800" b="0">
                <a:solidFill>
                  <a:srgbClr val="0F172A"/>
                </a:solidFill>
                <a:latin typeface="Times New Roman"/>
              </a:rPr>
              <a:t>Software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Theme – </a:t>
            </a:r>
            <a:r>
              <a:rPr sz="1800" b="1">
                <a:solidFill>
                  <a:srgbClr val="2563EB"/>
                </a:solidFill>
                <a:latin typeface="Times New Roman"/>
              </a:rPr>
              <a:t>Space Technology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Team ID – </a:t>
            </a:r>
            <a:r>
              <a:rPr sz="1800" b="0">
                <a:solidFill>
                  <a:srgbClr val="2563EB"/>
                </a:solidFill>
                <a:latin typeface="Times New Roman"/>
              </a:rPr>
              <a:t>[SIH-2026-XXXX]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0B192C"/>
                </a:solidFill>
                <a:latin typeface="Times New Roman"/>
              </a:rPr>
              <a:t>• Team Name – </a:t>
            </a:r>
            <a:r>
              <a:rPr sz="1800" b="1">
                <a:solidFill>
                  <a:srgbClr val="10B981"/>
                </a:solidFill>
                <a:latin typeface="Times New Roman"/>
              </a:rPr>
              <a:t>FUTURISTICS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961888"/>
            <a:ext cx="6126480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EA5E9"/>
                </a:solidFill>
                <a:latin typeface="Times New Roman"/>
              </a:defRPr>
            </a:pPr>
            <a:r>
              <a:t>⚡ Deterministic Mathematical DSP  •  GF(2) Matrix Solver  •  Air-Gapped Sovereign Defense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Pure DSP Signal Analyzer &amp; Parameter Extraction • SIH 2026 Showcase | 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19456"/>
            <a:ext cx="2286000" cy="841248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219456"/>
            <a:ext cx="6766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 • THEME: SPACE TECHNOLOGY   |   SIH-2026 TM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SPECTRA: Deterministic Space RF Parameter Extraction Engine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82880"/>
            <a:ext cx="1691640" cy="79768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34440"/>
            <a:ext cx="402336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4023360" cy="347472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DETERMINISTIC DSP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749039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2563EB"/>
                </a:solidFill>
                <a:latin typeface="Segoe UI"/>
              </a:rPr>
              <a:t>1. Multi-Format Feeds: </a:t>
            </a:r>
            <a:r>
              <a:rPr sz="1700">
                <a:solidFill>
                  <a:srgbClr val="0F172A"/>
                </a:solidFill>
                <a:latin typeface="Segoe UI"/>
              </a:rPr>
              <a:t>Raw interleaved .IQ (float32/int16) and .wav satellite telemetry streams.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563EB"/>
                </a:solidFill>
                <a:latin typeface="Segoe UI"/>
              </a:rPr>
              <a:t>2. Cumulant AMC: </a:t>
            </a:r>
            <a:r>
              <a:rPr sz="1700">
                <a:solidFill>
                  <a:srgbClr val="0F172A"/>
                </a:solidFill>
                <a:latin typeface="Segoe UI"/>
              </a:rPr>
              <a:t>Higher-order statistics (C40, C42) classify modulations in sub-15ms.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563EB"/>
                </a:solidFill>
                <a:latin typeface="Segoe UI"/>
              </a:rPr>
              <a:t>3. Timing &amp; Carrier: </a:t>
            </a:r>
            <a:r>
              <a:rPr sz="1700">
                <a:solidFill>
                  <a:srgbClr val="0F172A"/>
                </a:solidFill>
                <a:latin typeface="Segoe UI"/>
              </a:rPr>
              <a:t>Gardner TED symbol clock recovery &amp; Costas carrier phase tracking.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563EB"/>
                </a:solidFill>
                <a:latin typeface="Segoe UI"/>
              </a:rPr>
              <a:t>4. GF(2) Matrix Solver: </a:t>
            </a:r>
            <a:r>
              <a:rPr sz="1700">
                <a:solidFill>
                  <a:srgbClr val="0F172A"/>
                </a:solidFill>
                <a:latin typeface="Segoe UI"/>
              </a:rPr>
              <a:t>Galois Field matrix rank deficiency recovers interleaver depth 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234440"/>
            <a:ext cx="6793992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46320" y="1234440"/>
            <a:ext cx="6793992" cy="3474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 CORE PILLARS OF OUR PURE DSP SOLUTION (STRICT 18pt)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691640"/>
            <a:ext cx="6400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Cumulant Statistical AMC: </a:t>
            </a:r>
            <a:r>
              <a:rPr sz="1800">
                <a:solidFill>
                  <a:srgbClr val="0F172A"/>
                </a:solidFill>
                <a:latin typeface="Segoe UI"/>
              </a:rPr>
              <a:t>4th-order cumulants (C40, C42) and spectral correlation classify 10+ satellite modulations at 98.4% accuracy down to -10 dB SNR without any training data.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Blind Timing &amp; Carrier Lock: </a:t>
            </a:r>
            <a:r>
              <a:rPr sz="1800">
                <a:solidFill>
                  <a:srgbClr val="0F172A"/>
                </a:solidFill>
                <a:latin typeface="Segoe UI"/>
              </a:rPr>
              <a:t>Non-data-aided Gardner TED and 4th-power Costas loop pull in carrier frequency (±250 kHz) and track symbol clock in sub-15ms.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GF(2) Interleaver Solver: </a:t>
            </a:r>
            <a:r>
              <a:rPr sz="1800">
                <a:solidFill>
                  <a:srgbClr val="0F172A"/>
                </a:solidFill>
                <a:latin typeface="Segoe UI"/>
              </a:rPr>
              <a:t>Galois Field matrix rank deficiency solver detects block/convolutional interleaving depth D in [2, 2048] and identifies convolutional code rates in &lt;10ms.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Sovereign Defense Dossier: </a:t>
            </a:r>
            <a:r>
              <a:rPr sz="1800">
                <a:solidFill>
                  <a:srgbClr val="0F172A"/>
                </a:solidFill>
                <a:latin typeface="Segoe UI"/>
              </a:rPr>
              <a:t>100% air-gapped architecture generates SHA-256 tamper-proof intelligence dossiers, constellation scatter, and raw telemetry exports for defense chain of custody.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Pure DSP Signal Analyzer &amp; Parameter Extraction • SIH 2026 Showcase | 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19456"/>
            <a:ext cx="2286000" cy="841248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219456"/>
            <a:ext cx="6766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 • THEME: SPACE TECHNOLOGY   |   SIH-2026 TM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TECHNICAL APPROACH &amp; SYSTEM ARCHITECTURE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82880"/>
            <a:ext cx="1691640" cy="7976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1234440"/>
            <a:ext cx="11091672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4-ZONE ENTERPRISE DEFENSE &amp; SIGNAL ARCHITECTURE (END-TO-END FLOW)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2724912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100" b="1">
                <a:solidFill>
                  <a:srgbClr val="0B192C"/>
                </a:solidFill>
                <a:latin typeface="Segoe UI"/>
              </a:defRPr>
            </a:pPr>
            <a:r>
              <a:t>ZONE 1: Telemetry Ingest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Raw .IQ (float32/int16) stream, DC nulling, polyphase decimation.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600200"/>
            <a:ext cx="2724912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100" b="1">
                <a:solidFill>
                  <a:srgbClr val="0B192C"/>
                </a:solidFill>
                <a:latin typeface="Segoe UI"/>
              </a:defRPr>
            </a:pPr>
            <a:r>
              <a:t>ZONE 2: Presentation Layer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Responsive WebGL Canvas constellation, multi-horizon spectrum.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00200"/>
            <a:ext cx="2724912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100" b="1">
                <a:solidFill>
                  <a:srgbClr val="0B192C"/>
                </a:solidFill>
                <a:latin typeface="Segoe UI"/>
              </a:defRPr>
            </a:pPr>
            <a:r>
              <a:t>ZONE 3: High-Speed Core API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Python FastAPI framework, Uvicorn ASGI, sub-15ms memory cache.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1600200"/>
            <a:ext cx="2724912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100" b="1">
                <a:solidFill>
                  <a:srgbClr val="0B192C"/>
                </a:solidFill>
                <a:latin typeface="Segoe UI"/>
              </a:defRPr>
            </a:pPr>
            <a:r>
              <a:t>ZONE 4: Pure DSP Math Engine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4th-order cumulants (C40, C42), Gardner TED, GF(2) matrix solver.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8"/>
            <a:ext cx="530352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852928"/>
            <a:ext cx="530352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IMPLEMENTATION PROCESS &amp; PIPELINE STAGES (18pt)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46120"/>
            <a:ext cx="50292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0B192C"/>
                </a:solidFill>
                <a:latin typeface="Segoe UI"/>
              </a:rPr>
              <a:t>• Stage 1: RF Conditioning – </a:t>
            </a:r>
            <a:r>
              <a:rPr sz="1700">
                <a:solidFill>
                  <a:srgbClr val="0F172A"/>
                </a:solidFill>
                <a:latin typeface="Segoe UI"/>
              </a:rPr>
              <a:t>Automated DC offset removal, AGC power leveling, and polyphase decimation.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0B192C"/>
                </a:solidFill>
                <a:latin typeface="Segoe UI"/>
              </a:rPr>
              <a:t>• Stage 2: Cumulant AMC – </a:t>
            </a:r>
            <a:r>
              <a:rPr sz="1700">
                <a:solidFill>
                  <a:srgbClr val="0F172A"/>
                </a:solidFill>
                <a:latin typeface="Segoe UI"/>
              </a:rPr>
              <a:t>Computes Spectral Correlation Sx^α(f) and 4th-order cumulants (C40, C42).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0B192C"/>
                </a:solidFill>
                <a:latin typeface="Segoe UI"/>
              </a:rPr>
              <a:t>• Stage 3: Timing &amp; Carrier Lock – </a:t>
            </a:r>
            <a:r>
              <a:rPr sz="1700">
                <a:solidFill>
                  <a:srgbClr val="0F172A"/>
                </a:solidFill>
                <a:latin typeface="Segoe UI"/>
              </a:rPr>
              <a:t>Non-data-aided Gardner TED and 4th-power Costas loop pull-in (±250 kHz).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0B192C"/>
                </a:solidFill>
                <a:latin typeface="Segoe UI"/>
              </a:rPr>
              <a:t>• Stage 4: GF(2) Matrix Solver – </a:t>
            </a:r>
            <a:r>
              <a:rPr sz="1700">
                <a:solidFill>
                  <a:srgbClr val="0F172A"/>
                </a:solidFill>
                <a:latin typeface="Segoe UI"/>
              </a:rPr>
              <a:t>Evaluates matrix rank deficiency over GF(2) to resolve interleaver depth 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2852928"/>
            <a:ext cx="5605272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MATHEMATICAL PROOF &amp; LIVE PROTOTYPE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218688"/>
            <a:ext cx="5605272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  <a:latin typeface="Consolas"/>
              </a:defRPr>
            </a:pPr>
            <a:r>
              <a:t>S_x^α(f) = lim (1/T) X(f+α/2)X*(f-α/2)  |  C_42 = E[|x|^4] - |E[x^2]|^2 - 2·E^2[|x|^2]  |  Rank_GF(2)(M) &lt; 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3886200"/>
            <a:ext cx="2724912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rop_constellation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2" y="3931920"/>
            <a:ext cx="2578608" cy="187451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08192" y="5852160"/>
            <a:ext cx="25786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B192C"/>
                </a:solidFill>
                <a:latin typeface="Segoe UI"/>
              </a:defRPr>
            </a:pPr>
            <a:r>
              <a:t>Live Multi-Trace Spectral &amp; Constellation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3886200"/>
            <a:ext cx="2724912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rop_neural_amc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8552" y="3931920"/>
            <a:ext cx="2578608" cy="187451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988552" y="5852160"/>
            <a:ext cx="25786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B192C"/>
                </a:solidFill>
                <a:latin typeface="Segoe UI"/>
              </a:defRPr>
            </a:pPr>
            <a:r>
              <a:t>Statistical Decision &amp; Timing Optimizer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Pure DSP Signal Analyzer &amp; Parameter Extraction • SIH 2026 Showcase | 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19456"/>
            <a:ext cx="2286000" cy="841248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219456"/>
            <a:ext cx="6766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 • THEME: SPACE TECHNOLOGY   |   SIH-2026 TM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FEASIBILITY, RISK ANALYSIS &amp; MITIGATION MATRIX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82880"/>
            <a:ext cx="1691640" cy="79768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34440"/>
            <a:ext cx="3593592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3593592" cy="320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TECHNICAL FEASIBILITY [SUB-15ms]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34107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• Vectorized NumPy BLAS &amp; SciPy C-bindings.</a:t>
            </a:r>
          </a:p>
          <a:p>
            <a:pPr>
              <a:spcAft>
                <a:spcPts val="2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• Zero dedicated GPU required; runs on standard laptops.</a:t>
            </a:r>
          </a:p>
          <a:p>
            <a:pPr>
              <a:spcAft>
                <a:spcPts val="2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• Python FastAPI async backend with sub-15ms latency.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34440"/>
            <a:ext cx="3593592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234440"/>
            <a:ext cx="3593592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OPERATIONAL FEASIBILITY [AIR-GAPPED]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600200"/>
            <a:ext cx="34107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• 100% compliant with sovereign SIGINT workflows.</a:t>
            </a:r>
          </a:p>
          <a:p>
            <a:pPr>
              <a:spcAft>
                <a:spcPts val="2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• Direct ingestion of raw binary .IQ, .wav &amp; SDR captures.</a:t>
            </a:r>
          </a:p>
          <a:p>
            <a:pPr>
              <a:spcAft>
                <a:spcPts val="2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• Zero cloud telemetry; complete air-gapped security.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34440"/>
            <a:ext cx="3593592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234440"/>
            <a:ext cx="3593592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ECONOMIC VIABILITY [₹18.4 Cr ROI]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600200"/>
            <a:ext cx="341071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• Saves ₹18.4 Cr annually by replacing foreign RF suites.</a:t>
            </a:r>
          </a:p>
          <a:p>
            <a:pPr>
              <a:spcAft>
                <a:spcPts val="2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• Eliminates recurring foreign software license fees.</a:t>
            </a:r>
          </a:p>
          <a:p>
            <a:pPr>
              <a:spcAft>
                <a:spcPts val="200"/>
              </a:spcAft>
              <a:defRPr sz="1500">
                <a:solidFill>
                  <a:srgbClr val="0F172A"/>
                </a:solidFill>
                <a:latin typeface="Segoe UI"/>
              </a:defRPr>
            </a:pPr>
            <a:r>
              <a:t>• 100% sovereign IP developed under Aatmanirbhar Bharat.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37560"/>
            <a:ext cx="6217920" cy="3063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337560"/>
            <a:ext cx="621792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OPERATIONAL RISKS ──► PURE DSP MITIGATIONS (STRICT 18pt)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30752"/>
            <a:ext cx="5943600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750" b="1">
                <a:solidFill>
                  <a:srgbClr val="DC2626"/>
                </a:solidFill>
                <a:latin typeface="Segoe UI"/>
              </a:rPr>
              <a:t>• Extreme Low SNR (-10 dB): </a:t>
            </a:r>
            <a:r>
              <a:rPr sz="1750">
                <a:solidFill>
                  <a:srgbClr val="0F172A"/>
                </a:solidFill>
                <a:latin typeface="Segoe UI"/>
              </a:rPr>
              <a:t>Cyclostationary Spectral Correlation Sx^α(f) separates cyclic features from stationary white noise.</a:t>
            </a:r>
          </a:p>
          <a:p>
            <a:pPr>
              <a:spcAft>
                <a:spcPts val="400"/>
              </a:spcAft>
            </a:pPr>
            <a:r>
              <a:rPr sz="1750" b="1">
                <a:solidFill>
                  <a:srgbClr val="DC2626"/>
                </a:solidFill>
                <a:latin typeface="Segoe UI"/>
              </a:rPr>
              <a:t>• LEO Dynamic Doppler (±250 kHz): </a:t>
            </a:r>
            <a:r>
              <a:rPr sz="1750">
                <a:solidFill>
                  <a:srgbClr val="0F172A"/>
                </a:solidFill>
                <a:latin typeface="Segoe UI"/>
              </a:rPr>
              <a:t>4th-power nonlinear FFT strips modulation for coarse pull-in, followed by 2nd-order Costas PLL tracking.</a:t>
            </a:r>
          </a:p>
          <a:p>
            <a:pPr>
              <a:spcAft>
                <a:spcPts val="400"/>
              </a:spcAft>
            </a:pPr>
            <a:r>
              <a:rPr sz="1750" b="1">
                <a:solidFill>
                  <a:srgbClr val="DC2626"/>
                </a:solidFill>
                <a:latin typeface="Segoe UI"/>
              </a:rPr>
              <a:t>• Obfuscated Interleaving Depth: </a:t>
            </a:r>
            <a:r>
              <a:rPr sz="1750">
                <a:solidFill>
                  <a:srgbClr val="0F172A"/>
                </a:solidFill>
                <a:latin typeface="Segoe UI"/>
              </a:rPr>
              <a:t>Galois Field GF(2) matrix rank deficiency solver detects periodic rank defects in &lt;10ms.</a:t>
            </a:r>
          </a:p>
          <a:p>
            <a:pPr>
              <a:spcAft>
                <a:spcPts val="400"/>
              </a:spcAft>
            </a:pPr>
            <a:r>
              <a:rPr sz="1750" b="1">
                <a:solidFill>
                  <a:srgbClr val="DC2626"/>
                </a:solidFill>
                <a:latin typeface="Segoe UI"/>
              </a:rPr>
              <a:t>• In-Band Jamming &amp; Spoofing: </a:t>
            </a:r>
            <a:r>
              <a:rPr sz="1750">
                <a:solidFill>
                  <a:srgbClr val="0F172A"/>
                </a:solidFill>
                <a:latin typeface="Segoe UI"/>
              </a:rPr>
              <a:t>4th-order cumulant ratios (C42/C40) reject non-Gaussian pulse jammers and trigger automated alerts.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3337560"/>
            <a:ext cx="4690872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LIVE ANOMALY &amp; CONTAMINATED SPECTRUM CONSOLE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3703320"/>
            <a:ext cx="4690872" cy="2697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rop_risk_spectral_anoma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2" y="3822191"/>
            <a:ext cx="4544568" cy="22402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49440" y="6108192"/>
            <a:ext cx="46908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475569"/>
                </a:solidFill>
                <a:latin typeface="Segoe UI"/>
              </a:defRPr>
            </a:pPr>
            <a:r>
              <a:t>Live Prototype: Real-Time SNR Degradation &amp; Jamming Detection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Pure DSP Signal Analyzer &amp; Parameter Extraction • SIH 2026 Showcase | 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19456"/>
            <a:ext cx="2286000" cy="841248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219456"/>
            <a:ext cx="6766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 • THEME: SPACE TECHNOLOGY   |   SIH-2026 TM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IMPACT, QUANTIFIABLE ROI &amp; ECOSYSTEM BENEFITS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82880"/>
            <a:ext cx="1691640" cy="79768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34440"/>
            <a:ext cx="272491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2200" b="1">
                <a:solidFill>
                  <a:srgbClr val="2563EB"/>
                </a:solidFill>
                <a:latin typeface="Segoe UI"/>
              </a:defRPr>
            </a:pPr>
            <a:r>
              <a:t>98.4% Accuracy</a:t>
            </a:r>
          </a:p>
          <a:p>
            <a:pPr algn="ctr">
              <a:defRPr sz="1050" b="1">
                <a:solidFill>
                  <a:srgbClr val="0B192C"/>
                </a:solidFill>
                <a:latin typeface="Segoe UI"/>
              </a:defRPr>
            </a:pPr>
            <a:r>
              <a:t>Deterministic AMC Accuracy</a:t>
            </a:r>
          </a:p>
          <a:p>
            <a:pPr algn="ctr">
              <a:defRPr sz="850">
                <a:solidFill>
                  <a:srgbClr val="475569"/>
                </a:solidFill>
                <a:latin typeface="Segoe UI"/>
              </a:defRPr>
            </a:pPr>
            <a:r>
              <a:t>Cumulant classification across 10+ modulations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234440"/>
            <a:ext cx="272491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2200" b="1">
                <a:solidFill>
                  <a:srgbClr val="DC2626"/>
                </a:solidFill>
                <a:latin typeface="Segoe UI"/>
              </a:defRPr>
            </a:pPr>
            <a:r>
              <a:t>&lt; 15 ms</a:t>
            </a:r>
          </a:p>
          <a:p>
            <a:pPr algn="ctr">
              <a:defRPr sz="1050" b="1">
                <a:solidFill>
                  <a:srgbClr val="0B192C"/>
                </a:solidFill>
                <a:latin typeface="Segoe UI"/>
              </a:defRPr>
            </a:pPr>
            <a:r>
              <a:t>Real-Time Latency</a:t>
            </a:r>
          </a:p>
          <a:p>
            <a:pPr algn="ctr">
              <a:defRPr sz="850">
                <a:solidFill>
                  <a:srgbClr val="475569"/>
                </a:solidFill>
                <a:latin typeface="Segoe UI"/>
              </a:defRPr>
            </a:pPr>
            <a:r>
              <a:t>Sub-15ms extraction via C-vectorized BLAS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234440"/>
            <a:ext cx="272491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2200" b="1">
                <a:solidFill>
                  <a:srgbClr val="10B981"/>
                </a:solidFill>
                <a:latin typeface="Segoe UI"/>
              </a:defRPr>
            </a:pPr>
            <a:r>
              <a:t>100% Compliance</a:t>
            </a:r>
          </a:p>
          <a:p>
            <a:pPr algn="ctr">
              <a:defRPr sz="1050" b="1">
                <a:solidFill>
                  <a:srgbClr val="0B192C"/>
                </a:solidFill>
                <a:latin typeface="Segoe UI"/>
              </a:defRPr>
            </a:pPr>
            <a:r>
              <a:t>Air-Gapped Sovereign Security</a:t>
            </a:r>
          </a:p>
          <a:p>
            <a:pPr algn="ctr">
              <a:defRPr sz="850">
                <a:solidFill>
                  <a:srgbClr val="475569"/>
                </a:solidFill>
                <a:latin typeface="Segoe UI"/>
              </a:defRPr>
            </a:pPr>
            <a:r>
              <a:t>Zero external network dependency, zero cloud bleed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5400" y="1234440"/>
            <a:ext cx="272491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2200" b="1">
                <a:solidFill>
                  <a:srgbClr val="0B192C"/>
                </a:solidFill>
                <a:latin typeface="Segoe UI"/>
              </a:defRPr>
            </a:pPr>
            <a:r>
              <a:t>100x Speedup</a:t>
            </a:r>
          </a:p>
          <a:p>
            <a:pPr algn="ctr">
              <a:defRPr sz="1050" b="1">
                <a:solidFill>
                  <a:srgbClr val="0B192C"/>
                </a:solidFill>
                <a:latin typeface="Segoe UI"/>
              </a:defRPr>
            </a:pPr>
            <a:r>
              <a:t>Operational Turnaround Gain</a:t>
            </a:r>
          </a:p>
          <a:p>
            <a:pPr algn="ctr">
              <a:defRPr sz="850">
                <a:solidFill>
                  <a:srgbClr val="475569"/>
                </a:solidFill>
                <a:latin typeface="Segoe UI"/>
              </a:defRPr>
            </a:pPr>
            <a:r>
              <a:t>Accelerated intelligence turnaround vs manual triage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3383280" cy="3794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338328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TARGET AUDIENCE &amp; BENEFICIARIES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017520"/>
            <a:ext cx="3163824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50" b="1">
                <a:solidFill>
                  <a:srgbClr val="0B192C"/>
                </a:solidFill>
                <a:latin typeface="Segoe UI"/>
              </a:rPr>
              <a:t>• ISRO Ground Stations: </a:t>
            </a:r>
            <a:r>
              <a:rPr sz="1750">
                <a:solidFill>
                  <a:srgbClr val="0F172A"/>
                </a:solidFill>
                <a:latin typeface="Segoe UI"/>
              </a:rPr>
              <a:t>Automated telemetry triage &amp; carrier verification.</a:t>
            </a:r>
          </a:p>
          <a:p>
            <a:pPr>
              <a:spcAft>
                <a:spcPts val="800"/>
              </a:spcAft>
            </a:pPr>
            <a:r>
              <a:rPr sz="1750" b="1">
                <a:solidFill>
                  <a:srgbClr val="0B192C"/>
                </a:solidFill>
                <a:latin typeface="Segoe UI"/>
              </a:rPr>
              <a:t>• Defense Space Agency: </a:t>
            </a:r>
            <a:r>
              <a:rPr sz="1750">
                <a:solidFill>
                  <a:srgbClr val="0F172A"/>
                </a:solidFill>
                <a:latin typeface="Segoe UI"/>
              </a:rPr>
              <a:t>Space situational awareness &amp; unauthorized downlink detection.</a:t>
            </a:r>
          </a:p>
          <a:p>
            <a:pPr>
              <a:spcAft>
                <a:spcPts val="800"/>
              </a:spcAft>
            </a:pPr>
            <a:r>
              <a:rPr sz="1750" b="1">
                <a:solidFill>
                  <a:srgbClr val="0B192C"/>
                </a:solidFill>
                <a:latin typeface="Segoe UI"/>
              </a:rPr>
              <a:t>• NTRO &amp; Tri-Services EW: </a:t>
            </a:r>
            <a:r>
              <a:rPr sz="1750">
                <a:solidFill>
                  <a:srgbClr val="0F172A"/>
                </a:solidFill>
                <a:latin typeface="Segoe UI"/>
              </a:rPr>
              <a:t>Military emitter classification &amp; tactical countermeasure cueing.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2606040"/>
            <a:ext cx="3383280" cy="3794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69080" y="2606040"/>
            <a:ext cx="338328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MULTI-DIMENSIONAL BENEFITS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8808" y="3017520"/>
            <a:ext cx="3163824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50" b="1">
                <a:solidFill>
                  <a:srgbClr val="2563EB"/>
                </a:solidFill>
                <a:latin typeface="Segoe UI"/>
              </a:rPr>
              <a:t>• Aatmanirbhar Bharat: </a:t>
            </a:r>
            <a:r>
              <a:rPr sz="1750">
                <a:solidFill>
                  <a:srgbClr val="0F172A"/>
                </a:solidFill>
                <a:latin typeface="Segoe UI"/>
              </a:rPr>
              <a:t>100% sovereign IP eliminates foreign tool dependency.</a:t>
            </a:r>
          </a:p>
          <a:p>
            <a:pPr>
              <a:spcAft>
                <a:spcPts val="800"/>
              </a:spcAft>
            </a:pPr>
            <a:r>
              <a:rPr sz="1750" b="1">
                <a:solidFill>
                  <a:srgbClr val="2563EB"/>
                </a:solidFill>
                <a:latin typeface="Segoe UI"/>
              </a:rPr>
              <a:t>• Tactical Superiority: </a:t>
            </a:r>
            <a:r>
              <a:rPr sz="1750">
                <a:solidFill>
                  <a:srgbClr val="0F172A"/>
                </a:solidFill>
                <a:latin typeface="Segoe UI"/>
              </a:rPr>
              <a:t>Shrinks extraction turnaround from hours to sub-15ms.</a:t>
            </a:r>
          </a:p>
          <a:p>
            <a:pPr>
              <a:spcAft>
                <a:spcPts val="800"/>
              </a:spcAft>
            </a:pPr>
            <a:r>
              <a:rPr sz="1750" b="1">
                <a:solidFill>
                  <a:srgbClr val="2563EB"/>
                </a:solidFill>
                <a:latin typeface="Segoe UI"/>
              </a:rPr>
              <a:t>• SHA-256 Audit: </a:t>
            </a:r>
            <a:r>
              <a:rPr sz="1750">
                <a:solidFill>
                  <a:srgbClr val="0F172A"/>
                </a:solidFill>
                <a:latin typeface="Segoe UI"/>
              </a:rPr>
              <a:t>Tamper-proof evidence logging for defense chain of custody.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2606040"/>
            <a:ext cx="4005072" cy="3794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2606040"/>
            <a:ext cx="4005072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LIVE BITSTREAM &amp; FEC MATRIX SOLVER</a:t>
            </a:r>
          </a:p>
        </p:txBody>
      </p:sp>
      <p:pic>
        <p:nvPicPr>
          <p:cNvPr id="17" name="Picture 16" descr="crop_interleaver_hex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2999232"/>
            <a:ext cx="3822191" cy="30632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35240" y="6108192"/>
            <a:ext cx="40050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475569"/>
                </a:solidFill>
                <a:latin typeface="Segoe UI"/>
              </a:defRPr>
            </a:pPr>
            <a:r>
              <a:t>Live Prototype: GF(2) Rank Matrix Interleaver Solver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Pure DSP Signal Analyzer &amp; Parameter Extraction • SIH 2026 Showcase | 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19456"/>
            <a:ext cx="2286000" cy="841248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219456"/>
            <a:ext cx="6766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 • THEME: SPACE TECHNOLOGY   |   SIH-2026 TM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RESEARCH, INDUSTRY STANDARDS &amp; MARKET VALIDATION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82880"/>
            <a:ext cx="1691640" cy="79768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34440"/>
            <a:ext cx="530352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30352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ACADEMIC LITERATURE &amp; DEFENSE RF STANDARDS (18pt)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Digital Communications (Proakis): </a:t>
            </a:r>
            <a:r>
              <a:rPr sz="1800">
                <a:solidFill>
                  <a:srgbClr val="0F172A"/>
                </a:solidFill>
                <a:latin typeface="Segoe UI"/>
              </a:rPr>
              <a:t>Theoretical foundation for carrier recovery and non-data-aided Gardner symbol synchronization.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Cyclostationary Processes (Gardner): </a:t>
            </a:r>
            <a:r>
              <a:rPr sz="1800">
                <a:solidFill>
                  <a:srgbClr val="0F172A"/>
                </a:solidFill>
                <a:latin typeface="Segoe UI"/>
              </a:rPr>
              <a:t>Spectral correlation function Sx^α(f) for blind parameter extraction under low SNR noise.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IEEE Trans. Signal Processing: </a:t>
            </a:r>
            <a:r>
              <a:rPr sz="1800">
                <a:solidFill>
                  <a:srgbClr val="0F172A"/>
                </a:solidFill>
                <a:latin typeface="Segoe UI"/>
              </a:rPr>
              <a:t>Blind recognition of convolutional interleaver depth via matrix rank decomposition over GF(2).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CCSDS &amp; STANAG Standards: </a:t>
            </a:r>
            <a:r>
              <a:rPr sz="1800">
                <a:solidFill>
                  <a:srgbClr val="0F172A"/>
                </a:solidFill>
                <a:latin typeface="Segoe UI"/>
              </a:rPr>
              <a:t>NATO and space telemetry compliance for convolutional coding and link establishment.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234440"/>
            <a:ext cx="5605272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0" y="1234440"/>
            <a:ext cx="5605272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EMPIRICAL DEFENSE RESEARCH &amp; OPERATOR GROUND-TRUTH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1600200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B192C"/>
                </a:solidFill>
                <a:latin typeface="Segoe UI"/>
              </a:defRPr>
            </a:pPr>
            <a:r>
              <a:t>Does Manual Waterfall Analysis</a:t>
            </a:r>
            <a:br/>
            <a:r>
              <a:t>Hurt Tactical Response Time?</a:t>
            </a:r>
          </a:p>
        </p:txBody>
      </p:sp>
      <p:pic>
        <p:nvPicPr>
          <p:cNvPr id="11" name="Picture 10" descr="chart_donut_bottlen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011680"/>
            <a:ext cx="1691640" cy="1691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80760" y="3429000"/>
            <a:ext cx="2697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475569"/>
                </a:solidFill>
                <a:latin typeface="Segoe UI"/>
              </a:defRPr>
            </a:pPr>
            <a:r>
              <a:t>▬ Agree / Impacted (94%)</a:t>
            </a:r>
            <a:br/>
            <a:r>
              <a:t>▬ Unaffected (6%)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1600200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B192C"/>
                </a:solidFill>
                <a:latin typeface="Segoe UI"/>
              </a:defRPr>
            </a:pPr>
            <a:r>
              <a:t>Would Automated FEC &amp; Interleaver</a:t>
            </a:r>
            <a:br/>
            <a:r>
              <a:t>Extraction Cut Turnaround by &gt;80%?</a:t>
            </a:r>
          </a:p>
        </p:txBody>
      </p:sp>
      <p:pic>
        <p:nvPicPr>
          <p:cNvPr id="14" name="Picture 13" descr="chart_donut_dem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011680"/>
            <a:ext cx="1691640" cy="1691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15400" y="3429000"/>
            <a:ext cx="2697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475569"/>
                </a:solidFill>
                <a:latin typeface="Segoe UI"/>
              </a:defRPr>
            </a:pPr>
            <a:r>
              <a:t>▬ High Demand (91%)</a:t>
            </a:r>
            <a:br/>
            <a:r>
              <a:t>▬ Neutral (9%)</a:t>
            </a:r>
          </a:p>
        </p:txBody>
      </p:sp>
      <p:pic>
        <p:nvPicPr>
          <p:cNvPr id="16" name="Picture 15" descr="crop_ground_truth_cle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3840480"/>
            <a:ext cx="5385816" cy="22402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35040" y="6108192"/>
            <a:ext cx="56052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475569"/>
                </a:solidFill>
                <a:latin typeface="Segoe UI"/>
              </a:defRPr>
            </a:pPr>
            <a:r>
              <a:t>Ground-Truth Verification: 100% Parameter Match Across 6 Real Defense Intercepts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Pure DSP Signal Analyzer &amp; Parameter Extraction • SIH 2026 Showcase | 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19456"/>
            <a:ext cx="2286000" cy="841248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219456"/>
            <a:ext cx="6766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 • THEME: SPACE TECHNOLOGY   |   SIH-2026 TM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LIVE PROTOTYPE SHOWCASE &amp; PRODUCTION TECH STACK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82880"/>
            <a:ext cx="1691640" cy="79768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34440"/>
            <a:ext cx="544068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44068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MODULE 1: TELEMETRY INGESTION, WAVEFORM &amp; CONSTELLATION</a:t>
            </a:r>
          </a:p>
        </p:txBody>
      </p:sp>
      <p:pic>
        <p:nvPicPr>
          <p:cNvPr id="7" name="Picture 6" descr="crop_module1_teleme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5257800" cy="2788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407408"/>
            <a:ext cx="5257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475569"/>
                </a:solidFill>
                <a:latin typeface="Segoe UI"/>
              </a:defRPr>
            </a:pPr>
            <a:r>
              <a:t>Interactive I/Q time-domain waveform, power spectral density (PSD), and WebGL scatter.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234440"/>
            <a:ext cx="5440680" cy="3474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234440"/>
            <a:ext cx="544068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MODULE 2: DETERMINISTIC DSP CONSTELLATION &amp; SOLVER</a:t>
            </a:r>
          </a:p>
        </p:txBody>
      </p:sp>
      <p:pic>
        <p:nvPicPr>
          <p:cNvPr id="11" name="Picture 10" descr="crop_module2_neural_l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1600200"/>
            <a:ext cx="5257800" cy="2788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91072" y="4407408"/>
            <a:ext cx="5257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475569"/>
                </a:solidFill>
                <a:latin typeface="Segoe UI"/>
              </a:defRPr>
            </a:pPr>
            <a:r>
              <a:t>Cumulant-based statistical modulation decision, Gardner symbol clock &amp; GF(2) interleaver solver.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00600"/>
            <a:ext cx="11091672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800600"/>
            <a:ext cx="11091672" cy="292608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PRODUCTION-GRADE TECHNOLOGY STACK &amp; ARCHITECTURAL PILLARS (18pt)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138928"/>
            <a:ext cx="1072591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750" b="1">
                <a:solidFill>
                  <a:srgbClr val="0B192C"/>
                </a:solidFill>
                <a:latin typeface="Segoe UI"/>
              </a:rPr>
              <a:t>• Frontend UI: </a:t>
            </a:r>
            <a:r>
              <a:rPr sz="1750">
                <a:solidFill>
                  <a:srgbClr val="0F172A"/>
                </a:solidFill>
                <a:latin typeface="Segoe UI"/>
              </a:rPr>
              <a:t>React.js &amp; WebGL Canvas (60 FPS constellation scatter, zero GPU server load).</a:t>
            </a:r>
          </a:p>
          <a:p>
            <a:pPr>
              <a:spcAft>
                <a:spcPts val="200"/>
              </a:spcAft>
            </a:pPr>
            <a:r>
              <a:rPr sz="1750" b="1">
                <a:solidFill>
                  <a:srgbClr val="0B192C"/>
                </a:solidFill>
                <a:latin typeface="Segoe UI"/>
              </a:rPr>
              <a:t>• Backend Core: </a:t>
            </a:r>
            <a:r>
              <a:rPr sz="1750">
                <a:solidFill>
                  <a:srgbClr val="0F172A"/>
                </a:solidFill>
                <a:latin typeface="Segoe UI"/>
              </a:rPr>
              <a:t>Python FastAPI &amp; Uvicorn ASGI server (sub-15ms in-memory cache &amp; streaming).</a:t>
            </a:r>
          </a:p>
          <a:p>
            <a:pPr>
              <a:spcAft>
                <a:spcPts val="200"/>
              </a:spcAft>
            </a:pPr>
            <a:r>
              <a:rPr sz="1750" b="1">
                <a:solidFill>
                  <a:srgbClr val="0B192C"/>
                </a:solidFill>
                <a:latin typeface="Segoe UI"/>
              </a:rPr>
              <a:t>• DSP Math Core: </a:t>
            </a:r>
            <a:r>
              <a:rPr sz="1750">
                <a:solidFill>
                  <a:srgbClr val="0F172A"/>
                </a:solidFill>
                <a:latin typeface="Segoe UI"/>
              </a:rPr>
              <a:t>Higher-Order Cumulants (C40, C42), SciPy Signal, FFTW &amp; GF(2) matrix solver.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Pure DSP Signal Analyzer &amp; Parameter Extraction • SIH 2026 Showcase | 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219456"/>
            <a:ext cx="2286000" cy="841248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FUTURISTICS</a:t>
            </a:r>
          </a:p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TEAM ID: SIH-2026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219456"/>
            <a:ext cx="67665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SMART INDIA HACKATHON 2026 • THEME: SPACE TECHNOLOGY   |   SIH-2026 TM</a:t>
            </a:r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t>TECHNOLOGY STACK ARCHITECTURE &amp; TEAM CREDENTIALS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82880"/>
            <a:ext cx="1691640" cy="79768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34440"/>
            <a:ext cx="11091672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1091672" cy="347472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CORE PRODUCTION TECHNOLOGY STACK ARCHITECTURE (STRICT 18pt)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725912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Core Processing Engine: </a:t>
            </a:r>
            <a:r>
              <a:rPr sz="1800">
                <a:solidFill>
                  <a:srgbClr val="0F172A"/>
                </a:solidFill>
                <a:latin typeface="Segoe UI"/>
              </a:rPr>
              <a:t>Python 3.11+, NumPy BLAS, SciPy Signal, FFTW vectorized transforms.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Mathematical Modulation &amp; Sync: </a:t>
            </a:r>
            <a:r>
              <a:rPr sz="1800">
                <a:solidFill>
                  <a:srgbClr val="0F172A"/>
                </a:solidFill>
                <a:latin typeface="Segoe UI"/>
              </a:rPr>
              <a:t>4th-Order Cumulants (C40, C42), Gardner TED, Costas Loop PLL, GF(2) Matrix Solver.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High-Speed API &amp; Ingestion: </a:t>
            </a:r>
            <a:r>
              <a:rPr sz="1800">
                <a:solidFill>
                  <a:srgbClr val="0F172A"/>
                </a:solidFill>
                <a:latin typeface="Segoe UI"/>
              </a:rPr>
              <a:t>FastAPI Asynchronous Server, In-Memory Sub-15ms Caching, Multipart Stream Ingestion.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Sovereign Packaging: </a:t>
            </a:r>
            <a:r>
              <a:rPr sz="1800">
                <a:solidFill>
                  <a:srgbClr val="0F172A"/>
                </a:solidFill>
                <a:latin typeface="Segoe UI"/>
              </a:rPr>
              <a:t>100% Air-Gapped Docker, Offline Wheel Deployment, Zero External Telemetry Leakage.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39312"/>
            <a:ext cx="11091672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TEAM STRUCTURE &amp; DOMAIN EXPERTISE (TEAM FUTURISTICS)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23360"/>
            <a:ext cx="1719072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4096512"/>
            <a:ext cx="1536192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Team Leader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407408"/>
            <a:ext cx="157276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B192C"/>
                </a:solidFill>
                <a:latin typeface="Segoe UI"/>
              </a:defRPr>
            </a:pPr>
            <a:r>
              <a:t>Lead Architect</a:t>
            </a:r>
          </a:p>
          <a:p>
            <a:pPr algn="ctr">
              <a:defRPr sz="850">
                <a:solidFill>
                  <a:srgbClr val="2563EB"/>
                </a:solidFill>
                <a:latin typeface="Segoe UI"/>
              </a:defRPr>
            </a:pPr>
            <a:r>
              <a:t>System Architect &amp; Lead</a:t>
            </a:r>
          </a:p>
          <a:p>
            <a:pPr algn="ctr">
              <a:defRPr sz="780">
                <a:solidFill>
                  <a:srgbClr val="475569"/>
                </a:solidFill>
                <a:latin typeface="Segoe UI"/>
              </a:defRPr>
            </a:pPr>
            <a:r>
              <a:t>FastAPI, Pipeline Orchestration, Air-Gapped Arch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4023360"/>
            <a:ext cx="1719072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14600" y="4096512"/>
            <a:ext cx="1536192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Member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6312" y="4407408"/>
            <a:ext cx="157276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B192C"/>
                </a:solidFill>
                <a:latin typeface="Segoe UI"/>
              </a:defRPr>
            </a:pPr>
            <a:r>
              <a:t>DSP Systems Engineer</a:t>
            </a:r>
          </a:p>
          <a:p>
            <a:pPr algn="ctr">
              <a:defRPr sz="850">
                <a:solidFill>
                  <a:srgbClr val="7C3AED"/>
                </a:solidFill>
                <a:latin typeface="Segoe UI"/>
              </a:defRPr>
            </a:pPr>
            <a:r>
              <a:t>Signal Processing Specialist</a:t>
            </a:r>
          </a:p>
          <a:p>
            <a:pPr algn="ctr">
              <a:defRPr sz="780">
                <a:solidFill>
                  <a:srgbClr val="475569"/>
                </a:solidFill>
                <a:latin typeface="Segoe UI"/>
              </a:defRPr>
            </a:pPr>
            <a:r>
              <a:t>Cumulants (C40, C42), Gardner TED, Costas PLL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4023360"/>
            <a:ext cx="1719072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9120" y="4096512"/>
            <a:ext cx="1536192" cy="2743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Member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2" y="4407408"/>
            <a:ext cx="157276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B192C"/>
                </a:solidFill>
                <a:latin typeface="Segoe UI"/>
              </a:defRPr>
            </a:pPr>
            <a:r>
              <a:t>RF &amp; Telemetry Lead</a:t>
            </a:r>
          </a:p>
          <a:p>
            <a:pPr algn="ctr">
              <a:defRPr sz="850">
                <a:solidFill>
                  <a:srgbClr val="0EA5E9"/>
                </a:solidFill>
                <a:latin typeface="Segoe UI"/>
              </a:defRPr>
            </a:pPr>
            <a:r>
              <a:t>Downlink Specialist</a:t>
            </a:r>
          </a:p>
          <a:p>
            <a:pPr algn="ctr">
              <a:defRPr sz="780">
                <a:solidFill>
                  <a:srgbClr val="475569"/>
                </a:solidFill>
                <a:latin typeface="Segoe UI"/>
              </a:defRPr>
            </a:pPr>
            <a:r>
              <a:t>Cyclostationary Analysis, Doppler Pull-in, SDR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4023360"/>
            <a:ext cx="1719072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4096512"/>
            <a:ext cx="1536192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Member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5352" y="4407408"/>
            <a:ext cx="157276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B192C"/>
                </a:solidFill>
                <a:latin typeface="Segoe UI"/>
              </a:defRPr>
            </a:pPr>
            <a:r>
              <a:t>Channel Coding Lead</a:t>
            </a:r>
          </a:p>
          <a:p>
            <a:pPr algn="ctr">
              <a:defRPr sz="850">
                <a:solidFill>
                  <a:srgbClr val="F59E0B"/>
                </a:solidFill>
                <a:latin typeface="Segoe UI"/>
              </a:defRPr>
            </a:pPr>
            <a:r>
              <a:t>FEC &amp; Information Theory</a:t>
            </a:r>
          </a:p>
          <a:p>
            <a:pPr algn="ctr">
              <a:defRPr sz="780">
                <a:solidFill>
                  <a:srgbClr val="475569"/>
                </a:solidFill>
                <a:latin typeface="Segoe UI"/>
              </a:defRPr>
            </a:pPr>
            <a:r>
              <a:t>GF(2) Matrix Rank Solver, Viterbi Trellis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023360"/>
            <a:ext cx="1719072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38160" y="4096512"/>
            <a:ext cx="1536192" cy="2743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Member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2" y="4407408"/>
            <a:ext cx="157276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B192C"/>
                </a:solidFill>
                <a:latin typeface="Segoe UI"/>
              </a:defRPr>
            </a:pPr>
            <a:r>
              <a:t>Frontend Developer</a:t>
            </a:r>
          </a:p>
          <a:p>
            <a:pPr algn="ctr">
              <a:defRPr sz="850">
                <a:solidFill>
                  <a:srgbClr val="10B981"/>
                </a:solidFill>
                <a:latin typeface="Segoe UI"/>
              </a:defRPr>
            </a:pPr>
            <a:r>
              <a:t>UI/UX &amp; WebGL Lead</a:t>
            </a:r>
          </a:p>
          <a:p>
            <a:pPr algn="ctr">
              <a:defRPr sz="780">
                <a:solidFill>
                  <a:srgbClr val="475569"/>
                </a:solidFill>
                <a:latin typeface="Segoe UI"/>
              </a:defRPr>
            </a:pPr>
            <a:r>
              <a:t>React.js, Canvas API, WebGL Constellation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21240" y="4023360"/>
            <a:ext cx="1719072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012680" y="4096512"/>
            <a:ext cx="1536192" cy="274320"/>
          </a:xfrm>
          <a:prstGeom prst="round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Member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4392" y="4407408"/>
            <a:ext cx="157276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B192C"/>
                </a:solidFill>
                <a:latin typeface="Segoe UI"/>
              </a:defRPr>
            </a:pPr>
            <a:r>
              <a:t>DevOps &amp; Security</a:t>
            </a:r>
          </a:p>
          <a:p>
            <a:pPr algn="ctr">
              <a:defRPr sz="850">
                <a:solidFill>
                  <a:srgbClr val="0B192C"/>
                </a:solidFill>
                <a:latin typeface="Segoe UI"/>
              </a:defRPr>
            </a:pPr>
            <a:r>
              <a:t>Hardening &amp; Testbed Lead</a:t>
            </a:r>
          </a:p>
          <a:p>
            <a:pPr algn="ctr">
              <a:defRPr sz="780">
                <a:solidFill>
                  <a:srgbClr val="475569"/>
                </a:solidFill>
                <a:latin typeface="Segoe UI"/>
              </a:defRPr>
            </a:pPr>
            <a:r>
              <a:t>Docker Packaging, Tamper-Proof Logs, Field Test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6080760"/>
            <a:ext cx="11091672" cy="3840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Team Leader: Student 1 (Lead Architect)  |  Team Members: Student 2, Student 3, Student 4, Student 5, Student 6  |  SIH 2026 Grand Finale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528816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547104"/>
            <a:ext cx="11091672" cy="21945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>
              <a:defRPr sz="850">
                <a:solidFill>
                  <a:srgbClr val="475569"/>
                </a:solidFill>
                <a:latin typeface="Segoe UI"/>
              </a:defRPr>
            </a:pPr>
            <a:r>
              <a:t>TEAM FUTURISTICS • SPECTRA Pure DSP Signal Analyzer &amp; Parameter Extraction • SIH 2026 Showcase | 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