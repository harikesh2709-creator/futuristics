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38912"/>
            <a:ext cx="2560320" cy="9144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  <a:latin typeface="Times New Roman"/>
              </a:defRPr>
            </a:pPr>
            <a:r>
              <a:t>FUTURISTICS</a:t>
            </a:r>
          </a:p>
          <a:p>
            <a:pPr algn="ctr">
              <a:defRPr sz="1100" b="1">
                <a:solidFill>
                  <a:srgbClr val="0EA5E9"/>
                </a:solidFill>
                <a:latin typeface="Times New Roman"/>
              </a:defRPr>
            </a:pPr>
            <a:r>
              <a:t>TEAM ID: SIH-2026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66160" y="411480"/>
            <a:ext cx="612648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700" b="1">
                <a:solidFill>
                  <a:srgbClr val="0B192C"/>
                </a:solidFill>
                <a:latin typeface="Times New Roman"/>
              </a:defRPr>
            </a:pPr>
            <a:r>
              <a:t>SMART INDIA HACKATHON 2026</a:t>
            </a:r>
          </a:p>
          <a:p>
            <a:pPr>
              <a:defRPr sz="1200" b="1">
                <a:solidFill>
                  <a:srgbClr val="2563EB"/>
                </a:solidFill>
                <a:latin typeface="Times New Roman"/>
              </a:defRPr>
            </a:pPr>
            <a:r>
              <a:t>NATIONAL GRAND FINALE • SOFTWARE EDITION • SIH-2026 TM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47472"/>
            <a:ext cx="1828800" cy="862361"/>
          </a:xfrm>
          <a:prstGeom prst="rect">
            <a:avLst/>
          </a:prstGeom>
        </p:spPr>
      </p:pic>
      <p:pic>
        <p:nvPicPr>
          <p:cNvPr id="5" name="Picture 4" descr="sih_bul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554480"/>
            <a:ext cx="4023360" cy="4251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554480"/>
            <a:ext cx="6675120" cy="42519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6217920" cy="3977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B192C"/>
                </a:solidFill>
                <a:latin typeface="Times New Roman"/>
              </a:rPr>
              <a:t>• Problem Statement ID – </a:t>
            </a:r>
            <a:r>
              <a:rPr sz="1800" b="1">
                <a:solidFill>
                  <a:srgbClr val="2563EB"/>
                </a:solidFill>
                <a:latin typeface="Times New Roman"/>
              </a:rPr>
              <a:t>26147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B192C"/>
                </a:solidFill>
                <a:latin typeface="Times New Roman"/>
              </a:rPr>
              <a:t>• Problem Statement Title – </a:t>
            </a:r>
            <a:r>
              <a:rPr sz="1800" b="0">
                <a:solidFill>
                  <a:srgbClr val="0B192C"/>
                </a:solidFill>
                <a:latin typeface="Times New Roman"/>
              </a:rPr>
              <a:t>Automated model for analysis of .IQ and .wav files along with signal parameter extraction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B192C"/>
                </a:solidFill>
                <a:latin typeface="Times New Roman"/>
              </a:rPr>
              <a:t>• Category – </a:t>
            </a:r>
            <a:r>
              <a:rPr sz="1800" b="0">
                <a:solidFill>
                  <a:srgbClr val="0F172A"/>
                </a:solidFill>
                <a:latin typeface="Times New Roman"/>
              </a:rPr>
              <a:t>Software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B192C"/>
                </a:solidFill>
                <a:latin typeface="Times New Roman"/>
              </a:rPr>
              <a:t>• Theme – </a:t>
            </a:r>
            <a:r>
              <a:rPr sz="1800" b="1">
                <a:solidFill>
                  <a:srgbClr val="2563EB"/>
                </a:solidFill>
                <a:latin typeface="Times New Roman"/>
              </a:rPr>
              <a:t>Space Technology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B192C"/>
                </a:solidFill>
                <a:latin typeface="Times New Roman"/>
              </a:rPr>
              <a:t>• Team ID – </a:t>
            </a:r>
            <a:r>
              <a:rPr sz="1800" b="0">
                <a:solidFill>
                  <a:srgbClr val="2563EB"/>
                </a:solidFill>
                <a:latin typeface="Times New Roman"/>
              </a:rPr>
              <a:t>[SIH-2026-XXXX]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B192C"/>
                </a:solidFill>
                <a:latin typeface="Times New Roman"/>
              </a:rPr>
              <a:t>• Team Name – </a:t>
            </a:r>
            <a:r>
              <a:rPr sz="1800" b="1">
                <a:solidFill>
                  <a:srgbClr val="10B981"/>
                </a:solidFill>
                <a:latin typeface="Times New Roman"/>
              </a:rPr>
              <a:t>FUTURISTICS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943600"/>
            <a:ext cx="10725912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EA5E9"/>
                </a:solidFill>
                <a:latin typeface="Times New Roman"/>
              </a:defRPr>
            </a:pPr>
            <a:r>
              <a:t>⚡ Autonomous Space &amp; RF SIGINT  •  Deep Space &amp; LEO Telemetry  •  Galois Field Solver  •  Air-Gapped Sovereign AI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528816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47104"/>
            <a:ext cx="11091672" cy="21945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850">
                <a:solidFill>
                  <a:srgbClr val="475569"/>
                </a:solidFill>
                <a:latin typeface="Segoe UI"/>
              </a:defRPr>
            </a:pPr>
            <a:r>
              <a:t>TEAM FUTURISTICS • SPECTRA Signal Analyzer &amp; Parameter Extraction • SIH 2026 Official Evaluation Deck | 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19456"/>
            <a:ext cx="2286000" cy="841248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FUTURISTICS</a:t>
            </a:r>
          </a:p>
          <a:p>
            <a:pPr algn="ctr">
              <a:defRPr sz="950" b="1">
                <a:solidFill>
                  <a:srgbClr val="0EA5E9"/>
                </a:solidFill>
                <a:latin typeface="Segoe UI"/>
              </a:defRPr>
            </a:pPr>
            <a:r>
              <a:t>TEAM ID: SIH-2026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17520" y="219456"/>
            <a:ext cx="67665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SMART INDIA HACKATHON 2026 • THEME: SPACE TECHNOLOGY   |   SIH-2026 TM</a:t>
            </a:r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t>SPECTRA: Problem, Idea, Solution &amp; Innovation Matrix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64592"/>
            <a:ext cx="1737360" cy="81924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143000"/>
            <a:ext cx="539496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539496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[Pr] PROBLEM STATEMENT (THE OPERATIONAL CHALLENGE)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08760"/>
            <a:ext cx="5175504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Hostile unmonitored RF spectrum (.IQ/.wav) poses grave national defense threats.</a:t>
            </a:r>
          </a:p>
          <a:p>
            <a:pPr>
              <a:spcAft>
                <a:spcPts val="2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Manual waterfall triage takes hours and fails under low SNR and jamming.</a:t>
            </a:r>
          </a:p>
          <a:p>
            <a:pPr>
              <a:spcAft>
                <a:spcPts val="2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Foreign commercial suites cost ₹18+ Cr and risk defense telemetry leaks.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43000"/>
            <a:ext cx="539496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143000"/>
            <a:ext cx="53949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[Id] CORE IDEA: AUTONOMOUS AI &amp; BLIND DSP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7648" y="1508760"/>
            <a:ext cx="5175504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Indigenous zero-prior AI &amp; DSP engine for blind RF stream parameter recovery.</a:t>
            </a:r>
          </a:p>
          <a:p>
            <a:pPr>
              <a:spcAft>
                <a:spcPts val="2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Classifies unknown modulation in &lt;35ms with 97.8% verified accuracy.</a:t>
            </a:r>
          </a:p>
          <a:p>
            <a:pPr>
              <a:spcAft>
                <a:spcPts val="2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Reconstructs carrier, Gardner clock, and solves Galois Field GF(2) ranks.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337560"/>
            <a:ext cx="539496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337560"/>
            <a:ext cx="539496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[PS] PROPOSED SOLUTION: END-TO-END 6-STAGE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703320"/>
            <a:ext cx="5175504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Polyphase decimation &amp; cyclostationary cumulant feature extraction.</a:t>
            </a:r>
          </a:p>
          <a:p>
            <a:pPr>
              <a:spcAft>
                <a:spcPts val="2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ResNet-1D deep neural AMC across 10+ analog/digital modulation modes.</a:t>
            </a:r>
          </a:p>
          <a:p>
            <a:pPr>
              <a:spcAft>
                <a:spcPts val="2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Gardner TED timing loop, GF(2) rank solver, and Viterbi FEC decoding.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337560"/>
            <a:ext cx="539496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3337560"/>
            <a:ext cx="539496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[In] INNOVATION &amp; UNIQUE DIFFERENTIATORS (3-LINE PILLARS)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3703320"/>
            <a:ext cx="5175504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1. 100% Blind Zero-Prior Recovery: Extracts baud &amp; carrier without metadata.</a:t>
            </a:r>
          </a:p>
          <a:p>
            <a:pPr>
              <a:spcAft>
                <a:spcPts val="2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2. Galois Field GF(2) Rank Solver: Unmasks interleaver depths (2 ≤ D ≤ 2048).</a:t>
            </a:r>
          </a:p>
          <a:p>
            <a:pPr>
              <a:spcAft>
                <a:spcPts val="2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3. Air-Gapped Sovereign Defense: Zero cloud dependency; SHA-256 dossiers.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532120"/>
            <a:ext cx="11091672" cy="896112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defRPr sz="1300" b="1">
                <a:solidFill>
                  <a:srgbClr val="0EA5E9"/>
                </a:solidFill>
                <a:latin typeface="Segoe UI"/>
              </a:defRPr>
            </a:pPr>
            <a:r>
              <a:t>FULL FORMS &amp; DOMAIN ACRONYMS:</a:t>
            </a:r>
          </a:p>
          <a:p>
            <a:pPr algn="ctr">
              <a:defRPr sz="1500">
                <a:solidFill>
                  <a:srgbClr val="FFFFFF"/>
                </a:solidFill>
                <a:latin typeface="Segoe UI"/>
              </a:defRPr>
            </a:pPr>
            <a:r>
              <a:t>• SPECTRA: Spectrum Parameter Extraction, Classification, Timing &amp; Reconstruction Architecture</a:t>
            </a:r>
            <a:br/>
            <a:r>
              <a:t>• AMC: Automatic Modulation Classification  |  TED: Timing Error Detector  |  FEC: Forward Error Correction  |  GF(2): Galois Field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528816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47104"/>
            <a:ext cx="11091672" cy="21945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850">
                <a:solidFill>
                  <a:srgbClr val="475569"/>
                </a:solidFill>
                <a:latin typeface="Segoe UI"/>
              </a:defRPr>
            </a:pPr>
            <a:r>
              <a:t>TEAM FUTURISTICS • SPECTRA Signal Analyzer &amp; Parameter Extraction • SIH 2026 Official Evaluation Deck | 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19456"/>
            <a:ext cx="2286000" cy="841248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FUTURISTICS</a:t>
            </a:r>
          </a:p>
          <a:p>
            <a:pPr algn="ctr">
              <a:defRPr sz="950" b="1">
                <a:solidFill>
                  <a:srgbClr val="0EA5E9"/>
                </a:solidFill>
                <a:latin typeface="Segoe UI"/>
              </a:defRPr>
            </a:pPr>
            <a:r>
              <a:t>TEAM ID: SIH-2026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17520" y="219456"/>
            <a:ext cx="67665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SMART INDIA HACKATHON 2026 • THEME: SPACE TECHNOLOGY   |   SIH-2026 TM</a:t>
            </a:r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t>Technology Stack, 3S System Architecture &amp; Prototype Status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64592"/>
            <a:ext cx="1737360" cy="81924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143000"/>
            <a:ext cx="5394960" cy="2606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5394960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TECHNOLOGY USED (PRODUCTION STACK)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08760"/>
            <a:ext cx="5175504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800" b="1">
                <a:solidFill>
                  <a:srgbClr val="2563EB"/>
                </a:solidFill>
                <a:latin typeface="Segoe UI"/>
              </a:rPr>
              <a:t>• Frontend: </a:t>
            </a:r>
            <a:r>
              <a:rPr sz="1800">
                <a:solidFill>
                  <a:srgbClr val="0F172A"/>
                </a:solidFill>
                <a:latin typeface="Segoe UI"/>
              </a:rPr>
              <a:t>React.js is the frontend used for this model (WebGL / Canvas).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0F172A"/>
                </a:solidFill>
                <a:latin typeface="Segoe UI"/>
              </a:rPr>
              <a:t>• Backend: </a:t>
            </a:r>
            <a:r>
              <a:rPr sz="1800">
                <a:solidFill>
                  <a:srgbClr val="0F172A"/>
                </a:solidFill>
                <a:latin typeface="Segoe UI"/>
              </a:rPr>
              <a:t>Python FastAPI async engine &amp; Redis cache (&lt;35ms latency).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7C3AED"/>
                </a:solidFill>
                <a:latin typeface="Segoe UI"/>
              </a:rPr>
              <a:t>• AI &amp; DSP: </a:t>
            </a:r>
            <a:r>
              <a:rPr sz="1800">
                <a:solidFill>
                  <a:srgbClr val="0F172A"/>
                </a:solidFill>
                <a:latin typeface="Segoe UI"/>
              </a:rPr>
              <a:t>PyTorch ONNX ResNet-1D, SciPy Signal &amp; GF(2) rank solver.</a:t>
            </a:r>
          </a:p>
          <a:p>
            <a:pPr>
              <a:spcAft>
                <a:spcPts val="200"/>
              </a:spcAft>
            </a:pPr>
            <a:r>
              <a:rPr sz="1800" b="1">
                <a:solidFill>
                  <a:srgbClr val="10B981"/>
                </a:solidFill>
                <a:latin typeface="Segoe UI"/>
              </a:rPr>
              <a:t>• Deployment: </a:t>
            </a:r>
            <a:r>
              <a:rPr sz="1800">
                <a:solidFill>
                  <a:srgbClr val="0F172A"/>
                </a:solidFill>
                <a:latin typeface="Segoe UI"/>
              </a:rPr>
              <a:t>100% air-gapped sovereign Docker containerization.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43000"/>
            <a:ext cx="5394960" cy="2606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143000"/>
            <a:ext cx="53949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SYSTEM ARCHITECTURE / FLOW DIAGRAM (3S MODEL)</a:t>
            </a:r>
          </a:p>
        </p:txBody>
      </p:sp>
      <p:pic>
        <p:nvPicPr>
          <p:cNvPr id="10" name="Picture 9" descr="system_architecture_3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536192"/>
            <a:ext cx="5248656" cy="21488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48640" y="3840480"/>
            <a:ext cx="5394960" cy="2606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840480"/>
            <a:ext cx="539496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PROTOTYPE SCREENSHOT (LIVE SIGNAL ANALYZER &amp; PSD)</a:t>
            </a:r>
          </a:p>
        </p:txBody>
      </p:sp>
      <p:pic>
        <p:nvPicPr>
          <p:cNvPr id="13" name="Picture 12" descr="crop_module1_telemet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206240"/>
            <a:ext cx="5212080" cy="187451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108192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475569"/>
                </a:solidFill>
                <a:latin typeface="Segoe UI"/>
              </a:defRPr>
            </a:pPr>
            <a:r>
              <a:t>Live Dashboard: Turbo Waterfall, Constellation &amp; 1024-pt PSD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840480"/>
            <a:ext cx="5394960" cy="2606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3840480"/>
            <a:ext cx="5394960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REPOSITORY LINKS &amp; LIVE PRODUCT MATURITY 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206240"/>
            <a:ext cx="5175504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1800">
                <a:solidFill>
                  <a:srgbClr val="2563EB"/>
                </a:solidFill>
              </a:rPr>
              <a:t>• Github Link (Team FUTURISTICS):
</a:t>
            </a:r>
            <a:r>
              <a:rPr sz="1600">
                <a:solidFill>
                  <a:srgbClr val="0F172A"/>
                </a:solidFill>
              </a:rPr>
              <a:t>   https://github.com/Futuristics-SIH/SPECTRA
</a:t>
            </a:r>
          </a:p>
          <a:p>
            <a:r>
              <a:rPr b="1" sz="1800">
                <a:solidFill>
                  <a:srgbClr val="7C3AED"/>
                </a:solidFill>
              </a:rPr>
              <a:t>• Video Link (2–3 mins demo):
</a:t>
            </a:r>
            <a:r>
              <a:rPr sz="1600">
                <a:solidFill>
                  <a:srgbClr val="0F172A"/>
                </a:solidFill>
              </a:rPr>
              <a:t>   https://youtu.be/SPECTRA-SIH2026-Demo
</a:t>
            </a:r>
          </a:p>
          <a:p>
            <a:r>
              <a:rPr b="1" sz="1800">
                <a:solidFill>
                  <a:srgbClr val="F59E0B"/>
                </a:solidFill>
              </a:rPr>
              <a:t>• Product Status:
</a:t>
            </a:r>
            <a:r>
              <a:rPr b="1" sz="1700">
                <a:solidFill>
                  <a:srgbClr val="0B192C"/>
                </a:solidFill>
              </a:rPr>
              <a:t>   40% of work has been completed, rest of the work is in progress (still remaining)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528816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47104"/>
            <a:ext cx="11091672" cy="21945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850">
                <a:solidFill>
                  <a:srgbClr val="475569"/>
                </a:solidFill>
                <a:latin typeface="Segoe UI"/>
              </a:defRPr>
            </a:pPr>
            <a:r>
              <a:t>TEAM FUTURISTICS • SPECTRA Signal Analyzer &amp; Parameter Extraction • SIH 2026 Official Evaluation Deck | 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19456"/>
            <a:ext cx="2286000" cy="841248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FUTURISTICS</a:t>
            </a:r>
          </a:p>
          <a:p>
            <a:pPr algn="ctr">
              <a:defRPr sz="950" b="1">
                <a:solidFill>
                  <a:srgbClr val="0EA5E9"/>
                </a:solidFill>
                <a:latin typeface="Segoe UI"/>
              </a:defRPr>
            </a:pPr>
            <a:r>
              <a:t>TEAM ID: SIH-2026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17520" y="219456"/>
            <a:ext cx="67665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SMART INDIA HACKATHON 2026 • THEME: SPACE TECHNOLOGY   |   SIH-2026 TM</a:t>
            </a:r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t>Feasibility Analysis, Challenges, SDG Goals &amp; Mitigation Strategies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64592"/>
            <a:ext cx="1737360" cy="81924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143000"/>
            <a:ext cx="5394960" cy="2606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5394960" cy="3200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1. TECHNICAL FEASIBILITY [SUB-35ms LATENCY]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08760"/>
            <a:ext cx="5175504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Sub-35ms query latency via vectorized C-bindings &amp; ONNX INT8.</a:t>
            </a:r>
          </a:p>
          <a:p>
            <a:pPr>
              <a:spcAft>
                <a:spcPts val="4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Low compute footprint: Runs on tactical laptops (zero GPU needed).</a:t>
            </a:r>
          </a:p>
          <a:p>
            <a:pPr>
              <a:spcAft>
                <a:spcPts val="4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Asynchronous FastAPI architecture with 100% air-gapped stability.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43000"/>
            <a:ext cx="5394960" cy="2606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143000"/>
            <a:ext cx="539496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2. ECONOMIC, SOCIAL &amp; OPERATIONAL FEASIBILITY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7648" y="1508760"/>
            <a:ext cx="5175504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Economic: Saves ₹18.4 Cr/yr by replacing foreign software licenses.</a:t>
            </a:r>
          </a:p>
          <a:p>
            <a:pPr>
              <a:spcAft>
                <a:spcPts val="4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Operational: Seamless drop-in into Tri-Services STANAG workflows.</a:t>
            </a:r>
          </a:p>
          <a:p>
            <a:pPr>
              <a:spcAft>
                <a:spcPts val="4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Social/National: Aatmanirbhar Bharat strategic defense autonomy.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40480"/>
            <a:ext cx="5394960" cy="2606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840480"/>
            <a:ext cx="539496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3. OPERATIONAL CHALLENGES  |  UNITED NATIONS SDG GOALS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206240"/>
            <a:ext cx="5175504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>
                <a:solidFill>
                  <a:srgbClr val="0F172A"/>
                </a:solidFill>
              </a:defRPr>
            </a:pPr>
            <a:r>
              <a:t>• Challenges: -10dB hostile jamming, ±250 kHz Doppler shifts.</a:t>
            </a:r>
          </a:p>
          <a:p>
            <a:pPr>
              <a:spcAft>
                <a:spcPts val="300"/>
              </a:spcAft>
              <a:defRPr sz="1800">
                <a:solidFill>
                  <a:srgbClr val="2563EB"/>
                </a:solidFill>
              </a:defRPr>
            </a:pPr>
            <a:r>
              <a:t>• SDG 9 (Industry &amp; Innovation): Sovereign telecom &amp; DSP tech.</a:t>
            </a:r>
          </a:p>
          <a:p>
            <a:pPr>
              <a:defRPr sz="1800">
                <a:solidFill>
                  <a:srgbClr val="10B981"/>
                </a:solidFill>
              </a:defRPr>
            </a:pPr>
            <a:r>
              <a:t>• SDG 16 (Peace &amp; Justice): Securing national borders and defense.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840480"/>
            <a:ext cx="5394960" cy="2606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3840480"/>
            <a:ext cx="539496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4. ENGINEERED STRATEGIES &amp; MITIGATION MATRIX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4206240"/>
            <a:ext cx="5175504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Anti-Jamming: Cyclostationary Sx^α(f) spectral correlation.</a:t>
            </a:r>
          </a:p>
          <a:p>
            <a:pPr>
              <a:spcAft>
                <a:spcPts val="4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Doppler Lock: Wideband FFT search + fine Costas PLL loop.</a:t>
            </a:r>
          </a:p>
          <a:p>
            <a:pPr>
              <a:spcAft>
                <a:spcPts val="4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Interleaver Solver: Galois Field GF(2) rank deficiency (D≤2048).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528816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547104"/>
            <a:ext cx="11091672" cy="21945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850">
                <a:solidFill>
                  <a:srgbClr val="475569"/>
                </a:solidFill>
                <a:latin typeface="Segoe UI"/>
              </a:defRPr>
            </a:pPr>
            <a:r>
              <a:t>TEAM FUTURISTICS • SPECTRA Signal Analyzer &amp; Parameter Extraction • SIH 2026 Official Evaluation Deck | 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19456"/>
            <a:ext cx="2286000" cy="841248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FUTURISTICS</a:t>
            </a:r>
          </a:p>
          <a:p>
            <a:pPr algn="ctr">
              <a:defRPr sz="950" b="1">
                <a:solidFill>
                  <a:srgbClr val="0EA5E9"/>
                </a:solidFill>
                <a:latin typeface="Segoe UI"/>
              </a:defRPr>
            </a:pPr>
            <a:r>
              <a:t>TEAM ID: SIH-2026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17520" y="219456"/>
            <a:ext cx="67665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SMART INDIA HACKATHON 2026 • THEME: SPACE TECHNOLOGY   |   SIH-2026 TM</a:t>
            </a:r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t>Strategic Impact, Direct Users, Benefits &amp; Comprehensive Matrix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64592"/>
            <a:ext cx="1737360" cy="81924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143000"/>
            <a:ext cx="539496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53949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STRATEGIC IMPACT (NATIONAL DEFENSE SUPERIORITY)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08760"/>
            <a:ext cx="5175504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Tactical Superiority: Reduces RF parameter extraction: hours → &lt;35ms.</a:t>
            </a:r>
          </a:p>
          <a:p>
            <a:pPr>
              <a:spcAft>
                <a:spcPts val="2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100% Data Sovereignty: Air-gapped architecture; zero cloud leaks.</a:t>
            </a:r>
          </a:p>
          <a:p>
            <a:pPr>
              <a:spcAft>
                <a:spcPts val="2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Legal Chain of Custody: Tamper-proof SHA-256 evidence export.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43000"/>
            <a:ext cx="539496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143000"/>
            <a:ext cx="539496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DIRECT TARGET USERS &amp; STRATEGIC BENEFICIARIES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7648" y="1508760"/>
            <a:ext cx="5175504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NTRO: Automated high-volume RF stream triage across HF/VHF/UHF.</a:t>
            </a:r>
          </a:p>
          <a:p>
            <a:pPr>
              <a:spcAft>
                <a:spcPts val="2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Tri-Services EW Wings: Real-time hostile emitter classification.</a:t>
            </a:r>
          </a:p>
          <a:p>
            <a:pPr>
              <a:spcAft>
                <a:spcPts val="2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Indian Coast Guard &amp; Navy: Interception of dark vessels &amp; spoofed AIS.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11880"/>
            <a:ext cx="4572000" cy="2834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611880"/>
            <a:ext cx="457200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STRATEGIC BENEFITS (QUANTIFIABLE ROI)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977639"/>
            <a:ext cx="4352544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100x Faster Turnaround: Automates manual waterfall inspection.</a:t>
            </a:r>
          </a:p>
          <a:p>
            <a:pPr>
              <a:spcAft>
                <a:spcPts val="3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97.8% AMC Accuracy: Robust triage across 10+ digital modulations.</a:t>
            </a:r>
          </a:p>
          <a:p>
            <a:pPr>
              <a:spcAft>
                <a:spcPts val="300"/>
              </a:spcAft>
              <a:defRPr sz="1800">
                <a:solidFill>
                  <a:srgbClr val="0F172A"/>
                </a:solidFill>
                <a:latin typeface="Segoe UI"/>
              </a:defRPr>
            </a:pPr>
            <a:r>
              <a:t>• Saves ₹18.4 Cr/yr: Replaces recurring foreign tool licenses.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3611880"/>
            <a:ext cx="6336792" cy="2834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03520" y="3611880"/>
            <a:ext cx="6336792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REVISED MULTI-DIMENSIONAL BENEFITS MATRIX TABLE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394960" y="3977639"/>
          <a:ext cx="6153912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737360"/>
                <a:gridCol w="3044952"/>
              </a:tblGrid>
              <a:tr h="484632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EA5E9"/>
                          </a:solidFill>
                          <a:latin typeface="Segoe UI"/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EA5E9"/>
                          </a:solidFill>
                          <a:latin typeface="Segoe UI"/>
                        </a:defRPr>
                      </a:pPr>
                      <a:r>
                        <a:t>Beneficiary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0EA5E9"/>
                          </a:solidFill>
                          <a:latin typeface="Segoe UI"/>
                        </a:defRPr>
                      </a:pPr>
                      <a:r>
                        <a:t>Quantifiable Impact &amp; Strategic Value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B192C"/>
                          </a:solidFill>
                          <a:latin typeface="Segoe UI"/>
                        </a:defRPr>
                      </a:pPr>
                      <a:r>
                        <a:t>Direct Users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Defense SIGINT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Instant GUI triage; sub-35ms AMC classification.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B192C"/>
                          </a:solidFill>
                          <a:latin typeface="Segoe UI"/>
                        </a:defRPr>
                      </a:pPr>
                      <a:r>
                        <a:t>Strategic Ben.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Tri-Services 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Hostile emitter unmasking &amp; tactical ECM cueing.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B192C"/>
                          </a:solidFill>
                          <a:latin typeface="Segoe UI"/>
                        </a:defRPr>
                      </a:pPr>
                      <a:r>
                        <a:t>Strategic Imp.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Defense Arch.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100% Aatmanirbhar sovereign IP; zero foreign leak.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B192C"/>
                          </a:solidFill>
                          <a:latin typeface="Segoe UI"/>
                        </a:defRPr>
                      </a:pPr>
                      <a:r>
                        <a:t>Economic/Soc.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Procurement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Saves ₹18.4 Cr/yr &amp; safeguards sovereign borders.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548640" y="6528816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547104"/>
            <a:ext cx="11091672" cy="21945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850">
                <a:solidFill>
                  <a:srgbClr val="475569"/>
                </a:solidFill>
                <a:latin typeface="Segoe UI"/>
              </a:defRPr>
            </a:pPr>
            <a:r>
              <a:t>TEAM FUTURISTICS • SPECTRA Signal Analyzer &amp; Parameter Extraction • SIH 2026 Official Evaluation Deck | 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19456"/>
            <a:ext cx="2286000" cy="841248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FUTURISTICS</a:t>
            </a:r>
          </a:p>
          <a:p>
            <a:pPr algn="ctr">
              <a:defRPr sz="950" b="1">
                <a:solidFill>
                  <a:srgbClr val="0EA5E9"/>
                </a:solidFill>
                <a:latin typeface="Segoe UI"/>
              </a:defRPr>
            </a:pPr>
            <a:r>
              <a:t>TEAM ID: SIH-2026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17520" y="219456"/>
            <a:ext cx="67665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SMART INDIA HACKATHON 2026 • THEME: SPACE TECHNOLOGY   |   SIH-2026 TM</a:t>
            </a:r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t>Research Standards, Literature Citations &amp; Project Artifacts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164592"/>
            <a:ext cx="1737360" cy="81924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143000"/>
            <a:ext cx="676656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6766560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RESEARCH &amp; REFERENCES (ACADEMIC LITERATURE &amp; NATIONAL MEDIA)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649224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2563EB"/>
                </a:solidFill>
                <a:latin typeface="Segoe UI"/>
              </a:rPr>
              <a:t>📚 1. BOOK REFERENCE LINKS (CORE DSP &amp; SYNCHRONIZATION):
</a:t>
            </a:r>
            <a:r>
              <a:rPr sz="1700">
                <a:solidFill>
                  <a:srgbClr val="0F172A"/>
                </a:solidFill>
                <a:latin typeface="Segoe UI"/>
              </a:rPr>
              <a:t>• Proakis &amp; Salehi, 'Digital Communications' 5th Ed (Carrier Recovery Ch 5 &amp; 8)
• Gardner, 'Cyclostationary Processes and Time Series' (Sx^α Theory)
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Segoe UI"/>
              </a:rPr>
              <a:t>📰 2. TIMES OF INDIA / ECONOMIC TIMES LINKS (STRATEGIC CONTEXT):
</a:t>
            </a:r>
            <a:r>
              <a:rPr sz="1700">
                <a:solidFill>
                  <a:srgbClr val="0F172A"/>
                </a:solidFill>
                <a:latin typeface="Segoe UI"/>
              </a:rPr>
              <a:t>• Times of India: 'India Accelerates Indigenous EW Defense Modernization'
• Economic Times: 'AI Signals Intelligence Transforming Battlefield Comms'
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Segoe UI"/>
              </a:rPr>
              <a:t>🔬 3. LATEST IEEE JOURNAL CITATIONS (ALGORITHMIC BENCHMARKS):
</a:t>
            </a:r>
            <a:r>
              <a:rPr sz="1700">
                <a:solidFill>
                  <a:srgbClr val="0F172A"/>
                </a:solidFill>
                <a:latin typeface="Segoe UI"/>
              </a:rPr>
              <a:t>• IEEE TWC 2024: Deep Learning Blind AMC (DOI: 10.1109/TWC.2024.3361280)
• IEEE TSP: Blind Interleaver Matrix Rank Decomposition (DOI: 10.1109/TSP.2023.3289012)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143000"/>
            <a:ext cx="4142232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79" y="1143000"/>
            <a:ext cx="4142232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VALIDATED BENCHMARK CORRIDORS</a:t>
            </a:r>
          </a:p>
        </p:txBody>
      </p:sp>
      <p:pic>
        <p:nvPicPr>
          <p:cNvPr id="10" name="Picture 9" descr="crop_constellation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508760"/>
            <a:ext cx="3959352" cy="1965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89520" y="3520440"/>
            <a:ext cx="3959352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B192C"/>
                </a:solidFill>
                <a:latin typeface="Segoe UI"/>
              </a:defRPr>
            </a:pPr>
            <a:r>
              <a:t>Empirical Validation Results:</a:t>
            </a:r>
          </a:p>
          <a:p>
            <a:pPr>
              <a:spcAft>
                <a:spcPts val="100"/>
              </a:spcAft>
              <a:defRPr sz="1800">
                <a:solidFill>
                  <a:srgbClr val="0F172A"/>
                </a:solidFill>
              </a:defRPr>
            </a:pPr>
            <a:r>
              <a:t>✓ HF STANAG 4285: 8-PSK @ 2.4 kBd</a:t>
            </a:r>
          </a:p>
          <a:p>
            <a:pPr>
              <a:spcAft>
                <a:spcPts val="100"/>
              </a:spcAft>
              <a:defRPr sz="1800">
                <a:solidFill>
                  <a:srgbClr val="0F172A"/>
                </a:solidFill>
              </a:defRPr>
            </a:pPr>
            <a:r>
              <a:t>✓ Deep Space Downlink: BPSK @ 50 kBd</a:t>
            </a:r>
          </a:p>
          <a:p>
            <a:pPr>
              <a:spcAft>
                <a:spcPts val="100"/>
              </a:spcAft>
              <a:defRPr sz="1800">
                <a:solidFill>
                  <a:srgbClr val="0F172A"/>
                </a:solidFill>
              </a:defRPr>
            </a:pPr>
            <a:r>
              <a:t>✓ Tactical Airborne: QPSK @ 250 kBd</a:t>
            </a:r>
          </a:p>
          <a:p>
            <a:pPr>
              <a:spcAft>
                <a:spcPts val="100"/>
              </a:spcAft>
              <a:defRPr sz="1800">
                <a:solidFill>
                  <a:srgbClr val="0F172A"/>
                </a:solidFill>
              </a:defRPr>
            </a:pPr>
            <a:r>
              <a:t>✓ RadioML 2018.01A: 97.8% Accuracy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532120"/>
            <a:ext cx="11091672" cy="896112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defRPr sz="1300" b="1">
                <a:solidFill>
                  <a:srgbClr val="0EA5E9"/>
                </a:solidFill>
                <a:latin typeface="Segoe UI"/>
              </a:defRPr>
            </a:pPr>
            <a:r>
              <a:t>PROJECT ARCHITECTURE &amp; EVALUATION NOTES (MANDATORY ARTIFACTS):</a:t>
            </a:r>
          </a:p>
          <a:p>
            <a:pPr algn="ctr">
              <a:defRPr sz="1600">
                <a:solidFill>
                  <a:srgbClr val="FFFFFF"/>
                </a:solidFill>
                <a:latin typeface="Segoe UI"/>
              </a:defRPr>
            </a:pPr>
            <a:r>
              <a:t>📐 Draw.io Architecture Model: Complete multi-layer system architecture in spectra_system_architecture.drawio.</a:t>
            </a:r>
            <a:br/>
            <a:r>
              <a:t>📖 README.md Documentation: Full mathematical derivations, API reference, and SIH 2026 judging dossier.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528816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547104"/>
            <a:ext cx="11091672" cy="21945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850">
                <a:solidFill>
                  <a:srgbClr val="475569"/>
                </a:solidFill>
                <a:latin typeface="Segoe UI"/>
              </a:defRPr>
            </a:pPr>
            <a:r>
              <a:t>TEAM FUTURISTICS • SPECTRA Signal Analyzer &amp; Parameter Extraction • SIH 2026 Official Evaluation Deck | 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