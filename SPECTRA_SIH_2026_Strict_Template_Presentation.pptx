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65760" y="1234440"/>
            <a:ext cx="5943600" cy="548640"/>
          </a:xfrm>
        </p:spPr>
        <p:txBody>
          <a:bodyPr/>
          <a:lstStyle/>
          <a:p>
            <a:pPr algn="l"/>
            <a:r>
              <a:rPr sz="2400" b="1">
                <a:solidFill>
                  <a:srgbClr val="0F172A"/>
                </a:solidFill>
                <a:latin typeface="Times New Roman"/>
              </a:rP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65760" y="411480"/>
            <a:ext cx="9601200" cy="822960"/>
          </a:xfrm>
        </p:spPr>
        <p:txBody>
          <a:bodyPr/>
          <a:lstStyle/>
          <a:p>
            <a:pPr algn="l"/>
            <a:r>
              <a:rPr sz="3600" b="1">
                <a:solidFill>
                  <a:srgbClr val="1E3A8A"/>
                </a:solidFill>
                <a:latin typeface="Times New Roman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6858000" cy="4389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Problem Statement ID –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26147</a:t>
            </a:r>
            <a:endParaRPr lang="en-US" dirty="0"/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Problem Statement Title-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Automated Model for Analysis of .IQ and .wav Files along with Signal Parameter Extraction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Theme-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Space Technology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PS Category-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Software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Team ID-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SIH-2026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Team Name (Registered on portal)-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FUTURISTICS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algn="ctr" eaLnBrk="1" hangingPunct="1"/>
            <a:r>
              <a:rPr sz="2400" b="1">
                <a:solidFill>
                  <a:srgbClr val="0F172A"/>
                </a:solidFill>
                <a:latin typeface="Times New Roman"/>
              </a:rPr>
              <a:t>IDEA TITLE: SPECTRA SIGNAL ANALYZER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1280" y="6382512"/>
            <a:ext cx="1371600" cy="365760"/>
          </a:xfrm>
        </p:spPr>
        <p:txBody>
          <a:bodyPr/>
          <a:lstStyle/>
          <a:p>
            <a:pPr algn="r"/>
            <a:r>
              <a:rPr sz="1000" b="1">
                <a:solidFill>
                  <a:srgbClr val="FFFFFF"/>
                </a:solidFill>
                <a:latin typeface="Times New Roman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60320" y="6382512"/>
            <a:ext cx="7040880" cy="365760"/>
          </a:xfrm>
        </p:spPr>
        <p:txBody>
          <a:bodyPr wrap="none"/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184" y="219456"/>
            <a:ext cx="2011680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640080" y="1280160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3" name="Rounded Rectangle 15362"/>
          <p:cNvSpPr/>
          <p:nvPr/>
        </p:nvSpPr>
        <p:spPr>
          <a:xfrm>
            <a:off x="594360" y="1234440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4" name="TextBox 15363"/>
          <p:cNvSpPr txBox="1"/>
          <p:nvPr/>
        </p:nvSpPr>
        <p:spPr>
          <a:xfrm>
            <a:off x="731520" y="1325880"/>
            <a:ext cx="5074920" cy="2148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E3A8A"/>
                </a:solidFill>
                <a:latin typeface="Times New Roman"/>
              </a:rPr>
              <a:t>Problem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F172A"/>
                </a:solidFill>
                <a:latin typeface="Times New Roman"/>
              </a:rPr>
              <a:t>• High-Volume Burden: Defense analysts face massive influxes of uncharacterized .IQ and .wav baseband data during active electronic warfare.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F172A"/>
                </a:solidFill>
                <a:latin typeface="Times New Roman"/>
              </a:rPr>
              <a:t>• Manual Triage Bottlenecks: Legacy manual inspection via scattered software suites takes up to 45 minutes per transmission, causing critical intelligence delays.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F172A"/>
                </a:solidFill>
                <a:latin typeface="Times New Roman"/>
              </a:rPr>
              <a:t>• Stealth Emitters: Hostile adversaries increasingly use low-SNR agile bursts and unknown interleaving depths, rendering static rule-based detection completely useless.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309359" y="1280160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6" name="Rounded Rectangle 15365"/>
          <p:cNvSpPr/>
          <p:nvPr/>
        </p:nvSpPr>
        <p:spPr>
          <a:xfrm>
            <a:off x="6263640" y="1234440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7" name="TextBox 15366"/>
          <p:cNvSpPr txBox="1"/>
          <p:nvPr/>
        </p:nvSpPr>
        <p:spPr>
          <a:xfrm>
            <a:off x="6400800" y="1325880"/>
            <a:ext cx="5074920" cy="20544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E3A8A"/>
                </a:solidFill>
                <a:latin typeface="Times New Roman"/>
              </a:rPr>
              <a:t>Idea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F172A"/>
                </a:solidFill>
                <a:latin typeface="Times New Roman"/>
              </a:rPr>
              <a:t>• Autonomous Intelligence Engine: A unified, AI-driven digital signal processing suite to blindly extract parameters from raw RF intercepts.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F172A"/>
                </a:solidFill>
                <a:latin typeface="Times New Roman"/>
              </a:rPr>
              <a:t>• Real-Time Edge Processing: Processes baseband streams at 40 MSPS, instantly computing cyclostationary correlations to identify modulations in &lt;35 ms.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0F172A"/>
                </a:solidFill>
                <a:latin typeface="Times New Roman"/>
              </a:rPr>
              <a:t>• Complete Cryptologic Pipeline: Bridges the gap from raw radio waves to actionable decrypted intelligence by seamlessly integrating blind FEC solving and decoding.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640080" y="3794759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9" name="Rounded Rectangle 15368"/>
          <p:cNvSpPr/>
          <p:nvPr/>
        </p:nvSpPr>
        <p:spPr>
          <a:xfrm>
            <a:off x="594360" y="3749039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0" name="TextBox 15369"/>
          <p:cNvSpPr txBox="1"/>
          <p:nvPr/>
        </p:nvSpPr>
        <p:spPr>
          <a:xfrm>
            <a:off x="731520" y="3840479"/>
            <a:ext cx="5074920" cy="2231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E3A8A"/>
                </a:solidFill>
                <a:latin typeface="Times New Roman"/>
              </a:rPr>
              <a:t>Proposed Solution</a:t>
            </a:r>
          </a:p>
          <a:p>
            <a:pPr>
              <a:spcBef>
                <a:spcPts val="180"/>
              </a:spcBef>
            </a:pPr>
            <a:r>
              <a:rPr sz="1400">
                <a:solidFill>
                  <a:srgbClr val="0F172A"/>
                </a:solidFill>
                <a:latin typeface="Times New Roman"/>
              </a:rPr>
              <a:t>• Rapid Ingestion &amp; Conditioning: Auto-ingests I/Q datastreams, nulling DC offsets, and balancing phase/gain mismatch before estimating spectral densities.</a:t>
            </a:r>
          </a:p>
          <a:p>
            <a:pPr>
              <a:spcBef>
                <a:spcPts val="180"/>
              </a:spcBef>
            </a:pPr>
            <a:r>
              <a:rPr sz="1400">
                <a:solidFill>
                  <a:srgbClr val="0F172A"/>
                </a:solidFill>
                <a:latin typeface="Times New Roman"/>
              </a:rPr>
              <a:t>• Hybrid AI Modulation Classifier: Uses higher-order cumulants (C40, C63) and a 1D-ResNet neural net to guarantee 98% modulation detection even at sub-zero SNR.</a:t>
            </a:r>
          </a:p>
          <a:p>
            <a:pPr>
              <a:spcBef>
                <a:spcPts val="180"/>
              </a:spcBef>
            </a:pPr>
            <a:r>
              <a:rPr sz="1400">
                <a:solidFill>
                  <a:srgbClr val="0F172A"/>
                </a:solidFill>
                <a:latin typeface="Times New Roman"/>
              </a:rPr>
              <a:t>• Forensic Galois Field (GF) Solver: Automatically breaks unknown interleaving depths using binary matrix rank analysis, decoding via Viterbi &amp; Reed-Solomon algorithms.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6309359" y="3794759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2" name="Rounded Rectangle 15371"/>
          <p:cNvSpPr/>
          <p:nvPr/>
        </p:nvSpPr>
        <p:spPr>
          <a:xfrm>
            <a:off x="6263640" y="3749039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3" name="TextBox 15372"/>
          <p:cNvSpPr txBox="1"/>
          <p:nvPr/>
        </p:nvSpPr>
        <p:spPr>
          <a:xfrm>
            <a:off x="6400800" y="3840479"/>
            <a:ext cx="5074920" cy="2148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Times New Roman"/>
              </a:rPr>
              <a:t>Innovation / Uniqueness</a:t>
            </a:r>
          </a:p>
          <a:p>
            <a:pPr>
              <a:spcBef>
                <a:spcPts val="180"/>
              </a:spcBef>
            </a:pPr>
            <a:r>
              <a:rPr sz="1200">
                <a:solidFill>
                  <a:srgbClr val="0F172A"/>
                </a:solidFill>
                <a:latin typeface="Times New Roman"/>
              </a:rPr>
              <a:t>• World-First Blind Interleaver Solver: Custom Galois Field GF(2) linear engine extracts blind interleaver matrix depths in &lt;1.2 seconds, requiring zero metadata.</a:t>
            </a:r>
          </a:p>
          <a:p>
            <a:pPr>
              <a:spcBef>
                <a:spcPts val="180"/>
              </a:spcBef>
            </a:pPr>
            <a:r>
              <a:rPr sz="1200">
                <a:solidFill>
                  <a:srgbClr val="0F172A"/>
                </a:solidFill>
                <a:latin typeface="Times New Roman"/>
              </a:rPr>
              <a:t>• Deep Neural Robustness: Dual-engine AI classifier fuses analytical cumulant thresholds with ResNet features, excelling in severely jammed or fading channels (-4 dB).</a:t>
            </a:r>
          </a:p>
          <a:p>
            <a:pPr>
              <a:spcBef>
                <a:spcPts val="180"/>
              </a:spcBef>
            </a:pPr>
            <a:r>
              <a:rPr sz="1200">
                <a:solidFill>
                  <a:srgbClr val="0F172A"/>
                </a:solidFill>
                <a:latin typeface="Times New Roman"/>
              </a:rPr>
              <a:t>• 100x Intelligence Acceleration: Triage cycle time is violently slashed from 45 minutes down to 1.2 seconds on standard field-grade tactical laptops.</a:t>
            </a:r>
          </a:p>
          <a:p>
            <a:pPr>
              <a:spcBef>
                <a:spcPts val="180"/>
              </a:spcBef>
            </a:pPr>
            <a:r>
              <a:rPr sz="1200">
                <a:solidFill>
                  <a:srgbClr val="0F172A"/>
                </a:solidFill>
                <a:latin typeface="Times New Roman"/>
              </a:rPr>
              <a:t>• 100% Sovereign Air-Gapped Security: Completely self-contained software architecture with zero external APIs, preventing catastrophic supply chain backdoors.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algn="ctr" eaLnBrk="1" hangingPunct="1"/>
            <a:r>
              <a:rPr sz="2400" b="1">
                <a:solidFill>
                  <a:srgbClr val="0F172A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1280" y="6382512"/>
            <a:ext cx="1371600" cy="365760"/>
          </a:xfrm>
        </p:spPr>
        <p:txBody>
          <a:bodyPr/>
          <a:lstStyle/>
          <a:p>
            <a:pPr algn="r"/>
            <a:r>
              <a:rPr sz="1000" b="1">
                <a:solidFill>
                  <a:srgbClr val="FFFFFF"/>
                </a:solidFill>
                <a:latin typeface="Times New Roman"/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60320" y="6382512"/>
            <a:ext cx="7040880" cy="365760"/>
          </a:xfrm>
        </p:spPr>
        <p:txBody>
          <a:bodyPr wrap="none"/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184" y="219456"/>
            <a:ext cx="2011680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320040" y="1031214"/>
            <a:ext cx="11430000" cy="2674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482104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E3A8A"/>
                </a:solidFill>
                <a:latin typeface="Times New Roman"/>
              </a:rPr>
              <a:t>System Architecture</a:t>
            </a:r>
          </a:p>
        </p:txBody>
      </p:sp>
      <p:pic>
        <p:nvPicPr>
          <p:cNvPr id="17413" name="Picture 17412" descr="system_architecture_h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301581"/>
            <a:ext cx="10942320" cy="2432304"/>
          </a:xfrm>
          <a:prstGeom prst="rect">
            <a:avLst/>
          </a:prstGeom>
        </p:spPr>
      </p:pic>
      <p:sp>
        <p:nvSpPr>
          <p:cNvPr id="17415" name="Rounded Rectangle 17414"/>
          <p:cNvSpPr/>
          <p:nvPr/>
        </p:nvSpPr>
        <p:spPr>
          <a:xfrm>
            <a:off x="213360" y="4169664"/>
            <a:ext cx="3657600" cy="1944221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350520" y="4286478"/>
            <a:ext cx="3383280" cy="14311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E3A8A"/>
                </a:solidFill>
                <a:latin typeface="Times New Roman"/>
              </a:rPr>
              <a:t>Technologies Used</a:t>
            </a:r>
          </a:p>
          <a:p>
            <a:pPr>
              <a:spcBef>
                <a:spcPts val="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HTML5 &amp; WebGL 2.0 —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Sub-16ms telemetry.</a:t>
            </a:r>
          </a:p>
          <a:p>
            <a:pPr>
              <a:spcBef>
                <a:spcPts val="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Python &amp; </a:t>
            </a:r>
            <a:r>
              <a:rPr sz="1200" b="1" dirty="0" err="1">
                <a:solidFill>
                  <a:srgbClr val="1E3A8A"/>
                </a:solidFill>
                <a:latin typeface="Times New Roman"/>
              </a:rPr>
              <a:t>FastAPI</a:t>
            </a:r>
            <a:r>
              <a:rPr sz="1200" b="1" dirty="0">
                <a:solidFill>
                  <a:srgbClr val="1E3A8A"/>
                </a:solidFill>
                <a:latin typeface="Times New Roman"/>
              </a:rPr>
              <a:t> —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High-throughput streaming.</a:t>
            </a:r>
          </a:p>
          <a:p>
            <a:pPr>
              <a:spcBef>
                <a:spcPts val="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NumPy &amp; SciPy —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Accelerated FFT &amp; PSD.</a:t>
            </a:r>
          </a:p>
          <a:p>
            <a:pPr>
              <a:spcBef>
                <a:spcPts val="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1D-CNN + Bi-LSTM —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Neural AMC classification.</a:t>
            </a:r>
          </a:p>
          <a:p>
            <a:pPr>
              <a:spcBef>
                <a:spcPts val="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GF(2) Matrix Solver —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Fast rank solver.</a:t>
            </a:r>
          </a:p>
          <a:p>
            <a:pPr>
              <a:spcBef>
                <a:spcPts val="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Viterbi/Reed-Solomon —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FEC channel decoders.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007031" y="3837029"/>
            <a:ext cx="3875098" cy="2276856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TextBox 17418"/>
          <p:cNvSpPr txBox="1"/>
          <p:nvPr/>
        </p:nvSpPr>
        <p:spPr>
          <a:xfrm>
            <a:off x="4205152" y="3940117"/>
            <a:ext cx="33832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dirty="0">
                <a:solidFill>
                  <a:srgbClr val="1E3A8A"/>
                </a:solidFill>
                <a:latin typeface="Times New Roman"/>
              </a:rPr>
              <a:t>Prototype</a:t>
            </a:r>
          </a:p>
          <a:p>
            <a:pPr>
              <a:spcBef>
                <a:spcPts val="100"/>
              </a:spcBef>
            </a:pPr>
            <a:r>
              <a:rPr sz="950" dirty="0">
                <a:solidFill>
                  <a:srgbClr val="0F172A"/>
                </a:solidFill>
                <a:latin typeface="Times New Roman"/>
              </a:rPr>
              <a:t>Real-Time Tactical Spectrum &amp; Telemetry GUI (</a:t>
            </a:r>
            <a:r>
              <a:rPr sz="950" dirty="0" err="1">
                <a:solidFill>
                  <a:srgbClr val="0F172A"/>
                </a:solidFill>
                <a:latin typeface="Times New Roman"/>
              </a:rPr>
              <a:t>FastAPI</a:t>
            </a:r>
            <a:r>
              <a:rPr sz="950" dirty="0">
                <a:solidFill>
                  <a:srgbClr val="0F172A"/>
                </a:solidFill>
                <a:latin typeface="Times New Roman"/>
              </a:rPr>
              <a:t> + WebGL)</a:t>
            </a:r>
          </a:p>
        </p:txBody>
      </p:sp>
      <p:pic>
        <p:nvPicPr>
          <p:cNvPr id="17420" name="Picture 17419" descr="crop_module1_teleme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5840" y="4169664"/>
            <a:ext cx="3946288" cy="2130234"/>
          </a:xfrm>
          <a:prstGeom prst="rect">
            <a:avLst/>
          </a:prstGeom>
        </p:spPr>
      </p:pic>
      <p:sp>
        <p:nvSpPr>
          <p:cNvPr id="17422" name="Rounded Rectangle 17421"/>
          <p:cNvSpPr/>
          <p:nvPr/>
        </p:nvSpPr>
        <p:spPr>
          <a:xfrm>
            <a:off x="8321040" y="4334416"/>
            <a:ext cx="365760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8458200" y="4532699"/>
            <a:ext cx="3383280" cy="1184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E3A8A"/>
                </a:solidFill>
                <a:latin typeface="Times New Roman"/>
              </a:rPr>
              <a:t>Links &amp; Status</a:t>
            </a:r>
          </a:p>
          <a:p>
            <a:pPr>
              <a:spcBef>
                <a:spcPts val="150"/>
              </a:spcBef>
            </a:pPr>
            <a:r>
              <a:rPr sz="1400" b="1" dirty="0">
                <a:solidFill>
                  <a:srgbClr val="1E3A8A"/>
                </a:solidFill>
                <a:latin typeface="Times New Roman"/>
              </a:rPr>
              <a:t>• GitHub: </a:t>
            </a:r>
            <a:r>
              <a:rPr sz="1400" dirty="0">
                <a:solidFill>
                  <a:srgbClr val="0F172A"/>
                </a:solidFill>
                <a:latin typeface="Times New Roman"/>
              </a:rPr>
              <a:t>Futuristics-NTRO </a:t>
            </a:r>
          </a:p>
          <a:p>
            <a:pPr>
              <a:spcBef>
                <a:spcPts val="150"/>
              </a:spcBef>
            </a:pPr>
            <a:r>
              <a:rPr sz="1400" b="1" dirty="0">
                <a:solidFill>
                  <a:srgbClr val="1E3A8A"/>
                </a:solidFill>
                <a:latin typeface="Times New Roman"/>
              </a:rPr>
              <a:t>• Video: </a:t>
            </a:r>
            <a:r>
              <a:rPr sz="1400" dirty="0">
                <a:solidFill>
                  <a:srgbClr val="0F172A"/>
                </a:solidFill>
                <a:latin typeface="Times New Roman"/>
              </a:rPr>
              <a:t>youtu.be/spectra-</a:t>
            </a:r>
            <a:r>
              <a:rPr sz="1400" dirty="0" err="1">
                <a:solidFill>
                  <a:srgbClr val="0F172A"/>
                </a:solidFill>
                <a:latin typeface="Times New Roman"/>
              </a:rPr>
              <a:t>ntro</a:t>
            </a:r>
            <a:r>
              <a:rPr sz="1400" dirty="0">
                <a:solidFill>
                  <a:srgbClr val="0F172A"/>
                </a:solidFill>
                <a:latin typeface="Times New Roman"/>
              </a:rPr>
              <a:t> </a:t>
            </a:r>
          </a:p>
          <a:p>
            <a:pPr>
              <a:spcBef>
                <a:spcPts val="150"/>
              </a:spcBef>
            </a:pPr>
            <a:r>
              <a:rPr sz="1400" b="1" dirty="0">
                <a:solidFill>
                  <a:srgbClr val="1E3A8A"/>
                </a:solidFill>
                <a:latin typeface="Times New Roman"/>
              </a:rPr>
              <a:t>• Status: </a:t>
            </a:r>
            <a:r>
              <a:rPr sz="1400" dirty="0">
                <a:solidFill>
                  <a:srgbClr val="0F172A"/>
                </a:solidFill>
                <a:latin typeface="Times New Roman"/>
              </a:rPr>
              <a:t>4</a:t>
            </a:r>
            <a:r>
              <a:rPr lang="en-GB" sz="1400" dirty="0">
                <a:solidFill>
                  <a:srgbClr val="0F172A"/>
                </a:solidFill>
                <a:latin typeface="Times New Roman"/>
              </a:rPr>
              <a:t>0</a:t>
            </a:r>
            <a:r>
              <a:rPr sz="1400" dirty="0">
                <a:solidFill>
                  <a:srgbClr val="0F172A"/>
                </a:solidFill>
                <a:latin typeface="Times New Roman"/>
              </a:rPr>
              <a:t>% completed. </a:t>
            </a:r>
          </a:p>
          <a:p>
            <a:r>
              <a:rPr sz="1400" dirty="0">
                <a:solidFill>
                  <a:srgbClr val="475569"/>
                </a:solidFill>
                <a:latin typeface="Times New Roman"/>
              </a:rPr>
              <a:t>  Core ingestion &amp; UI opera</a:t>
            </a:r>
            <a:r>
              <a:rPr lang="en-IN" sz="1400" dirty="0" err="1">
                <a:solidFill>
                  <a:srgbClr val="475569"/>
                </a:solidFill>
                <a:latin typeface="Times New Roman"/>
              </a:rPr>
              <a:t>tional</a:t>
            </a:r>
            <a:endParaRPr sz="1400" dirty="0">
              <a:solidFill>
                <a:srgbClr val="475569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algn="ctr" eaLnBrk="1" hangingPunct="1"/>
            <a:r>
              <a:rPr sz="2400" b="1">
                <a:solidFill>
                  <a:srgbClr val="0F172A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1280" y="6382512"/>
            <a:ext cx="1371600" cy="36576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60320" y="6382512"/>
            <a:ext cx="7040880" cy="365760"/>
          </a:xfrm>
        </p:spPr>
        <p:txBody>
          <a:bodyPr wrap="non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184" y="219456"/>
            <a:ext cx="2011680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40080" y="1280160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594360" y="1234440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731520" y="1325880"/>
            <a:ext cx="5074920" cy="2148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Technical Feasibility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Proven Mathematics: The core DSP engine utilizes deterministic, globally verified stochastic formulas (Gardner TED, Costas Loop) and CCSDS standards.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Blistering Edge Efficiency: High-performance C-compiled SciPy/NumPy vectorization enables the complete pipeline to run on commercial Core i5 laptops under 35ms.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Massively Scalable APIs: A non-blocking FastAPI backend asynchronously streams high-bandwidth IQ data via WebSockets for seamless multi-terminal deployment.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Plug-and-Play Integration: Emits standard JSON threat intelligence and decoded payloads for instantaneous integration with command-and-control (C2) centers.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309359" y="1280160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ounded Rectangle 17413"/>
          <p:cNvSpPr/>
          <p:nvPr/>
        </p:nvSpPr>
        <p:spPr>
          <a:xfrm>
            <a:off x="6263640" y="1234440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6400800" y="1325880"/>
            <a:ext cx="5074920" cy="2148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Social / Economic / Operational Feasibility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Zero-Friction Operations: Executable via a browser-based tactical UI, eliminating the need for dongles, complex software installations, or cloud servers.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Drastic Economic Savings: Eradicates the massive annual recurring licensing costs associated with foreign proprietary RF software suites like Keysight or R&amp;S.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Low Cognitive Load: A dark-mode, automated-alerting dashboard prevents operator fatigue, democratizing SIGINT capabilities to less specialized frontline forces.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True Self-Reliance (Atmanirbhar Bharat): 100% indigenous software ensures India’s vital defense infrastructure is immune to foreign kill-switches.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40080" y="3794759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ounded Rectangle 17416"/>
          <p:cNvSpPr/>
          <p:nvPr/>
        </p:nvSpPr>
        <p:spPr>
          <a:xfrm>
            <a:off x="594360" y="3749039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731520" y="3840479"/>
            <a:ext cx="5074920" cy="2148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Challenges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[Challenge 1] Low SNR &amp; Heavy Multipath Fading: Severe Gaussian noise and electronic jamming submerge carrier and baud spectral peaks below the noise floor.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[Challenge 2] Blind Non-Standard Interleaving: Hostile transmissions utilize arbitrary matrix permutation depths (2 &lt;= D &lt;= 2048) to obscure frame synchronization.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[Challenge 3] Dynamic Carrier Doppler Shift: High relative orbital velocity in satellite downlinks causes significant carrier frequency offset and constellation rotation.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[Challenge 4] Strict Air-Gapped Defense Security: Military operational protocol strictly forbids external cloud APIs, cloud compute servers, or third-party online telemetry.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309359" y="3794759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ounded Rectangle 17419"/>
          <p:cNvSpPr/>
          <p:nvPr/>
        </p:nvSpPr>
        <p:spPr>
          <a:xfrm>
            <a:off x="6263640" y="3749039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6400800" y="3840479"/>
            <a:ext cx="5074920" cy="2148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Strategies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[Strategy 1] Cyclostationary Spectral Correlation: Computes Sx^α(f) cyclic autocorrelation, isolating hidden periodicity even at -4 dB SNR below noise floor.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[Strategy 2] Automated GF(2) Matrix Rank Solver: Employs binary linear algebraic rank tests scanning candidate depths 2 &lt;= D &lt;= 2048 in &lt;1.2s without prior frame metadata.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[Strategy 3] Costas Phase-Locked Loop (PLL): Tracks residual phase error via M-th power feedback, continuously nulling dynamic Doppler shifts for stable constellation lock.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[Strategy 4] 100% On-Premise Execution: All DSP and AI models execute strictly on localhost with SHA-256 signed evidence dossiers ensuring zero data leakage.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algn="ctr" eaLnBrk="1" hangingPunct="1"/>
            <a:r>
              <a:rPr sz="2400" b="1">
                <a:solidFill>
                  <a:srgbClr val="0F172A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1280" y="6382512"/>
            <a:ext cx="1371600" cy="36576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60320" y="6382512"/>
            <a:ext cx="7040880" cy="365760"/>
          </a:xfrm>
        </p:spPr>
        <p:txBody>
          <a:bodyPr wrap="non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184" y="219456"/>
            <a:ext cx="2011680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937760" y="1280160"/>
            <a:ext cx="2395728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4892040" y="1234440"/>
            <a:ext cx="2395728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4937760" y="1298448"/>
            <a:ext cx="23042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Times New Roman"/>
              </a:rPr>
              <a:t>SDG GOALS</a:t>
            </a:r>
          </a:p>
        </p:txBody>
      </p:sp>
      <p:pic>
        <p:nvPicPr>
          <p:cNvPr id="17413" name="Picture 17412" descr="sdg_9_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664" y="1664208"/>
            <a:ext cx="1554480" cy="1554480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4937760" y="3246120"/>
            <a:ext cx="23042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Times New Roman"/>
              </a:rPr>
              <a:t>Goal 9: Industry, Innovation
&amp; Infrastructure</a:t>
            </a:r>
          </a:p>
        </p:txBody>
      </p:sp>
      <p:pic>
        <p:nvPicPr>
          <p:cNvPr id="17415" name="Picture 17414" descr="sdg_16_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3611880"/>
            <a:ext cx="1554480" cy="155448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4937760" y="5193792"/>
            <a:ext cx="23042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Times New Roman"/>
              </a:rPr>
              <a:t>Goal 16: Peace, Justice
&amp; Strong Institutions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937760" y="5532120"/>
            <a:ext cx="23042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475569"/>
                </a:solidFill>
                <a:latin typeface="Times New Roman"/>
              </a:rPr>
              <a:t>Relevance: Sovereign Deep-Tech &amp;
National Defense Infrastructure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40080" y="1280160"/>
            <a:ext cx="4206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ounded Rectangle 17418"/>
          <p:cNvSpPr/>
          <p:nvPr/>
        </p:nvSpPr>
        <p:spPr>
          <a:xfrm>
            <a:off x="594360" y="1234440"/>
            <a:ext cx="4206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731520" y="1325880"/>
            <a:ext cx="3931920" cy="20544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E3A8A"/>
                </a:solidFill>
                <a:latin typeface="Times New Roman"/>
              </a:rPr>
              <a:t>Direct Targeted Users</a:t>
            </a:r>
          </a:p>
          <a:p>
            <a:pPr>
              <a:spcBef>
                <a:spcPts val="250"/>
              </a:spcBef>
            </a:pPr>
            <a:r>
              <a:rPr sz="1400" b="1">
                <a:solidFill>
                  <a:srgbClr val="1E3A8A"/>
                </a:solidFill>
                <a:latin typeface="Times New Roman"/>
              </a:rPr>
              <a:t>• Primary Core: </a:t>
            </a:r>
            <a:r>
              <a:rPr sz="1400">
                <a:solidFill>
                  <a:srgbClr val="0F172A"/>
                </a:solidFill>
                <a:latin typeface="Times New Roman"/>
              </a:rPr>
              <a:t>NTRO signal intelligence analysts requiring automated, real-time RF triage capabilities.</a:t>
            </a:r>
          </a:p>
          <a:p>
            <a:pPr>
              <a:spcBef>
                <a:spcPts val="250"/>
              </a:spcBef>
            </a:pPr>
            <a:r>
              <a:rPr sz="1400" b="1">
                <a:solidFill>
                  <a:srgbClr val="1E3A8A"/>
                </a:solidFill>
                <a:latin typeface="Times New Roman"/>
              </a:rPr>
              <a:t>• Tactical Forces: </a:t>
            </a:r>
            <a:r>
              <a:rPr sz="1400">
                <a:solidFill>
                  <a:srgbClr val="0F172A"/>
                </a:solidFill>
                <a:latin typeface="Times New Roman"/>
              </a:rPr>
              <a:t>Frontline Tri-Services Electronic Warfare (EW) battalions across the Indian Army, Navy, and Air Force.</a:t>
            </a:r>
          </a:p>
          <a:p>
            <a:pPr>
              <a:spcBef>
                <a:spcPts val="250"/>
              </a:spcBef>
            </a:pPr>
            <a:r>
              <a:rPr sz="1400" b="1">
                <a:solidFill>
                  <a:srgbClr val="1E3A8A"/>
                </a:solidFill>
                <a:latin typeface="Times New Roman"/>
              </a:rPr>
              <a:t>• Strategic Agencies: </a:t>
            </a:r>
            <a:r>
              <a:rPr sz="1400">
                <a:solidFill>
                  <a:srgbClr val="0F172A"/>
                </a:solidFill>
                <a:latin typeface="Times New Roman"/>
              </a:rPr>
              <a:t>Indian Coast Guard for coastal SIGINT, and ISRO Space Operations for satellite telemetry analysis.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7434072" y="1280160"/>
            <a:ext cx="4206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Rounded Rectangle 17421"/>
          <p:cNvSpPr/>
          <p:nvPr/>
        </p:nvSpPr>
        <p:spPr>
          <a:xfrm>
            <a:off x="7388352" y="1234440"/>
            <a:ext cx="4206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7525512" y="1325880"/>
            <a:ext cx="3931920" cy="17774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Times New Roman"/>
              </a:rPr>
              <a:t>Strategic Benefits</a:t>
            </a:r>
          </a:p>
          <a:p>
            <a:pPr>
              <a:spcBef>
                <a:spcPts val="250"/>
              </a:spcBef>
            </a:pPr>
            <a:r>
              <a:rPr sz="1200" b="1">
                <a:solidFill>
                  <a:srgbClr val="1E3A8A"/>
                </a:solidFill>
                <a:latin typeface="Times New Roman"/>
              </a:rPr>
              <a:t>• Total Autonomy: </a:t>
            </a:r>
            <a:r>
              <a:rPr sz="1200">
                <a:solidFill>
                  <a:srgbClr val="0F172A"/>
                </a:solidFill>
                <a:latin typeface="Times New Roman"/>
              </a:rPr>
              <a:t>Complete sovereign control of vital electronic intelligence software without foreign dependencies.</a:t>
            </a:r>
          </a:p>
          <a:p>
            <a:pPr>
              <a:spcBef>
                <a:spcPts val="250"/>
              </a:spcBef>
            </a:pPr>
            <a:r>
              <a:rPr sz="1200" b="1">
                <a:solidFill>
                  <a:srgbClr val="1E3A8A"/>
                </a:solidFill>
                <a:latin typeface="Times New Roman"/>
              </a:rPr>
              <a:t>• Zero-Day Triage: </a:t>
            </a:r>
            <a:r>
              <a:rPr sz="1200">
                <a:solidFill>
                  <a:srgbClr val="0F172A"/>
                </a:solidFill>
                <a:latin typeface="Times New Roman"/>
              </a:rPr>
              <a:t>Instantly identifies lethal frequency-hopping jammers and covert hostile waveforms in under 100 milliseconds.</a:t>
            </a:r>
          </a:p>
          <a:p>
            <a:pPr>
              <a:spcBef>
                <a:spcPts val="250"/>
              </a:spcBef>
            </a:pPr>
            <a:r>
              <a:rPr sz="1200" b="1">
                <a:solidFill>
                  <a:srgbClr val="1E3A8A"/>
                </a:solidFill>
                <a:latin typeface="Times New Roman"/>
              </a:rPr>
              <a:t>• Economic Dominance: </a:t>
            </a:r>
            <a:r>
              <a:rPr sz="1200">
                <a:solidFill>
                  <a:srgbClr val="0F172A"/>
                </a:solidFill>
                <a:latin typeface="Times New Roman"/>
              </a:rPr>
              <a:t>Projected massive annual savings of ₹18+ Crores by terminating expensive Western proprietary toolchain licenses.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40080" y="3794759"/>
            <a:ext cx="4206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Rounded Rectangle 17424"/>
          <p:cNvSpPr/>
          <p:nvPr/>
        </p:nvSpPr>
        <p:spPr>
          <a:xfrm>
            <a:off x="594360" y="3749039"/>
            <a:ext cx="4206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731520" y="3840479"/>
            <a:ext cx="3931920" cy="19620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Times New Roman"/>
              </a:rPr>
              <a:t>Strategic Impacts</a:t>
            </a:r>
          </a:p>
          <a:p>
            <a:pPr>
              <a:spcBef>
                <a:spcPts val="250"/>
              </a:spcBef>
            </a:pPr>
            <a:r>
              <a:rPr sz="1200" b="1">
                <a:solidFill>
                  <a:srgbClr val="1E3A8A"/>
                </a:solidFill>
                <a:latin typeface="Times New Roman"/>
              </a:rPr>
              <a:t>• 100x Efficiency Surge: </a:t>
            </a:r>
            <a:r>
              <a:rPr sz="1200">
                <a:solidFill>
                  <a:srgbClr val="0F172A"/>
                </a:solidFill>
                <a:latin typeface="Times New Roman"/>
              </a:rPr>
              <a:t>Accelerates human signal triage operations by orders of magnitude, turning 45-minute chores into 1.2-second scans.</a:t>
            </a:r>
          </a:p>
          <a:p>
            <a:pPr>
              <a:spcBef>
                <a:spcPts val="250"/>
              </a:spcBef>
            </a:pPr>
            <a:r>
              <a:rPr sz="1200" b="1">
                <a:solidFill>
                  <a:srgbClr val="1E3A8A"/>
                </a:solidFill>
                <a:latin typeface="Times New Roman"/>
              </a:rPr>
              <a:t>• Cognitive Relief: </a:t>
            </a:r>
            <a:r>
              <a:rPr sz="1200">
                <a:solidFill>
                  <a:srgbClr val="0F172A"/>
                </a:solidFill>
                <a:latin typeface="Times New Roman"/>
              </a:rPr>
              <a:t>Slashes 94% of manual waterfall parameter hunting, allowing analysts to focus on high-level adversarial threat tactics.</a:t>
            </a:r>
          </a:p>
          <a:p>
            <a:pPr>
              <a:spcBef>
                <a:spcPts val="250"/>
              </a:spcBef>
            </a:pPr>
            <a:r>
              <a:rPr sz="1200" b="1">
                <a:solidFill>
                  <a:srgbClr val="1E3A8A"/>
                </a:solidFill>
                <a:latin typeface="Times New Roman"/>
              </a:rPr>
              <a:t>• Forensic Ledger: </a:t>
            </a:r>
            <a:r>
              <a:rPr sz="1200">
                <a:solidFill>
                  <a:srgbClr val="0F172A"/>
                </a:solidFill>
                <a:latin typeface="Times New Roman"/>
              </a:rPr>
              <a:t>Yields cryptographically signed SHA-256 evidence dossiers, solidifying strategic defense intelligence records.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7434072" y="3794759"/>
            <a:ext cx="4206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Rounded Rectangle 17427"/>
          <p:cNvSpPr/>
          <p:nvPr/>
        </p:nvSpPr>
        <p:spPr>
          <a:xfrm>
            <a:off x="7388352" y="3749039"/>
            <a:ext cx="4206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7525512" y="3840479"/>
            <a:ext cx="3931920" cy="2148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Social and Economic Benefits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Impenetrable Security: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Fortifies the nation's borders and communication lifelines against catastrophic foreign cyber and electronic warfare.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Financial Efficiency: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The open-architecture platform amortizes development deployment costs in less than 30 days due to zero licensing fees.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Edge Deployment: </a:t>
            </a:r>
            <a:r>
              <a:rPr sz="1050">
                <a:solidFill>
                  <a:srgbClr val="0F172A"/>
                </a:solidFill>
                <a:latin typeface="Times New Roman"/>
              </a:rPr>
              <a:t>Ultra-efficient algorithms run natively on field-deployed laptops, averting the need for massive, power-hungry server farms.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algn="ctr" eaLnBrk="1" hangingPunct="1"/>
            <a:r>
              <a:rPr sz="2400" b="1">
                <a:solidFill>
                  <a:srgbClr val="0F172A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1280" y="6382512"/>
            <a:ext cx="1371600" cy="36576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60320" y="6382512"/>
            <a:ext cx="7040880" cy="365760"/>
          </a:xfrm>
        </p:spPr>
        <p:txBody>
          <a:bodyPr wrap="non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184" y="219456"/>
            <a:ext cx="2011680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40080" y="1280160"/>
            <a:ext cx="11000232" cy="4892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594360" y="1234440"/>
            <a:ext cx="11000232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868680" y="1371600"/>
            <a:ext cx="10451592" cy="3949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 b="1" dirty="0">
                <a:solidFill>
                  <a:srgbClr val="1E3A8A"/>
                </a:solidFill>
                <a:latin typeface="Times New Roman"/>
              </a:rPr>
              <a:t>• </a:t>
            </a:r>
            <a:r>
              <a:rPr sz="1400" b="1" dirty="0">
                <a:solidFill>
                  <a:srgbClr val="0F172A"/>
                </a:solidFill>
                <a:latin typeface="Times New Roman"/>
              </a:rPr>
              <a:t>[1] J. </a:t>
            </a:r>
            <a:r>
              <a:rPr sz="1400" b="1" dirty="0" err="1">
                <a:solidFill>
                  <a:srgbClr val="0F172A"/>
                </a:solidFill>
                <a:latin typeface="Times New Roman"/>
              </a:rPr>
              <a:t>Proakis</a:t>
            </a:r>
            <a:r>
              <a:rPr sz="1400" b="1" dirty="0">
                <a:solidFill>
                  <a:srgbClr val="0F172A"/>
                </a:solidFill>
                <a:latin typeface="Times New Roman"/>
              </a:rPr>
              <a:t> and M. Salehi, </a:t>
            </a:r>
            <a:r>
              <a:rPr sz="1400" dirty="0">
                <a:solidFill>
                  <a:srgbClr val="2563EB"/>
                </a:solidFill>
                <a:latin typeface="Times New Roman"/>
              </a:rPr>
              <a:t>“Digital Communications (5th Edition),” McGraw-Hill Higher Education, 2018. DOI: 10.1036/0072957166. </a:t>
            </a:r>
            <a:r>
              <a:rPr sz="1400" dirty="0">
                <a:solidFill>
                  <a:srgbClr val="475569"/>
                </a:solidFill>
                <a:latin typeface="Times New Roman"/>
              </a:rPr>
              <a:t>— Foundational mathematical formulation for digital demodulation, Costas carrier tracking loops, and optimal matched filter theory.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 b="1" dirty="0">
                <a:solidFill>
                  <a:srgbClr val="1E3A8A"/>
                </a:solidFill>
                <a:latin typeface="Times New Roman"/>
              </a:rPr>
              <a:t>• </a:t>
            </a:r>
            <a:r>
              <a:rPr sz="1400" b="1" dirty="0">
                <a:solidFill>
                  <a:srgbClr val="0F172A"/>
                </a:solidFill>
                <a:latin typeface="Times New Roman"/>
              </a:rPr>
              <a:t>[2] T. O'Shea and J. </a:t>
            </a:r>
            <a:r>
              <a:rPr sz="1400" b="1" dirty="0" err="1">
                <a:solidFill>
                  <a:srgbClr val="0F172A"/>
                </a:solidFill>
                <a:latin typeface="Times New Roman"/>
              </a:rPr>
              <a:t>Hoydis</a:t>
            </a:r>
            <a:r>
              <a:rPr sz="1400" b="1" dirty="0">
                <a:solidFill>
                  <a:srgbClr val="0F172A"/>
                </a:solidFill>
                <a:latin typeface="Times New Roman"/>
              </a:rPr>
              <a:t>, </a:t>
            </a:r>
            <a:r>
              <a:rPr sz="1400" dirty="0">
                <a:solidFill>
                  <a:srgbClr val="2563EB"/>
                </a:solidFill>
                <a:latin typeface="Times New Roman"/>
              </a:rPr>
              <a:t>“An Introduction to Deep Learning for the Physical Layer,” IEEE Transactions on Cognitive Communications and Networking, 2017. DOI: 10.1109/TCCN.2017.2758370. </a:t>
            </a:r>
            <a:r>
              <a:rPr sz="1400" dirty="0">
                <a:solidFill>
                  <a:srgbClr val="475569"/>
                </a:solidFill>
                <a:latin typeface="Times New Roman"/>
              </a:rPr>
              <a:t>— Benchmark research demonstrating convolutional neural networks for robust automatic modulation classification in fading channels.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 b="1" dirty="0">
                <a:solidFill>
                  <a:srgbClr val="1E3A8A"/>
                </a:solidFill>
                <a:latin typeface="Times New Roman"/>
              </a:rPr>
              <a:t>• </a:t>
            </a:r>
            <a:r>
              <a:rPr sz="1400" b="1" dirty="0">
                <a:solidFill>
                  <a:srgbClr val="0F172A"/>
                </a:solidFill>
                <a:latin typeface="Times New Roman"/>
              </a:rPr>
              <a:t>[3] CCSDS Standard 131.0-B-3, </a:t>
            </a:r>
            <a:r>
              <a:rPr sz="1400" dirty="0">
                <a:solidFill>
                  <a:srgbClr val="2563EB"/>
                </a:solidFill>
                <a:latin typeface="Times New Roman"/>
              </a:rPr>
              <a:t>“TM Synchronization and Channel Coding,” Consultative Committee for Space Data Systems Blue Book, 2017. https://public.ccsds.org/Pubs/131x0b3.pdf. </a:t>
            </a:r>
            <a:r>
              <a:rPr sz="1400" dirty="0">
                <a:solidFill>
                  <a:srgbClr val="475569"/>
                </a:solidFill>
                <a:latin typeface="Times New Roman"/>
              </a:rPr>
              <a:t>— Official space and satellite communications standard for Reed-Solomon and Convolutional channel coding synchronization.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 b="1" dirty="0">
                <a:solidFill>
                  <a:srgbClr val="1E3A8A"/>
                </a:solidFill>
                <a:latin typeface="Times New Roman"/>
              </a:rPr>
              <a:t>• </a:t>
            </a:r>
            <a:r>
              <a:rPr sz="1400" b="1" dirty="0">
                <a:solidFill>
                  <a:srgbClr val="0F172A"/>
                </a:solidFill>
                <a:latin typeface="Times New Roman"/>
              </a:rPr>
              <a:t>[4] A. Swami and B. M. Sadler, </a:t>
            </a:r>
            <a:r>
              <a:rPr sz="1400" dirty="0">
                <a:solidFill>
                  <a:srgbClr val="2563EB"/>
                </a:solidFill>
                <a:latin typeface="Times New Roman"/>
              </a:rPr>
              <a:t>“Hierarchical Digital Modulation Classification Using Cumulants,” IEEE Transactions on Communications, vol. 48, no. 3, 2000. DOI: 10.1109/26.839840. </a:t>
            </a:r>
            <a:r>
              <a:rPr sz="1400" dirty="0">
                <a:solidFill>
                  <a:srgbClr val="475569"/>
                </a:solidFill>
                <a:latin typeface="Times New Roman"/>
              </a:rPr>
              <a:t>— Theoretical derivation of higher-order cumulants (C40, C42, C63) for blind constellation symmetry identification.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 b="1" dirty="0">
                <a:solidFill>
                  <a:srgbClr val="1E3A8A"/>
                </a:solidFill>
                <a:latin typeface="Times New Roman"/>
              </a:rPr>
              <a:t>• </a:t>
            </a:r>
            <a:r>
              <a:rPr sz="1400" b="1" dirty="0">
                <a:solidFill>
                  <a:srgbClr val="0F172A"/>
                </a:solidFill>
                <a:latin typeface="Times New Roman"/>
              </a:rPr>
              <a:t>[5] W. A. Gardner, </a:t>
            </a:r>
            <a:r>
              <a:rPr sz="1400" dirty="0">
                <a:solidFill>
                  <a:srgbClr val="2563EB"/>
                </a:solidFill>
                <a:latin typeface="Times New Roman"/>
              </a:rPr>
              <a:t>“Measurement of Spectral Correlation of Nonstationary Stochastic Signals,” IEEE Transactions on Instrumentation and Measurement, vol. 35, 1986. DOI: 10.1109/TIM.1986.6831633. </a:t>
            </a:r>
            <a:r>
              <a:rPr sz="1400" dirty="0">
                <a:solidFill>
                  <a:srgbClr val="475569"/>
                </a:solidFill>
                <a:latin typeface="Times New Roman"/>
              </a:rPr>
              <a:t>— Seminal </a:t>
            </a:r>
            <a:r>
              <a:rPr sz="1400" dirty="0" err="1">
                <a:solidFill>
                  <a:srgbClr val="475569"/>
                </a:solidFill>
                <a:latin typeface="Times New Roman"/>
              </a:rPr>
              <a:t>cyclostationary</a:t>
            </a:r>
            <a:r>
              <a:rPr sz="1400" dirty="0">
                <a:solidFill>
                  <a:srgbClr val="475569"/>
                </a:solidFill>
                <a:latin typeface="Times New Roman"/>
              </a:rPr>
              <a:t> signal processing paper establishing delay-and-multiply spectral correlation for baud rate recovery.</a:t>
            </a:r>
          </a:p>
          <a:p>
            <a:pPr>
              <a:spcBef>
                <a:spcPts val="1400"/>
              </a:spcBef>
            </a:pPr>
            <a:endParaRPr sz="1400" i="1" dirty="0">
              <a:solidFill>
                <a:srgbClr val="475569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7519</TotalTime>
  <Words>1547</Words>
  <Application>Microsoft Office PowerPoint</Application>
  <PresentationFormat>Widescreen</PresentationFormat>
  <Paragraphs>110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IDEA TITLE: SPECTRA SIGNAL ANALYZER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Futuristic gxt</cp:lastModifiedBy>
  <cp:revision>152</cp:revision>
  <dcterms:created xsi:type="dcterms:W3CDTF">2013-12-12T18:46:50Z</dcterms:created>
  <dcterms:modified xsi:type="dcterms:W3CDTF">2026-09-22T04:39:17Z</dcterms:modified>
  <cp:category/>
</cp:coreProperties>
</file>