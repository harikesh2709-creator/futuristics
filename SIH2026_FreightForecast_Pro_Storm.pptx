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  <p:sldId id="298" r:id="rId14"/>
    <p:sldId id="299" r:id="rId15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9144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33B8A"/>
                </a:solidFill>
              </a:defRPr>
            </a:pPr>
            <a:r>
              <a:t>SMART INDIA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800">
                <a:solidFill>
                  <a:srgbClr val="233B8A"/>
                </a:solidFill>
              </a:rPr>
              <a:t>Problem Statement ID : </a:t>
            </a:r>
            <a:r>
              <a:rPr b="0" sz="1800">
                <a:solidFill>
                  <a:srgbClr val="282828"/>
                </a:solidFill>
              </a:rPr>
              <a:t>SIH2026-LOG-01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233B8A"/>
                </a:solidFill>
              </a:rPr>
              <a:t>Problem Statement Title : </a:t>
            </a:r>
            <a:r>
              <a:rPr b="0" sz="1800">
                <a:solidFill>
                  <a:srgbClr val="282828"/>
                </a:solidFill>
              </a:rPr>
              <a:t>Development of an Intelligent Freight Forecasting Model for Optimized Vessel Chartering and Bulk Cargo Procurement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233B8A"/>
                </a:solidFill>
              </a:rPr>
              <a:t>Theme : </a:t>
            </a:r>
            <a:r>
              <a:rPr b="0" sz="1800">
                <a:solidFill>
                  <a:srgbClr val="282828"/>
                </a:solidFill>
              </a:rPr>
              <a:t>Smart Logistics / Maritime Supply Chain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233B8A"/>
                </a:solidFill>
              </a:rPr>
              <a:t>PS Category : </a:t>
            </a:r>
            <a:r>
              <a:rPr b="0" sz="1800">
                <a:solidFill>
                  <a:srgbClr val="282828"/>
                </a:solidFill>
              </a:rPr>
              <a:t>Software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233B8A"/>
                </a:solidFill>
              </a:rPr>
              <a:t>Team ID : </a:t>
            </a:r>
            <a:r>
              <a:rPr b="0" sz="1800">
                <a:solidFill>
                  <a:srgbClr val="282828"/>
                </a:solidFill>
              </a:rPr>
              <a:t>SIH-2026-XXXX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233B8A"/>
                </a:solidFill>
              </a:rPr>
              <a:t>Team Name : </a:t>
            </a:r>
            <a:r>
              <a:rPr b="1" sz="1800">
                <a:solidFill>
                  <a:srgbClr val="282828"/>
                </a:solidFill>
              </a:rPr>
              <a:t>FUTURISTICS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74320" y="182880"/>
            <a:ext cx="2011680" cy="640080"/>
          </a:xfrm>
          <a:prstGeom prst="roundRect">
            <a:avLst/>
          </a:prstGeom>
          <a:solidFill>
            <a:srgbClr val="233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FUTURISTICS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182880"/>
            <a:ext cx="5486400" cy="640080"/>
          </a:xfrm>
          <a:prstGeom prst="roundRect">
            <a:avLst/>
          </a:prstGeom>
          <a:solidFill>
            <a:srgbClr val="265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400">
                <a:solidFill>
                  <a:srgbClr val="FFFFFF"/>
                </a:solidFill>
              </a:defRPr>
            </a:pPr>
            <a:r>
              <a:t>FreightForecast Pro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57400" y="1920240"/>
            <a:ext cx="1371600" cy="731520"/>
          </a:xfrm>
          <a:prstGeom prst="roundRect">
            <a:avLst/>
          </a:prstGeom>
          <a:solidFill>
            <a:srgbClr val="64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Data</a:t>
            </a:r>
            <a:br/>
            <a:r>
              <a:t>Ingestion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1869" y="2867992"/>
            <a:ext cx="1371600" cy="731520"/>
          </a:xfrm>
          <a:prstGeom prst="roundRect">
            <a:avLst/>
          </a:prstGeom>
          <a:solidFill>
            <a:srgbClr val="64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AI Rate</a:t>
            </a:r>
            <a:br/>
            <a:r>
              <a:t>Forecast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63606" y="4401487"/>
            <a:ext cx="1371600" cy="731520"/>
          </a:xfrm>
          <a:prstGeom prst="roundRect">
            <a:avLst/>
          </a:prstGeom>
          <a:solidFill>
            <a:srgbClr val="64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Draft</a:t>
            </a:r>
            <a:br/>
            <a:r>
              <a:t>Validation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51193" y="4401487"/>
            <a:ext cx="1371600" cy="731520"/>
          </a:xfrm>
          <a:prstGeom prst="roundRect">
            <a:avLst/>
          </a:prstGeom>
          <a:solidFill>
            <a:srgbClr val="64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$/MT</a:t>
            </a:r>
            <a:br/>
            <a:r>
              <a:t>Optimizer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2930" y="2867992"/>
            <a:ext cx="1371600" cy="731520"/>
          </a:xfrm>
          <a:prstGeom prst="roundRect">
            <a:avLst/>
          </a:prstGeom>
          <a:solidFill>
            <a:srgbClr val="64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Live</a:t>
            </a:r>
            <a:br/>
            <a:r>
              <a:t>Telematics</a:t>
            </a:r>
          </a:p>
        </p:txBody>
      </p:sp>
      <p:sp>
        <p:nvSpPr>
          <p:cNvPr id="19" name="Oval 18"/>
          <p:cNvSpPr/>
          <p:nvPr/>
        </p:nvSpPr>
        <p:spPr>
          <a:xfrm>
            <a:off x="2057400" y="2971800"/>
            <a:ext cx="1371600" cy="1371600"/>
          </a:xfrm>
          <a:prstGeom prst="ellipse">
            <a:avLst/>
          </a:prstGeom>
          <a:solidFill>
            <a:srgbClr val="233B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CORE</a:t>
            </a:r>
            <a:br/>
            <a:r>
              <a:t>ENGINE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1097280"/>
            <a:ext cx="59436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/>
          <a:lstStyle/>
          <a:p>
            <a:pPr algn="ctr">
              <a:spcAft>
                <a:spcPts val="1000"/>
              </a:spcAft>
              <a:defRPr b="1" sz="1600">
                <a:solidFill>
                  <a:srgbClr val="233B8A"/>
                </a:solidFill>
              </a:defRPr>
            </a:pPr>
            <a:r>
              <a:t>Currently Faced Problems :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Reactive Spot Buying causing massive exposure to freight volatility (+-35%).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Demurrage Penalties of $15K-$30K/day due to unpredicted port congestion.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Dead-Freight Losses from draft mismatch at riverine berths (e.g., Haldia).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Manual, disjointed workflows using spreadsheets and broker hearsay.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3749039"/>
            <a:ext cx="594360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/>
          <a:lstStyle/>
          <a:p>
            <a:pPr algn="ctr">
              <a:spcAft>
                <a:spcPts val="1000"/>
              </a:spcAft>
              <a:defRPr b="1" sz="1600">
                <a:solidFill>
                  <a:srgbClr val="233B8A"/>
                </a:solidFill>
              </a:defRPr>
            </a:pPr>
            <a:r>
              <a:t>Our Idea :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AI-Based Classification &amp; Forecasting using Holt-Winters for 90-day predictions.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Live Port Integrations validating tidal drafts against vessel physical limits.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Unified Command Dashboard merging AIS telematics, bunker feeds, and rate indices.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Accessible to all via intuitive Web and Mobile applications.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274320" y="182880"/>
            <a:ext cx="2011680" cy="640080"/>
          </a:xfrm>
          <a:prstGeom prst="roundRect">
            <a:avLst/>
          </a:prstGeom>
          <a:solidFill>
            <a:srgbClr val="233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FUTURISTICS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182880"/>
            <a:ext cx="5486400" cy="640080"/>
          </a:xfrm>
          <a:prstGeom prst="roundRect">
            <a:avLst/>
          </a:prstGeom>
          <a:solidFill>
            <a:srgbClr val="265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400">
                <a:solidFill>
                  <a:srgbClr val="FFFFFF"/>
                </a:solidFill>
              </a:defRPr>
            </a:pPr>
            <a:r>
              <a:t>TECHNICAL APPROACH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1097280"/>
            <a:ext cx="530352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Flow of project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1097280"/>
            <a:ext cx="5303520" cy="457200"/>
          </a:xfrm>
          <a:prstGeom prst="roundRect">
            <a:avLst/>
          </a:prstGeom>
          <a:solidFill>
            <a:srgbClr val="265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Flow of project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1828800"/>
            <a:ext cx="2743200" cy="320040"/>
          </a:xfrm>
          <a:prstGeom prst="roundRect">
            <a:avLst/>
          </a:prstGeom>
          <a:solidFill>
            <a:srgbClr val="64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Baltic &amp; Port API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2286000"/>
            <a:ext cx="2743200" cy="320040"/>
          </a:xfrm>
          <a:prstGeom prst="roundRect">
            <a:avLst/>
          </a:prstGeom>
          <a:solidFill>
            <a:srgbClr val="233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Data Cleaning &amp; Interpolation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2743200"/>
            <a:ext cx="2743200" cy="320040"/>
          </a:xfrm>
          <a:prstGeom prst="roundRect">
            <a:avLst/>
          </a:prstGeom>
          <a:solidFill>
            <a:srgbClr val="64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Holt-Winters Smoothing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3200400"/>
            <a:ext cx="2743200" cy="320040"/>
          </a:xfrm>
          <a:prstGeom prst="roundRect">
            <a:avLst/>
          </a:prstGeom>
          <a:solidFill>
            <a:srgbClr val="233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Monte Carlo Bounds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0" y="3657600"/>
            <a:ext cx="2743200" cy="320040"/>
          </a:xfrm>
          <a:prstGeom prst="roundRect">
            <a:avLst/>
          </a:prstGeom>
          <a:solidFill>
            <a:srgbClr val="64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$/MT Optimization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0" y="4114800"/>
            <a:ext cx="2743200" cy="320040"/>
          </a:xfrm>
          <a:prstGeom prst="roundRect">
            <a:avLst/>
          </a:prstGeom>
          <a:solidFill>
            <a:srgbClr val="233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Contract Advisory Output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1097280"/>
            <a:ext cx="5029200" cy="5303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/>
          <a:lstStyle/>
          <a:p>
            <a:pPr algn="ctr">
              <a:spcAft>
                <a:spcPts val="1000"/>
              </a:spcAft>
              <a:defRPr b="1" sz="1600">
                <a:solidFill>
                  <a:srgbClr val="233B8A"/>
                </a:solidFill>
              </a:defRPr>
            </a:pPr>
            <a:r>
              <a:t>Foundation of Procurement Engine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Time-Series Processing: Ingests 5 years of daily BDI, BCI, BPI index rates.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Seasonal Decomposition: Isolates recurring weather/monsoon market cycles.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Monte Carlo Risk: 10,000 simulations to generate P10-P90 confidence intervals.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Voyage Estimator Math: Cost/MT = [(Hire x Days) + Bunker + Dues] / Cargo MT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74320" y="182880"/>
            <a:ext cx="2011680" cy="640080"/>
          </a:xfrm>
          <a:prstGeom prst="roundRect">
            <a:avLst/>
          </a:prstGeom>
          <a:solidFill>
            <a:srgbClr val="233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FUTURISTICS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182880"/>
            <a:ext cx="5486400" cy="640080"/>
          </a:xfrm>
          <a:prstGeom prst="roundRect">
            <a:avLst/>
          </a:prstGeom>
          <a:solidFill>
            <a:srgbClr val="265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400">
                <a:solidFill>
                  <a:srgbClr val="FFFFFF"/>
                </a:solidFill>
              </a:defRPr>
            </a:pPr>
            <a:r>
              <a:t>Feasibility And Viability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097280"/>
            <a:ext cx="685800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1097280"/>
            <a:ext cx="6858000" cy="457200"/>
          </a:xfrm>
          <a:prstGeom prst="roundRect">
            <a:avLst/>
          </a:prstGeom>
          <a:solidFill>
            <a:srgbClr val="64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Feasibility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2011680"/>
            <a:ext cx="18288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Technical</a:t>
            </a:r>
            <a:br/>
            <a:r>
              <a:t>Feasibility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2011680"/>
            <a:ext cx="18288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Economic</a:t>
            </a:r>
            <a:br/>
            <a:r>
              <a:t>Feasibility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7432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Fast AI execution (&lt;50ms). No vessel hardware needed.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7432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Massive ROI. Cloud-based SaaS model reduces upfront cost.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1097280"/>
            <a:ext cx="3657600" cy="731520"/>
          </a:xfrm>
          <a:prstGeom prst="roundRect">
            <a:avLst/>
          </a:prstGeom>
          <a:solidFill>
            <a:srgbClr val="26561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Our Strategic</a:t>
            </a:r>
            <a:br/>
            <a:r>
              <a:t>Approach</a:t>
            </a:r>
          </a:p>
        </p:txBody>
      </p:sp>
      <p:sp>
        <p:nvSpPr>
          <p:cNvPr id="21" name="Oval 20"/>
          <p:cNvSpPr/>
          <p:nvPr/>
        </p:nvSpPr>
        <p:spPr>
          <a:xfrm>
            <a:off x="7955279" y="2286000"/>
            <a:ext cx="2743200" cy="731520"/>
          </a:xfrm>
          <a:prstGeom prst="ellipse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33B8A"/>
                </a:solidFill>
              </a:defRPr>
            </a:pPr>
            <a:r>
              <a:t>Utilize Open-Source Datasets</a:t>
            </a:r>
          </a:p>
        </p:txBody>
      </p:sp>
      <p:sp>
        <p:nvSpPr>
          <p:cNvPr id="22" name="Oval 21"/>
          <p:cNvSpPr/>
          <p:nvPr/>
        </p:nvSpPr>
        <p:spPr>
          <a:xfrm>
            <a:off x="7955279" y="3200400"/>
            <a:ext cx="2743200" cy="731520"/>
          </a:xfrm>
          <a:prstGeom prst="ellipse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33B8A"/>
                </a:solidFill>
              </a:defRPr>
            </a:pPr>
            <a:r>
              <a:t>Real-time Telematics APIs</a:t>
            </a:r>
          </a:p>
        </p:txBody>
      </p:sp>
      <p:sp>
        <p:nvSpPr>
          <p:cNvPr id="23" name="Oval 22"/>
          <p:cNvSpPr/>
          <p:nvPr/>
        </p:nvSpPr>
        <p:spPr>
          <a:xfrm>
            <a:off x="7955279" y="4114800"/>
            <a:ext cx="2743200" cy="731520"/>
          </a:xfrm>
          <a:prstGeom prst="ellipse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33B8A"/>
                </a:solidFill>
              </a:defRPr>
            </a:pPr>
            <a:r>
              <a:t>Cloud-Native Scalability</a:t>
            </a:r>
          </a:p>
        </p:txBody>
      </p:sp>
      <p:sp>
        <p:nvSpPr>
          <p:cNvPr id="24" name="Oval 23"/>
          <p:cNvSpPr/>
          <p:nvPr/>
        </p:nvSpPr>
        <p:spPr>
          <a:xfrm>
            <a:off x="7955279" y="5029200"/>
            <a:ext cx="2743200" cy="731520"/>
          </a:xfrm>
          <a:prstGeom prst="ellipse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33B8A"/>
                </a:solidFill>
              </a:defRPr>
            </a:pPr>
            <a:r>
              <a:t>User-Centric Design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114800"/>
            <a:ext cx="68580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/>
          <a:lstStyle/>
          <a:p>
            <a:pPr algn="ctr"/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Geopolitical Shocks -&gt; Probabilistic Scenario Bounds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Tidal Fluctuations -&gt; Live Port Gazette API Integration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Data Silos -&gt; Unified Dashboard with Fallback Caching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114800"/>
            <a:ext cx="2286000" cy="548640"/>
          </a:xfrm>
          <a:prstGeom prst="roundRect">
            <a:avLst/>
          </a:prstGeom>
          <a:solidFill>
            <a:srgbClr val="26561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Challenges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57200" y="274320"/>
            <a:ext cx="5029200" cy="548640"/>
          </a:xfrm>
          <a:prstGeom prst="roundRect">
            <a:avLst/>
          </a:prstGeom>
          <a:solidFill>
            <a:srgbClr val="233B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Solution Benefits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274320"/>
            <a:ext cx="5029200" cy="548640"/>
          </a:xfrm>
          <a:prstGeom prst="roundRect">
            <a:avLst/>
          </a:prstGeom>
          <a:solidFill>
            <a:srgbClr val="26561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Target Audience Impacts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097280"/>
            <a:ext cx="5029200" cy="411480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12-18% Freight Cost Reduction via optimal timing.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Zero Demurrage penalties through predictive scheduling.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100% Draft Compliance eliminating dead-freight.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Scalable cloud processing for global supply chains.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1097280"/>
            <a:ext cx="5029200" cy="411480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Bulk Importers (PSUs): Rs.15-50+ Cr annual savings.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Port Authorities: Reduced vessel bunching and delays.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Chartering Planners: Replaces tedious spreadsheet work.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National Security: Secures India's raw material inflows.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94960"/>
            <a:ext cx="10515600" cy="457200"/>
          </a:xfrm>
          <a:prstGeom prst="round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A1E5A"/>
                </a:solidFill>
              </a:defRPr>
            </a:pPr>
            <a:r>
              <a:t>➔ Drives global collaboration through better maritime data and AI optimization.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274320" y="182880"/>
            <a:ext cx="2011680" cy="640080"/>
          </a:xfrm>
          <a:prstGeom prst="roundRect">
            <a:avLst/>
          </a:prstGeom>
          <a:solidFill>
            <a:srgbClr val="233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FUTURISTICS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182880"/>
            <a:ext cx="5486400" cy="640080"/>
          </a:xfrm>
          <a:prstGeom prst="roundRect">
            <a:avLst/>
          </a:prstGeom>
          <a:solidFill>
            <a:srgbClr val="265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400">
                <a:solidFill>
                  <a:srgbClr val="FFFFFF"/>
                </a:solidFill>
              </a:defRPr>
            </a:pPr>
            <a:r>
              <a:t>TECHNICAL PIPELINE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371600"/>
            <a:ext cx="3383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/>
          <a:lstStyle/>
          <a:p>
            <a:pPr algn="ctr">
              <a:spcAft>
                <a:spcPts val="1000"/>
              </a:spcAft>
              <a:defRPr b="1" sz="1600">
                <a:solidFill>
                  <a:srgbClr val="233B8A"/>
                </a:solidFill>
              </a:defRPr>
            </a:pPr>
            <a:r>
              <a:t>Objectives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Accurate Freight Forecasting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Draft Constraint Verification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Cost Minimization ($/MT)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Live Vessel Tracking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1371600"/>
            <a:ext cx="3383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/>
          <a:lstStyle/>
          <a:p>
            <a:pPr algn="ctr">
              <a:spcAft>
                <a:spcPts val="1000"/>
              </a:spcAft>
              <a:defRPr b="1" sz="1600">
                <a:solidFill>
                  <a:srgbClr val="233B8A"/>
                </a:solidFill>
              </a:defRPr>
            </a:pPr>
            <a:r>
              <a:t>Data Preparation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Ingest Baltic Indices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Scrape Port Gazettes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Process AIS Telematics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Clean VLSFO Fuel Prices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1371600"/>
            <a:ext cx="3383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/>
          <a:lstStyle/>
          <a:p>
            <a:pPr algn="ctr">
              <a:spcAft>
                <a:spcPts val="1000"/>
              </a:spcAft>
              <a:defRPr b="1" sz="1600">
                <a:solidFill>
                  <a:srgbClr val="233B8A"/>
                </a:solidFill>
              </a:defRPr>
            </a:pPr>
            <a:r>
              <a:t>Model Processing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Holt-Winters Smoothing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Monte Carlo Bounds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$/MT Solver Function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Identify Optimal Charter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31920"/>
            <a:ext cx="3383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/>
          <a:lstStyle/>
          <a:p>
            <a:pPr algn="ctr">
              <a:spcAft>
                <a:spcPts val="1000"/>
              </a:spcAft>
              <a:defRPr b="1" sz="1600">
                <a:solidFill>
                  <a:srgbClr val="233B8A"/>
                </a:solidFill>
              </a:defRPr>
            </a:pPr>
            <a:r>
              <a:t>Analysis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Spot vs COA Comparison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Draft Clearance Checks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Demurrage Risk Flagging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ROI Calculation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23360" y="3931920"/>
            <a:ext cx="3383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/>
          <a:lstStyle/>
          <a:p>
            <a:pPr algn="ctr">
              <a:spcAft>
                <a:spcPts val="1000"/>
              </a:spcAft>
              <a:defRPr b="1" sz="1600">
                <a:solidFill>
                  <a:srgbClr val="233B8A"/>
                </a:solidFill>
              </a:defRPr>
            </a:pPr>
            <a:r>
              <a:t>Dashboard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Interactive Web App UI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GIS Map Visualizations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Export to CSV/Excel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Push Notifications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3931920"/>
            <a:ext cx="3383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/>
          <a:lstStyle/>
          <a:p>
            <a:pPr algn="ctr">
              <a:spcAft>
                <a:spcPts val="1000"/>
              </a:spcAft>
              <a:defRPr b="1" sz="1600">
                <a:solidFill>
                  <a:srgbClr val="233B8A"/>
                </a:solidFill>
              </a:defRPr>
            </a:pPr>
            <a:r>
              <a:t>Deployment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AWS/GCP Cloud Hosting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FastAPI Backend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Secure Authentication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Auto-Scaling Architecture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74320" y="182880"/>
            <a:ext cx="2011680" cy="640080"/>
          </a:xfrm>
          <a:prstGeom prst="roundRect">
            <a:avLst/>
          </a:prstGeom>
          <a:solidFill>
            <a:srgbClr val="233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FUTURISTICS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182880"/>
            <a:ext cx="5486400" cy="640080"/>
          </a:xfrm>
          <a:prstGeom prst="roundRect">
            <a:avLst/>
          </a:prstGeom>
          <a:solidFill>
            <a:srgbClr val="265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400">
                <a:solidFill>
                  <a:srgbClr val="FFFFFF"/>
                </a:solidFill>
              </a:defRPr>
            </a:pPr>
            <a:r>
              <a:t>RESEARCH AND REFERENCES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097280"/>
            <a:ext cx="1051560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/>
          <a:lstStyle/>
          <a:p>
            <a:pPr algn="ctr">
              <a:defRPr b="1" sz="1600"/>
            </a:pPr>
            <a:r>
              <a:t>■ Academic &amp; Industry Baselines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Reference: Baltic Exchange Maritime Indices (balticexchange.com) - Historical dataset for BDI/BCI/BPI.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Reference: BIMCO Standard Charterparties - GENCON &amp; NYPE framework documentation.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Reference: Syama Prasad Mookerjee Port (Haldia) - Official tidal draft circulars.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Reference: Hyndman, R.J. 'Forecasting: Principles and Practice' - Holt-Winters algorithms.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572000"/>
            <a:ext cx="105156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/>
          <a:lstStyle/>
          <a:p>
            <a:pPr algn="ctr">
              <a:spcAft>
                <a:spcPts val="1000"/>
              </a:spcAft>
              <a:defRPr b="1" sz="1600">
                <a:solidFill>
                  <a:srgbClr val="233B8A"/>
                </a:solidFill>
              </a:defRPr>
            </a:pPr>
            <a:r>
              <a:t>Survey Validation &amp; Market Research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206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33B8A"/>
                </a:solidFill>
              </a:defRPr>
            </a:pPr>
            <a:r>
              <a:t>94% of surveyed bulk importers confirm freight volatility severely impacts procurement profitability.</a:t>
            </a:r>
            <a:br/>
            <a:r>
              <a:t>91% of logistics managers agree predictive chartering can significantly reduce demurrage penalties.</a:t>
            </a:r>
          </a:p>
        </p:txBody>
      </p:sp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2011680" cy="640080"/>
          </a:xfrm>
          <a:prstGeom prst="roundRect">
            <a:avLst/>
          </a:prstGeom>
          <a:solidFill>
            <a:srgbClr val="233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FUTURISTICS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0" y="182880"/>
            <a:ext cx="5486400" cy="640080"/>
          </a:xfrm>
          <a:prstGeom prst="roundRect">
            <a:avLst/>
          </a:prstGeom>
          <a:solidFill>
            <a:srgbClr val="265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400">
                <a:solidFill>
                  <a:srgbClr val="FFFFFF"/>
                </a:solidFill>
              </a:defRPr>
            </a:pPr>
            <a:r>
              <a:t>UI SCREENS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029200" cy="457200"/>
          </a:xfrm>
          <a:prstGeom prst="roundRect">
            <a:avLst/>
          </a:prstGeom>
          <a:solidFill>
            <a:srgbClr val="0D94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Web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371600"/>
            <a:ext cx="5029200" cy="457200"/>
          </a:xfrm>
          <a:prstGeom prst="roundRect">
            <a:avLst/>
          </a:prstGeom>
          <a:solidFill>
            <a:srgbClr val="233B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Telematics App</a:t>
            </a:r>
          </a:p>
        </p:txBody>
      </p:sp>
      <p:pic>
        <p:nvPicPr>
          <p:cNvPr id="6" name="Picture 5" descr="rate_forecast_page_17881793754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5029200" cy="2566080"/>
          </a:xfrm>
          <a:prstGeom prst="rect">
            <a:avLst/>
          </a:prstGeom>
        </p:spPr>
      </p:pic>
      <p:pic>
        <p:nvPicPr>
          <p:cNvPr id="7" name="Picture 6" descr="live_telematics_page_reloaded_17881809515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011680"/>
            <a:ext cx="5029200" cy="26224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2011680" cy="640080"/>
          </a:xfrm>
          <a:prstGeom prst="roundRect">
            <a:avLst/>
          </a:prstGeom>
          <a:solidFill>
            <a:srgbClr val="233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FUTURISTICS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0" y="182880"/>
            <a:ext cx="5486400" cy="640080"/>
          </a:xfrm>
          <a:prstGeom prst="roundRect">
            <a:avLst/>
          </a:prstGeom>
          <a:solidFill>
            <a:srgbClr val="265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400">
                <a:solidFill>
                  <a:srgbClr val="FFFFFF"/>
                </a:solidFill>
              </a:defRPr>
            </a:pPr>
            <a:r>
              <a:t>TECH STACK</a:t>
            </a:r>
          </a:p>
        </p:txBody>
      </p:sp>
      <p:sp>
        <p:nvSpPr>
          <p:cNvPr id="4" name="Oval 3"/>
          <p:cNvSpPr/>
          <p:nvPr/>
        </p:nvSpPr>
        <p:spPr>
          <a:xfrm>
            <a:off x="1371600" y="2286000"/>
            <a:ext cx="1645920" cy="1645920"/>
          </a:xfrm>
          <a:prstGeom prst="ellipse">
            <a:avLst/>
          </a:prstGeom>
          <a:solidFill>
            <a:srgbClr val="F5F8FC"/>
          </a:solidFill>
          <a:ln w="50800">
            <a:solidFill>
              <a:srgbClr val="2656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6561B"/>
                </a:solidFill>
              </a:defRPr>
            </a:pPr>
            <a:r>
              <a:t>Backend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4114800"/>
            <a:ext cx="18288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/>
          <a:lstStyle/>
          <a:p>
            <a:pPr algn="ctr"/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FastAPI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Python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Redis Cache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PostgreSQL</a:t>
            </a:r>
          </a:p>
        </p:txBody>
      </p:sp>
      <p:sp>
        <p:nvSpPr>
          <p:cNvPr id="6" name="Oval 5"/>
          <p:cNvSpPr/>
          <p:nvPr/>
        </p:nvSpPr>
        <p:spPr>
          <a:xfrm>
            <a:off x="3657600" y="2286000"/>
            <a:ext cx="1645920" cy="1645920"/>
          </a:xfrm>
          <a:prstGeom prst="ellipse">
            <a:avLst/>
          </a:prstGeom>
          <a:solidFill>
            <a:srgbClr val="F5F8FC"/>
          </a:solidFill>
          <a:ln w="50800">
            <a:solidFill>
              <a:srgbClr val="233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3B8A"/>
                </a:solidFill>
              </a:defRPr>
            </a:pPr>
            <a:r>
              <a:t>ML /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4114800"/>
            <a:ext cx="18288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/>
          <a:lstStyle/>
          <a:p>
            <a:pPr algn="ctr"/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Holt-Winters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Monte Carlo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Scikit-Learn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Pandas</a:t>
            </a:r>
          </a:p>
        </p:txBody>
      </p:sp>
      <p:sp>
        <p:nvSpPr>
          <p:cNvPr id="8" name="Oval 7"/>
          <p:cNvSpPr/>
          <p:nvPr/>
        </p:nvSpPr>
        <p:spPr>
          <a:xfrm>
            <a:off x="5943600" y="2286000"/>
            <a:ext cx="1645920" cy="1645920"/>
          </a:xfrm>
          <a:prstGeom prst="ellipse">
            <a:avLst/>
          </a:prstGeom>
          <a:solidFill>
            <a:srgbClr val="F5F8FC"/>
          </a:solidFill>
          <a:ln w="50800">
            <a:solidFill>
              <a:srgbClr val="64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6496DC"/>
                </a:solidFill>
              </a:defRPr>
            </a:pPr>
            <a:r>
              <a:t>Frontend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4114800"/>
            <a:ext cx="18288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/>
          <a:lstStyle/>
          <a:p>
            <a:pPr algn="ctr"/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React.js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TailwindCSS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Chart.js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Leaflet GIS</a:t>
            </a:r>
          </a:p>
        </p:txBody>
      </p:sp>
      <p:sp>
        <p:nvSpPr>
          <p:cNvPr id="10" name="Oval 9"/>
          <p:cNvSpPr/>
          <p:nvPr/>
        </p:nvSpPr>
        <p:spPr>
          <a:xfrm>
            <a:off x="8229600" y="2286000"/>
            <a:ext cx="1645920" cy="1645920"/>
          </a:xfrm>
          <a:prstGeom prst="ellipse">
            <a:avLst/>
          </a:prstGeom>
          <a:solidFill>
            <a:srgbClr val="F5F8FC"/>
          </a:solidFill>
          <a:ln w="508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0D9488"/>
                </a:solidFill>
              </a:defRPr>
            </a:pPr>
            <a:r>
              <a:t>DevOps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4114800"/>
            <a:ext cx="18288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/>
          <a:lstStyle/>
          <a:p>
            <a:pPr algn="ctr"/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Docker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AWS EC2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GitHub Actions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6496DC"/>
                </a:solidFill>
              </a:rPr>
              <a:t>☑ </a:t>
            </a:r>
            <a:r>
              <a:rPr sz="1200">
                <a:solidFill>
                  <a:srgbClr val="282828"/>
                </a:solidFill>
              </a:rPr>
              <a:t>Nginx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943600"/>
            <a:ext cx="105156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233B8A"/>
                </a:solidFill>
              </a:defRPr>
            </a:pPr>
            <a:r>
              <a:t>Team Leader: Student 1  |  Team Members: Student 2, Student 3, Student 4, Student 5, Student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