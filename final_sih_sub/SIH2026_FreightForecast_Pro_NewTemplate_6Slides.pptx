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youtu.be/FreightForecast-Pro-Dem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arikesh2709-creator/freight-forecast-pro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oi.org/10.1080/03088839.2020.179803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lticexchange.com/en/data-services/market-information.html" TargetMode="External"/><Relationship Id="rId5" Type="http://schemas.openxmlformats.org/officeDocument/2006/relationships/hyperlink" Target="https://otexts.com/fpp3/" TargetMode="External"/><Relationship Id="rId4" Type="http://schemas.openxmlformats.org/officeDocument/2006/relationships/hyperlink" Target="https://doi.org/10.4324/978020389174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6" y="2076450"/>
            <a:ext cx="5924550" cy="2503249"/>
          </a:xfrm>
          <a:prstGeom prst="rect">
            <a:avLst/>
          </a:prstGeom>
          <a:noFill/>
        </p:spPr>
        <p:txBody>
          <a:bodyPr wrap="square" tIns="91440" rtlCol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Problem Statement ID – </a:t>
            </a:r>
            <a:r>
              <a:rPr sz="1600" b="1" i="0" dirty="0">
                <a:solidFill>
                  <a:srgbClr val="1E3A8A"/>
                </a:solidFill>
                <a:latin typeface="Times New Roman"/>
              </a:rPr>
              <a:t>SIH26006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Problem Statement Title – </a:t>
            </a:r>
            <a:r>
              <a:rPr sz="1600" b="0" i="0" dirty="0" err="1">
                <a:solidFill>
                  <a:srgbClr val="1E3A8A"/>
                </a:solidFill>
                <a:latin typeface="Times New Roman"/>
              </a:rPr>
              <a:t>FreightForecast</a:t>
            </a:r>
            <a:r>
              <a:rPr sz="1600" b="0" i="0" dirty="0">
                <a:solidFill>
                  <a:srgbClr val="1E3A8A"/>
                </a:solidFill>
                <a:latin typeface="Times New Roman"/>
              </a:rPr>
              <a:t> Pro : AI Freight Forecasting &amp; Vessel Chartering Optimizer</a:t>
            </a:r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Theme – </a:t>
            </a:r>
            <a:r>
              <a:rPr sz="1600" b="0" i="0" dirty="0">
                <a:solidFill>
                  <a:srgbClr val="1E3A8A"/>
                </a:solidFill>
                <a:latin typeface="Times New Roman"/>
              </a:rPr>
              <a:t>Smart Logistics / Maritime &amp; Port Supply Chain</a:t>
            </a:r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PS Category – </a:t>
            </a:r>
            <a:r>
              <a:rPr sz="1600" b="1" i="0" dirty="0">
                <a:solidFill>
                  <a:srgbClr val="1E3A8A"/>
                </a:solidFill>
                <a:latin typeface="Times New Roman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Team ID – </a:t>
            </a:r>
            <a:endParaRPr sz="1600" b="0" i="0" dirty="0">
              <a:solidFill>
                <a:srgbClr val="1E3A8A"/>
              </a:solidFill>
              <a:latin typeface="Times New Roman"/>
            </a:endParaRPr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Team Name</a:t>
            </a:r>
            <a:r>
              <a:rPr lang="en-GB" sz="1600" b="1" i="0" dirty="0">
                <a:solidFill>
                  <a:srgbClr val="0F172A"/>
                </a:solidFill>
                <a:latin typeface="Times New Roman"/>
              </a:rPr>
              <a:t> </a:t>
            </a:r>
            <a:r>
              <a:rPr sz="1600" b="1" i="0" dirty="0">
                <a:solidFill>
                  <a:srgbClr val="0F172A"/>
                </a:solidFill>
                <a:latin typeface="Times New Roman"/>
              </a:rPr>
              <a:t> – </a:t>
            </a:r>
            <a:r>
              <a:rPr sz="1600" b="1" i="0" dirty="0">
                <a:solidFill>
                  <a:srgbClr val="1E3A8A"/>
                </a:solidFill>
                <a:latin typeface="Times New Roman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itle 7"/>
          <p:cNvSpPr>
            <a:spLocks noGrp="1"/>
          </p:cNvSpPr>
          <p:nvPr>
            <p:ph type="ctrTitle"/>
          </p:nvPr>
        </p:nvSpPr>
        <p:spPr>
          <a:xfrm>
            <a:off x="346218" y="-505557"/>
            <a:ext cx="10363200" cy="2076450"/>
          </a:xfrm>
        </p:spPr>
        <p:txBody>
          <a:bodyPr/>
          <a:lstStyle/>
          <a:p>
            <a:pPr algn="ctr"/>
            <a:r>
              <a:rPr lang="en-US" sz="2200" b="1" i="0" dirty="0">
                <a:solidFill>
                  <a:srgbClr val="1E3A8A"/>
                </a:solidFill>
                <a:latin typeface="Times New Roman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 dirty="0">
                <a:solidFill>
                  <a:srgbClr val="0F172A"/>
                </a:solidFill>
                <a:latin typeface="Times New Roman"/>
              </a:rPr>
              <a:t>FREIGHTFORECAST PRO: AI FREIGHT FORECASTING &amp; VESSEL CHARTERING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sp>
        <p:nvSpPr>
          <p:cNvPr id="15362" name="Rounded Rectangle 15361"/>
          <p:cNvSpPr/>
          <p:nvPr/>
        </p:nvSpPr>
        <p:spPr>
          <a:xfrm>
            <a:off x="131061" y="963253"/>
            <a:ext cx="5376672" cy="2480838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600" b="1" i="0" dirty="0">
                <a:solidFill>
                  <a:srgbClr val="1B4D89"/>
                </a:solidFill>
                <a:latin typeface="Times New Roman"/>
              </a:rPr>
              <a:t>Problem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Core Challenge: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Indian power and steel sectors import 180+ MMT of dry bulk coal through constrained East Coast ports, facing severe logistics bottlenecks.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Affected Users: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Commercial chartering executives, PSU bulk procurement desks (e.g., SAIL, NTPC), and maritime supply chain planners.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Current Gap: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Global freight swings by ±35% monthly. Reactive purchasing and port siltation traps cause ₹6,000+ Crore in dead-freight and $30k/day demurrage.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6830568" y="1063837"/>
            <a:ext cx="5230368" cy="2480839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Idea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Central Concept: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An AI-powered maritime decision platform fusing macroeconomic econometric forecasting with physical tidal hydrodynamics and vessel tracking.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Data Harmonization: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Seamlessly integrates Baltic Exchange indices, live satellite AIS telemetry, marine weather, and port bathymetric draft circulars.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Strategic Hedging: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Deploys Holt-Winters models and Monte Carlo simulations to recommend optimal Spot vs. COA fixtures, shielding budgets from rate volatility.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10312" y="3721544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Proposed Solution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Core Architecture: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A highly scalable cloud-native SaaS powered by Python FastAPI, ultra-low latency Redis caching, and a stunning React.js glassmorphic dashboard.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Operational Modules: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Provides 90-day predictive rate curves, dynamic Under-Keel Clearance (UKC) validation, and intelligent multi-corridor route comparisons.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Automated Advisory: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Calculates total landed cost ($/MT) and issues algorithmic Market Entry Scores (0–100) for proactive, data-driven chartering execution.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830568" y="3751918"/>
            <a:ext cx="5230368" cy="2480839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Innovation / Uniqueness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Dual-Engine Coupling: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World's first platform bridging global Baltic macro-freight volatility models with localized micro-tidal riverine constraints.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Uncertainty Modeling: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Eliminates subjective broker reliance using 10,000-run Monte Carlo risk distribution bounds with a proven 1.7% MAPE accuracy.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Landed Cost Solver: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Minimizes [(Hire × Days) + Bunker Fuel + Canal Dues + Port Tariffs] / Cargo MT across competing global corridors.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7326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69392" y="899245"/>
            <a:ext cx="5440680" cy="281635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Technologies Used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React.js &amp; Tailwind CSS: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Component-driven frontend delivering reactive KPI counters, interactive panels, and sub-second rendering.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50" b="1" i="0" dirty="0" err="1">
                <a:solidFill>
                  <a:srgbClr val="0F172A"/>
                </a:solidFill>
                <a:latin typeface="Times New Roman"/>
              </a:rPr>
              <a:t>FastAPI</a:t>
            </a:r>
            <a:r>
              <a:rPr sz="1250" b="1" i="0" dirty="0">
                <a:solidFill>
                  <a:srgbClr val="0F172A"/>
                </a:solidFill>
                <a:latin typeface="Times New Roman"/>
              </a:rPr>
              <a:t> &amp; </a:t>
            </a:r>
            <a:r>
              <a:rPr sz="1250" b="1" i="0" dirty="0" err="1">
                <a:solidFill>
                  <a:srgbClr val="0F172A"/>
                </a:solidFill>
                <a:latin typeface="Times New Roman"/>
              </a:rPr>
              <a:t>Uvicorn</a:t>
            </a:r>
            <a:r>
              <a:rPr sz="1250" b="1" i="0" dirty="0">
                <a:solidFill>
                  <a:srgbClr val="0F172A"/>
                </a:solidFill>
                <a:latin typeface="Times New Roman"/>
              </a:rPr>
              <a:t>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Asynchronous RESTful architecture ensuring high-concurrency data streaming with sub-35ms latencies.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50" b="1" i="0" dirty="0" err="1">
                <a:solidFill>
                  <a:srgbClr val="0F172A"/>
                </a:solidFill>
                <a:latin typeface="Times New Roman"/>
              </a:rPr>
              <a:t>Statsmodels</a:t>
            </a:r>
            <a:r>
              <a:rPr sz="1250" b="1" i="0" dirty="0">
                <a:solidFill>
                  <a:srgbClr val="0F172A"/>
                </a:solidFill>
                <a:latin typeface="Times New Roman"/>
              </a:rPr>
              <a:t> &amp; SciPy: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Advanced Holt-Winters seasonal decomposition and massive 10,000-run Monte Carlo probability engines.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Leaflet.js &amp; Chart.js: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Immersive nautical GIS fleet tracking and dynamic multi-horizon time-series visualization dashboards.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Redis &amp; PostgreSQL: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In-memory caching for live AIS feeds combined with robust spatial relational databases for port parameters.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9632" y="1100413"/>
            <a:ext cx="5522976" cy="2557187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199632" y="1055011"/>
            <a:ext cx="537667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 dirty="0">
                <a:solidFill>
                  <a:srgbClr val="1B4D89"/>
                </a:solidFill>
                <a:latin typeface="Times New Roman"/>
              </a:rPr>
              <a:t>System Architecture</a:t>
            </a:r>
          </a:p>
        </p:txBody>
      </p:sp>
      <p:pic>
        <p:nvPicPr>
          <p:cNvPr id="17413" name="Picture 17412" descr="system_architecture_diagram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62123"/>
            <a:ext cx="5361432" cy="2185750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4" name="Rounded Rectangle 17413"/>
          <p:cNvSpPr/>
          <p:nvPr/>
        </p:nvSpPr>
        <p:spPr>
          <a:xfrm>
            <a:off x="603504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15697" y="3849621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1B4D89"/>
                </a:solidFill>
                <a:latin typeface="Times New Roman"/>
              </a:rPr>
              <a:t>Prototype (Live React.js Application)</a:t>
            </a:r>
          </a:p>
        </p:txBody>
      </p:sp>
      <p:pic>
        <p:nvPicPr>
          <p:cNvPr id="17416" name="Picture 17415" descr="slide7_sh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169662"/>
            <a:ext cx="5376672" cy="2148842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7" name="Rounded Rectangle 17416"/>
          <p:cNvSpPr/>
          <p:nvPr/>
        </p:nvSpPr>
        <p:spPr>
          <a:xfrm>
            <a:off x="6199632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199632" y="3831336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1B4D89"/>
                </a:solidFill>
                <a:latin typeface="Times New Roman"/>
              </a:rPr>
              <a:t>Project Links &amp; Status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19088" y="4169663"/>
            <a:ext cx="4937760" cy="1146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GitHub Repository: </a:t>
            </a:r>
            <a:r>
              <a:rPr sz="1250" b="1" i="0" dirty="0">
                <a:solidFill>
                  <a:srgbClr val="2563EB"/>
                </a:solidFill>
                <a:latin typeface="Times New Roman"/>
                <a:hlinkClick r:id="rId6"/>
              </a:rPr>
              <a:t>https://github.com/harikesh2709-creator/freight-forecast-pro</a:t>
            </a:r>
          </a:p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Video Demonstration: </a:t>
            </a:r>
            <a:r>
              <a:rPr sz="1250" b="1" i="0" dirty="0">
                <a:solidFill>
                  <a:srgbClr val="2563EB"/>
                </a:solidFill>
                <a:latin typeface="Times New Roman"/>
                <a:hlinkClick r:id="rId7"/>
              </a:rPr>
              <a:t>https://youtu.be/FreightForecast-Pro-Demo</a:t>
            </a:r>
          </a:p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Status — Software: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40% completed; rest of the work is in progress.</a:t>
            </a:r>
          </a:p>
          <a:p>
            <a:pPr>
              <a:spcAft>
                <a:spcPts val="400"/>
              </a:spcAft>
            </a:pPr>
            <a:r>
              <a:rPr sz="1250" b="0" i="0" dirty="0">
                <a:solidFill>
                  <a:srgbClr val="1F2937"/>
                </a:solidFill>
                <a:latin typeface="Times New Roman"/>
              </a:rPr>
              <a:t>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382512" y="5614416"/>
            <a:ext cx="5010912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50" b="1" i="0">
                <a:solidFill>
                  <a:srgbClr val="4B5563"/>
                </a:solidFill>
                <a:latin typeface="Times New Roman"/>
              </a:rPr>
              <a:t>60% REMAINING (IN PROGRESS)   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382512" y="5614416"/>
            <a:ext cx="2004364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40%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148208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Technical Feasibility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00" b="1" i="0" dirty="0">
                <a:solidFill>
                  <a:srgbClr val="0F172A"/>
                </a:solidFill>
                <a:latin typeface="Times New Roman"/>
              </a:rPr>
              <a:t>Technical Viability: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Achieves sub-35ms query speeds using Redis caching and highly optimized, vectorized NumPy mathematical routines.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Required Resources: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Scalable cloud virtual instances (AWS EC2 / GCP), robust PostgreSQL databases, and open-source Python stacks.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Implementation Approach: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Modular microservices architecture packaged in lightweight Docker containers with seamless, automated CI/CD pipelines.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Scalability &amp; SLA: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Stateless API workers horizontally scale on demand, guaranteeing a 99.9% high-availability enterprise production SLA.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519672" y="1099407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Social / Economic / Operational Feasibility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User Acceptance: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Replaces cumbersome manual spreadsheets with an intuitive, executive-grade UI tailored for fast-paced chartering desks.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Economic Impact: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Projects a 14.2%–18.5% reduction in net ocean freight, unlocking ₹18.4 Crore annual savings on 10 MMT coal imports.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Demurrage Elimination: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Aims to eliminate ₹6.2 Crore annually in anchorage delay bleed, bypassing massive $30,000/day waiting penalties.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Operational Rollout: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100% compliant with standard BIMCO/NYPE charter contracts. Full enterprise SaaS deployment pays back within just 22 days.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92608" y="3728625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Challenges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Challenge 1: Volatility: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Extreme volatility in global spot freight indices triggered by sudden geopolitical disruptions (e.g., Red Sea, Suez Canal).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Challenge 2: Siltation: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Dynamic, unpredictable sandbar siltation at shallow riverine berths (like Haldia) severely restricts vessel draft and capacity.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Challenge 3: Latency: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External international commercial broker quotes often suffer from intermittent latency, opacity, or complete blackouts.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Challenge 4: Monsoons: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Severe tropical cyclones and Bay of Bengal monsoon weather severely degrade vessel sailing speeds and arrival schedules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510528" y="3634422"/>
            <a:ext cx="5376672" cy="26563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Strategies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Strategy 1: Monte Carlo: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10,000-run Monte Carlo probability distribution bounds aggressively insulate procurement against black-swan freight shocks.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Strategy 2: Tidal Models: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Parses official Port Trust circulars and hourly astronomical tide tables to strictly enforce safe UKC ≥ 1.5m thresholds.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Strategy 3: Redis Fallback: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Redis cache autonomously maintains 5-year seasonal baseline regressions to ensure uninterrupted operations during API outages.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Strategy 4: Weather Routing: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Integrates Copernicus marine weather telemetry to dynamically adjust speed-consumption curves and avoid cyclone demurrage.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088454"/>
            <a:ext cx="4572000" cy="2569146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Direct Targeted Users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Primary Users: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Commercial chartering desks, shipping logistics executives, and strategic bulk raw material procurement planners.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Secondary Users: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Major Port Trust marine operations, </a:t>
            </a:r>
            <a:r>
              <a:rPr sz="1300" b="0" i="0" dirty="0" err="1">
                <a:solidFill>
                  <a:srgbClr val="1F2937"/>
                </a:solidFill>
                <a:latin typeface="Times New Roman"/>
              </a:rPr>
              <a:t>harbour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 masters, stevedores, and global maritime freight brokers.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Institutional Users: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Public Sector Undertakings (SAIL, NTPC), private steel/power utilities, and the Ministry of Ports &amp; Shipping.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7205472" y="1142682"/>
            <a:ext cx="4572000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Strategic Benefits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Proactive Rate Hedging: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Unprecedented 90-day forward visibility insulates multi-million dollar procurement budgets from sudden spot market spikes.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Grounding Immunity: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Automated tidal berth validation completely prevents catastrophic ship groundings and costly dead-freight waste.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Auditable Transparency: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Deterministic algorithmic logs provide an audit-proof, transparent justification framework for public sector tenders.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" y="3794760"/>
            <a:ext cx="4572000" cy="2523744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Strategic Impacts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Service Delivery: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Replaces fragmented Excel workflows with a unified, real-time, predictive maritime intelligence command center.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Eco-Decarbonization: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Drives an 11.8% voyage fuel reduction via weather-optimized speed routing, directly supporting IMO 2030 green mandates.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National Sovereignty: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Significantly strengthens national supply chain resilience and sovereignty for critical coking coal and energy imports.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205472" y="3794124"/>
            <a:ext cx="4572000" cy="250641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Social and Economic Benefits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Social Benefit: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Lowering raw commodity landed costs helps stabilize domestic retail electricity tariffs and structural infrastructure steel prices.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Economic Benefit: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Generates ₹15–₹50+ Crore in annual savings per major importer, accelerating SaaS ROI to under 22 operating days.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Port Optimization: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Drastically reduces anchorage vessel bunching and queue wait times by 28% across congested East Coast Indian ports.</a:t>
            </a:r>
          </a:p>
        </p:txBody>
      </p:sp>
      <p:pic>
        <p:nvPicPr>
          <p:cNvPr id="17414" name="Picture 17413" descr="sdg_central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04872"/>
            <a:ext cx="2633472" cy="263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280160"/>
            <a:ext cx="10972800" cy="48920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[1] Stopford, M.,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"Maritime Economics (3rd Edition): Supply-Demand Equilibrium and Ocean Freight Rate Determination,"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Routledge Academic Publishing, 2023. </a:t>
            </a:r>
            <a:r>
              <a:rPr sz="1250" b="0" i="0" dirty="0">
                <a:solidFill>
                  <a:srgbClr val="2563EB"/>
                </a:solidFill>
                <a:latin typeface="Times New Roman"/>
                <a:hlinkClick r:id="rId4"/>
              </a:rPr>
              <a:t>Link: https://doi.org/10.4324/9780203891742</a:t>
            </a:r>
          </a:p>
          <a:p>
            <a:pPr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[2] Hyndman, R. J., &amp; Athanasopoulos, G.,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"Forecasting: Principles and Practice (3rd Edition) — Triple Exponential Smoothing and Seasonal Holt-Winters Modeling," </a:t>
            </a:r>
            <a:r>
              <a:rPr sz="1300" b="0" i="0" dirty="0" err="1">
                <a:solidFill>
                  <a:srgbClr val="1F2937"/>
                </a:solidFill>
                <a:latin typeface="Times New Roman"/>
              </a:rPr>
              <a:t>OTexts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 Journal of Statistical Science, 2021. </a:t>
            </a:r>
            <a:r>
              <a:rPr sz="1250" b="0" i="0" dirty="0">
                <a:solidFill>
                  <a:srgbClr val="2563EB"/>
                </a:solidFill>
                <a:latin typeface="Times New Roman"/>
                <a:hlinkClick r:id="rId5"/>
              </a:rPr>
              <a:t>Link: https://otexts.com/fpp3/</a:t>
            </a:r>
          </a:p>
          <a:p>
            <a:pPr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[3] Baltic Exchange,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"Baltic Dry Index (BDI), </a:t>
            </a:r>
            <a:r>
              <a:rPr sz="1300" b="0" i="1" dirty="0" err="1">
                <a:solidFill>
                  <a:srgbClr val="1E3A8A"/>
                </a:solidFill>
                <a:latin typeface="Times New Roman"/>
              </a:rPr>
              <a:t>Capesize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 (BCI 180K), and Panamax (BPI) Vessel Fixture Daily Market Assessment Reports,"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London Maritime Market Publications, 2024. </a:t>
            </a:r>
            <a:r>
              <a:rPr sz="1250" b="0" i="0" dirty="0">
                <a:solidFill>
                  <a:srgbClr val="2563EB"/>
                </a:solidFill>
                <a:latin typeface="Times New Roman"/>
                <a:hlinkClick r:id="rId6"/>
              </a:rPr>
              <a:t>Link: https://www.balticexchange.com/en/data-services/market-information.html</a:t>
            </a:r>
          </a:p>
          <a:p>
            <a:pPr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[4] </a:t>
            </a:r>
            <a:r>
              <a:rPr sz="1300" b="1" i="0" dirty="0" err="1">
                <a:solidFill>
                  <a:srgbClr val="0F172A"/>
                </a:solidFill>
                <a:latin typeface="Times New Roman"/>
              </a:rPr>
              <a:t>Kavussanos</a:t>
            </a:r>
            <a:r>
              <a:rPr sz="1300" b="1" i="0" dirty="0">
                <a:solidFill>
                  <a:srgbClr val="0F172A"/>
                </a:solidFill>
                <a:latin typeface="Times New Roman"/>
              </a:rPr>
              <a:t>, M. G., &amp; </a:t>
            </a:r>
            <a:r>
              <a:rPr sz="1300" b="1" i="0" dirty="0" err="1">
                <a:solidFill>
                  <a:srgbClr val="0F172A"/>
                </a:solidFill>
                <a:latin typeface="Times New Roman"/>
              </a:rPr>
              <a:t>Visvikis</a:t>
            </a:r>
            <a:r>
              <a:rPr sz="1300" b="1" i="0" dirty="0">
                <a:solidFill>
                  <a:srgbClr val="0F172A"/>
                </a:solidFill>
                <a:latin typeface="Times New Roman"/>
              </a:rPr>
              <a:t>, I. D.,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"Derivatives and Risk Management in Shipping: Hedging Volatility using Freight Forward Agreements (FFAs) and Contracts of Affreightment (COAs),"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Maritime Policy &amp; Management, Vol. 48(4), pp. 512-535, 2021. </a:t>
            </a:r>
            <a:r>
              <a:rPr sz="1250" b="0" i="0" dirty="0">
                <a:solidFill>
                  <a:srgbClr val="2563EB"/>
                </a:solidFill>
                <a:latin typeface="Times New Roman"/>
                <a:hlinkClick r:id="rId7"/>
              </a:rPr>
              <a:t>Link: https://doi.org/10.1080/03088839.2020.1798031</a:t>
            </a:r>
          </a:p>
          <a:p>
            <a:pPr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[5] Ministry of Ports, Shipping and Waterways, Government of India,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"Major Port Draft Circulars, Bathymetric Siltation Surveys, and Tidal Gazette Specifications (Haldia, Paradip, Visakhapatnam),"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Government of India Gazette Publications, 2024. </a:t>
            </a:r>
            <a:r>
              <a:rPr sz="1250" dirty="0">
                <a:solidFill>
                  <a:srgbClr val="2563EB"/>
                </a:solidFill>
                <a:latin typeface="Times New Roman"/>
              </a:rPr>
              <a:t>Link: https://shipmin.gov.in/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7593</TotalTime>
  <Words>1520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FREIGHTFORECAST PRO: AI FREIGHT FORECASTING &amp; VESSEL CHARTERING OPTIMIZER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161</cp:revision>
  <dcterms:created xsi:type="dcterms:W3CDTF">2013-12-12T18:46:50Z</dcterms:created>
  <dcterms:modified xsi:type="dcterms:W3CDTF">2026-09-24T08:42:04Z</dcterms:modified>
  <cp:category/>
</cp:coreProperties>
</file>