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365760" y="1234440"/>
            <a:ext cx="5943600" cy="548640"/>
          </a:xfrm>
        </p:spPr>
        <p:txBody>
          <a:bodyPr/>
          <a:lstStyle/>
          <a:p>
            <a:pPr algn="l"/>
            <a:r>
              <a:rPr sz="2400" b="1">
                <a:solidFill>
                  <a:srgbClr val="0F172A"/>
                </a:solidFill>
                <a:latin typeface="Times New Roman"/>
              </a:rPr>
              <a:t>TITLE PAGE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65760" y="411480"/>
            <a:ext cx="9601200" cy="822960"/>
          </a:xfrm>
        </p:spPr>
        <p:txBody>
          <a:bodyPr/>
          <a:lstStyle/>
          <a:p>
            <a:pPr algn="l"/>
            <a:r>
              <a:rPr sz="3600" b="1">
                <a:solidFill>
                  <a:srgbClr val="1E3A8A"/>
                </a:solidFill>
                <a:latin typeface="Times New Roman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6858000" cy="4389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300"/>
              </a:spcBef>
              <a:spcAft>
                <a:spcPts val="300"/>
              </a:spcAft>
            </a:pPr>
            <a:r>
              <a:rPr sz="1800" b="1">
                <a:solidFill>
                  <a:srgbClr val="0F172A"/>
                </a:solidFill>
                <a:latin typeface="Times New Roman"/>
              </a:rPr>
              <a:t>• </a:t>
            </a:r>
            <a:r>
              <a:rPr sz="1800" b="1">
                <a:solidFill>
                  <a:srgbClr val="0F172A"/>
                </a:solidFill>
                <a:latin typeface="Times New Roman"/>
              </a:rPr>
              <a:t>Problem Statement ID –</a:t>
            </a:r>
            <a:r>
              <a:rPr sz="1800" b="0">
                <a:solidFill>
                  <a:srgbClr val="0F172A"/>
                </a:solidFill>
                <a:latin typeface="Times New Roman"/>
              </a:rPr>
              <a:t> 26147</a:t>
            </a:r>
            <a:endParaRPr lang="en-US" dirty="0"/>
          </a:p>
          <a:p>
            <a:pPr>
              <a:spcBef>
                <a:spcPts val="1300"/>
              </a:spcBef>
              <a:spcAft>
                <a:spcPts val="300"/>
              </a:spcAft>
            </a:pPr>
            <a:r>
              <a:rPr sz="1800" b="1">
                <a:solidFill>
                  <a:srgbClr val="0F172A"/>
                </a:solidFill>
                <a:latin typeface="Times New Roman"/>
              </a:rPr>
              <a:t>• </a:t>
            </a:r>
            <a:r>
              <a:rPr sz="1800" b="1">
                <a:solidFill>
                  <a:srgbClr val="0F172A"/>
                </a:solidFill>
                <a:latin typeface="Times New Roman"/>
              </a:rPr>
              <a:t>Problem Statement Title-</a:t>
            </a:r>
            <a:r>
              <a:rPr sz="1800" b="0">
                <a:solidFill>
                  <a:srgbClr val="0F172A"/>
                </a:solidFill>
                <a:latin typeface="Times New Roman"/>
              </a:rPr>
              <a:t> Automated Model for Analysis of .IQ and .wav Files along with Signal Parameter Extraction</a:t>
            </a:r>
          </a:p>
          <a:p>
            <a:pPr>
              <a:spcBef>
                <a:spcPts val="1300"/>
              </a:spcBef>
              <a:spcAft>
                <a:spcPts val="300"/>
              </a:spcAft>
            </a:pPr>
            <a:r>
              <a:rPr sz="1800" b="1">
                <a:solidFill>
                  <a:srgbClr val="0F172A"/>
                </a:solidFill>
                <a:latin typeface="Times New Roman"/>
              </a:rPr>
              <a:t>• </a:t>
            </a:r>
            <a:r>
              <a:rPr sz="1800" b="1">
                <a:solidFill>
                  <a:srgbClr val="0F172A"/>
                </a:solidFill>
                <a:latin typeface="Times New Roman"/>
              </a:rPr>
              <a:t>Theme-</a:t>
            </a:r>
            <a:r>
              <a:rPr sz="1800" b="0">
                <a:solidFill>
                  <a:srgbClr val="0F172A"/>
                </a:solidFill>
                <a:latin typeface="Times New Roman"/>
              </a:rPr>
              <a:t> Space Technology</a:t>
            </a:r>
          </a:p>
          <a:p>
            <a:pPr>
              <a:spcBef>
                <a:spcPts val="1300"/>
              </a:spcBef>
              <a:spcAft>
                <a:spcPts val="300"/>
              </a:spcAft>
            </a:pPr>
            <a:r>
              <a:rPr sz="1800" b="1">
                <a:solidFill>
                  <a:srgbClr val="0F172A"/>
                </a:solidFill>
                <a:latin typeface="Times New Roman"/>
              </a:rPr>
              <a:t>• </a:t>
            </a:r>
            <a:r>
              <a:rPr sz="1800" b="1">
                <a:solidFill>
                  <a:srgbClr val="0F172A"/>
                </a:solidFill>
                <a:latin typeface="Times New Roman"/>
              </a:rPr>
              <a:t>PS Category-</a:t>
            </a:r>
            <a:r>
              <a:rPr sz="1800" b="0">
                <a:solidFill>
                  <a:srgbClr val="0F172A"/>
                </a:solidFill>
                <a:latin typeface="Times New Roman"/>
              </a:rPr>
              <a:t> Software</a:t>
            </a:r>
          </a:p>
          <a:p>
            <a:pPr>
              <a:spcBef>
                <a:spcPts val="1300"/>
              </a:spcBef>
              <a:spcAft>
                <a:spcPts val="300"/>
              </a:spcAft>
            </a:pPr>
            <a:r>
              <a:rPr sz="1800" b="1">
                <a:solidFill>
                  <a:srgbClr val="0F172A"/>
                </a:solidFill>
                <a:latin typeface="Times New Roman"/>
              </a:rPr>
              <a:t>• </a:t>
            </a:r>
            <a:r>
              <a:rPr sz="1800" b="1">
                <a:solidFill>
                  <a:srgbClr val="0F172A"/>
                </a:solidFill>
                <a:latin typeface="Times New Roman"/>
              </a:rPr>
              <a:t>Team ID-</a:t>
            </a:r>
            <a:r>
              <a:rPr sz="1800" b="0">
                <a:solidFill>
                  <a:srgbClr val="0F172A"/>
                </a:solidFill>
                <a:latin typeface="Times New Roman"/>
              </a:rPr>
              <a:t> SIH-2026</a:t>
            </a:r>
          </a:p>
          <a:p>
            <a:pPr>
              <a:spcBef>
                <a:spcPts val="1300"/>
              </a:spcBef>
              <a:spcAft>
                <a:spcPts val="300"/>
              </a:spcAft>
            </a:pPr>
            <a:r>
              <a:rPr sz="1800" b="1">
                <a:solidFill>
                  <a:srgbClr val="0F172A"/>
                </a:solidFill>
                <a:latin typeface="Times New Roman"/>
              </a:rPr>
              <a:t>• </a:t>
            </a:r>
            <a:r>
              <a:rPr sz="1800" b="1">
                <a:solidFill>
                  <a:srgbClr val="0F172A"/>
                </a:solidFill>
                <a:latin typeface="Times New Roman"/>
              </a:rPr>
              <a:t>Team Name (Registered on portal)-</a:t>
            </a:r>
            <a:r>
              <a:rPr sz="1800" b="0">
                <a:solidFill>
                  <a:srgbClr val="0F172A"/>
                </a:solidFill>
                <a:latin typeface="Times New Roman"/>
              </a:rPr>
              <a:t> FUTURISTICS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103120" y="182880"/>
            <a:ext cx="7589520" cy="640080"/>
          </a:xfrm>
        </p:spPr>
        <p:txBody>
          <a:bodyPr/>
          <a:lstStyle/>
          <a:p>
            <a:pPr eaLnBrk="1" hangingPunct="1" algn="ctr"/>
            <a:r>
              <a:rPr sz="2400" b="1">
                <a:solidFill>
                  <a:srgbClr val="0F172A"/>
                </a:solidFill>
                <a:latin typeface="Times New Roman"/>
              </a:rPr>
              <a:t>IDEA TITLE: SPECTRA SIGNAL ANALYZER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41280" y="6382512"/>
            <a:ext cx="1371600" cy="365760"/>
          </a:xfrm>
        </p:spPr>
        <p:txBody>
          <a:bodyPr/>
          <a:lstStyle/>
          <a:p>
            <a:pPr algn="r"/>
            <a:r>
              <a:rPr sz="1000" b="1">
                <a:solidFill>
                  <a:srgbClr val="FFFFFF"/>
                </a:solidFill>
                <a:latin typeface="Times New Roman"/>
              </a:rPr>
              <a:t>2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560320" y="6382512"/>
            <a:ext cx="7040880" cy="365760"/>
          </a:xfrm>
        </p:spPr>
        <p:txBody>
          <a:bodyPr wrap="none"/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Times New Roman"/>
              </a:rPr>
              <a:t>@SIH 2026 IDEA SUBMISSION-TEAM FUTURISTICS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184" y="219456"/>
            <a:ext cx="2011680" cy="6949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1E3A8A"/>
                </a:solidFill>
                <a:latin typeface="Times New Roman"/>
              </a:rPr>
              <a:t>FUTURISTICS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640080" y="1280160"/>
            <a:ext cx="5349240" cy="2331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3" name="Rounded Rectangle 15362"/>
          <p:cNvSpPr/>
          <p:nvPr/>
        </p:nvSpPr>
        <p:spPr>
          <a:xfrm>
            <a:off x="594360" y="1234440"/>
            <a:ext cx="534924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4" name="TextBox 15363"/>
          <p:cNvSpPr txBox="1"/>
          <p:nvPr/>
        </p:nvSpPr>
        <p:spPr>
          <a:xfrm>
            <a:off x="731520" y="1325880"/>
            <a:ext cx="5074920" cy="2148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Times New Roman"/>
              </a:rPr>
              <a:t>Problem</a:t>
            </a:r>
          </a:p>
          <a:p>
            <a:pPr>
              <a:spcBef>
                <a:spcPts val="300"/>
              </a:spcBef>
            </a:pPr>
            <a:r>
              <a:rPr sz="1120">
                <a:solidFill>
                  <a:srgbClr val="0F172A"/>
                </a:solidFill>
                <a:latin typeface="Times New Roman"/>
              </a:rPr>
              <a:t>• High-Volume Burden: Defense analysts face massive influxes of uncharacterized .IQ and .wav baseband data during active electronic warfare.</a:t>
            </a:r>
          </a:p>
          <a:p>
            <a:pPr>
              <a:spcBef>
                <a:spcPts val="300"/>
              </a:spcBef>
            </a:pPr>
            <a:r>
              <a:rPr sz="1120">
                <a:solidFill>
                  <a:srgbClr val="0F172A"/>
                </a:solidFill>
                <a:latin typeface="Times New Roman"/>
              </a:rPr>
              <a:t>• Manual Triage Bottlenecks: Legacy manual inspection via scattered software suites takes up to 45 minutes per transmission, causing critical intelligence delays.</a:t>
            </a:r>
          </a:p>
          <a:p>
            <a:pPr>
              <a:spcBef>
                <a:spcPts val="300"/>
              </a:spcBef>
            </a:pPr>
            <a:r>
              <a:rPr sz="1120">
                <a:solidFill>
                  <a:srgbClr val="0F172A"/>
                </a:solidFill>
                <a:latin typeface="Times New Roman"/>
              </a:rPr>
              <a:t>• Stealth Emitters: Hostile adversaries increasingly use low-SNR agile bursts and unknown interleaving depths, rendering static rule-based detection completely useless.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6309359" y="1280160"/>
            <a:ext cx="5349240" cy="2331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6" name="Rounded Rectangle 15365"/>
          <p:cNvSpPr/>
          <p:nvPr/>
        </p:nvSpPr>
        <p:spPr>
          <a:xfrm>
            <a:off x="6263640" y="1234440"/>
            <a:ext cx="534924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7" name="TextBox 15366"/>
          <p:cNvSpPr txBox="1"/>
          <p:nvPr/>
        </p:nvSpPr>
        <p:spPr>
          <a:xfrm>
            <a:off x="6400800" y="1325880"/>
            <a:ext cx="5074920" cy="2148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Times New Roman"/>
              </a:rPr>
              <a:t>Idea</a:t>
            </a:r>
          </a:p>
          <a:p>
            <a:pPr>
              <a:spcBef>
                <a:spcPts val="300"/>
              </a:spcBef>
            </a:pPr>
            <a:r>
              <a:rPr sz="1120">
                <a:solidFill>
                  <a:srgbClr val="0F172A"/>
                </a:solidFill>
                <a:latin typeface="Times New Roman"/>
              </a:rPr>
              <a:t>• Autonomous Intelligence Engine: A unified, AI-driven digital signal processing suite to blindly extract parameters from raw RF intercepts.</a:t>
            </a:r>
          </a:p>
          <a:p>
            <a:pPr>
              <a:spcBef>
                <a:spcPts val="300"/>
              </a:spcBef>
            </a:pPr>
            <a:r>
              <a:rPr sz="1120">
                <a:solidFill>
                  <a:srgbClr val="0F172A"/>
                </a:solidFill>
                <a:latin typeface="Times New Roman"/>
              </a:rPr>
              <a:t>• Real-Time Edge Processing: Processes baseband streams at 40 MSPS, instantly computing cyclostationary correlations to identify modulations in &lt;35 ms.</a:t>
            </a:r>
          </a:p>
          <a:p>
            <a:pPr>
              <a:spcBef>
                <a:spcPts val="300"/>
              </a:spcBef>
            </a:pPr>
            <a:r>
              <a:rPr sz="1120">
                <a:solidFill>
                  <a:srgbClr val="0F172A"/>
                </a:solidFill>
                <a:latin typeface="Times New Roman"/>
              </a:rPr>
              <a:t>• Complete Cryptologic Pipeline: Bridges the gap from raw radio waves to actionable decrypted intelligence by seamlessly integrating blind FEC solving and decoding.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640080" y="3794759"/>
            <a:ext cx="5349240" cy="2331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9" name="Rounded Rectangle 15368"/>
          <p:cNvSpPr/>
          <p:nvPr/>
        </p:nvSpPr>
        <p:spPr>
          <a:xfrm>
            <a:off x="594360" y="3749039"/>
            <a:ext cx="534924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0" name="TextBox 15369"/>
          <p:cNvSpPr txBox="1"/>
          <p:nvPr/>
        </p:nvSpPr>
        <p:spPr>
          <a:xfrm>
            <a:off x="731520" y="3840479"/>
            <a:ext cx="5074920" cy="2148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Times New Roman"/>
              </a:rPr>
              <a:t>Proposed Solution</a:t>
            </a:r>
          </a:p>
          <a:p>
            <a:pPr>
              <a:spcBef>
                <a:spcPts val="180"/>
              </a:spcBef>
            </a:pPr>
            <a:r>
              <a:rPr sz="1050">
                <a:solidFill>
                  <a:srgbClr val="0F172A"/>
                </a:solidFill>
                <a:latin typeface="Times New Roman"/>
              </a:rPr>
              <a:t>• Rapid Ingestion &amp; Conditioning: Auto-ingests I/Q datastreams, nulling DC offsets, and balancing phase/gain mismatch before estimating spectral densities.</a:t>
            </a:r>
          </a:p>
          <a:p>
            <a:pPr>
              <a:spcBef>
                <a:spcPts val="180"/>
              </a:spcBef>
            </a:pPr>
            <a:r>
              <a:rPr sz="1050">
                <a:solidFill>
                  <a:srgbClr val="0F172A"/>
                </a:solidFill>
                <a:latin typeface="Times New Roman"/>
              </a:rPr>
              <a:t>• Hybrid AI Modulation Classifier: Uses higher-order cumulants (C40, C63) and a 1D-ResNet neural net to guarantee 98% modulation detection even at sub-zero SNR.</a:t>
            </a:r>
          </a:p>
          <a:p>
            <a:pPr>
              <a:spcBef>
                <a:spcPts val="180"/>
              </a:spcBef>
            </a:pPr>
            <a:r>
              <a:rPr sz="1050">
                <a:solidFill>
                  <a:srgbClr val="0F172A"/>
                </a:solidFill>
                <a:latin typeface="Times New Roman"/>
              </a:rPr>
              <a:t>• Forensic Galois Field (GF) Solver: Automatically breaks unknown interleaving depths using binary matrix rank analysis, decoding via Viterbi &amp; Reed-Solomon algorithms.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6309359" y="3794759"/>
            <a:ext cx="5349240" cy="2331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2" name="Rounded Rectangle 15371"/>
          <p:cNvSpPr/>
          <p:nvPr/>
        </p:nvSpPr>
        <p:spPr>
          <a:xfrm>
            <a:off x="6263640" y="3749039"/>
            <a:ext cx="534924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3" name="TextBox 15372"/>
          <p:cNvSpPr txBox="1"/>
          <p:nvPr/>
        </p:nvSpPr>
        <p:spPr>
          <a:xfrm>
            <a:off x="6400800" y="3840479"/>
            <a:ext cx="5074920" cy="2148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Times New Roman"/>
              </a:rPr>
              <a:t>Innovation / Uniqueness</a:t>
            </a:r>
          </a:p>
          <a:p>
            <a:pPr>
              <a:spcBef>
                <a:spcPts val="180"/>
              </a:spcBef>
            </a:pPr>
            <a:r>
              <a:rPr sz="1050">
                <a:solidFill>
                  <a:srgbClr val="0F172A"/>
                </a:solidFill>
                <a:latin typeface="Times New Roman"/>
              </a:rPr>
              <a:t>• World-First Blind Interleaver Solver: Custom Galois Field GF(2) linear engine extracts blind interleaver matrix depths in &lt;1.2 seconds, requiring zero metadata.</a:t>
            </a:r>
          </a:p>
          <a:p>
            <a:pPr>
              <a:spcBef>
                <a:spcPts val="180"/>
              </a:spcBef>
            </a:pPr>
            <a:r>
              <a:rPr sz="1050">
                <a:solidFill>
                  <a:srgbClr val="0F172A"/>
                </a:solidFill>
                <a:latin typeface="Times New Roman"/>
              </a:rPr>
              <a:t>• Deep Neural Robustness: Dual-engine AI classifier fuses analytical cumulant thresholds with ResNet features, excelling in severely jammed or fading channels (-4 dB).</a:t>
            </a:r>
          </a:p>
          <a:p>
            <a:pPr>
              <a:spcBef>
                <a:spcPts val="180"/>
              </a:spcBef>
            </a:pPr>
            <a:r>
              <a:rPr sz="1050">
                <a:solidFill>
                  <a:srgbClr val="0F172A"/>
                </a:solidFill>
                <a:latin typeface="Times New Roman"/>
              </a:rPr>
              <a:t>• 100x Intelligence Acceleration: Triage cycle time is violently slashed from 45 minutes down to 1.2 seconds on standard field-grade tactical laptops.</a:t>
            </a:r>
          </a:p>
          <a:p>
            <a:pPr>
              <a:spcBef>
                <a:spcPts val="180"/>
              </a:spcBef>
            </a:pPr>
            <a:r>
              <a:rPr sz="1050">
                <a:solidFill>
                  <a:srgbClr val="0F172A"/>
                </a:solidFill>
                <a:latin typeface="Times New Roman"/>
              </a:rPr>
              <a:t>• 100% Sovereign Air-Gapped Security: Completely self-contained software architecture with zero external APIs, preventing catastrophic supply chain backdoors.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103120" y="182880"/>
            <a:ext cx="7589520" cy="640080"/>
          </a:xfrm>
        </p:spPr>
        <p:txBody>
          <a:bodyPr/>
          <a:lstStyle/>
          <a:p>
            <a:pPr eaLnBrk="1" hangingPunct="1" algn="ctr"/>
            <a:r>
              <a:rPr sz="2400" b="1">
                <a:solidFill>
                  <a:srgbClr val="0F172A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41280" y="6382512"/>
            <a:ext cx="1371600" cy="365760"/>
          </a:xfrm>
        </p:spPr>
        <p:txBody>
          <a:bodyPr/>
          <a:lstStyle/>
          <a:p>
            <a:pPr algn="r"/>
            <a:r>
              <a:rPr sz="1000" b="1">
                <a:solidFill>
                  <a:srgbClr val="FFFFFF"/>
                </a:solidFill>
                <a:latin typeface="Times New Roman"/>
              </a:rPr>
              <a:t>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560320" y="6382512"/>
            <a:ext cx="7040880" cy="365760"/>
          </a:xfrm>
        </p:spPr>
        <p:txBody>
          <a:bodyPr wrap="none"/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Times New Roman"/>
              </a:rPr>
              <a:t>@SIH 2026 IDEA SUBMISSION-TEAM FUTURISTICS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184" y="219456"/>
            <a:ext cx="2011680" cy="6949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1E3A8A"/>
                </a:solidFill>
                <a:latin typeface="Times New Roman"/>
              </a:rPr>
              <a:t>FUTURISTICS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005840"/>
            <a:ext cx="7772400" cy="384048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ounded Rectangle 17410"/>
          <p:cNvSpPr/>
          <p:nvPr/>
        </p:nvSpPr>
        <p:spPr>
          <a:xfrm>
            <a:off x="320040" y="960120"/>
            <a:ext cx="7772400" cy="38404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457200" y="10058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Times New Roman"/>
              </a:rPr>
              <a:t>System Architecture</a:t>
            </a:r>
          </a:p>
        </p:txBody>
      </p:sp>
      <p:pic>
        <p:nvPicPr>
          <p:cNvPr id="17413" name="Picture 17412" descr="system_architecture_draw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280160"/>
            <a:ext cx="7589520" cy="3429000"/>
          </a:xfrm>
          <a:prstGeom prst="rect">
            <a:avLst/>
          </a:prstGeom>
        </p:spPr>
      </p:pic>
      <p:sp>
        <p:nvSpPr>
          <p:cNvPr id="17414" name="Rounded Rectangle 17413"/>
          <p:cNvSpPr/>
          <p:nvPr/>
        </p:nvSpPr>
        <p:spPr>
          <a:xfrm>
            <a:off x="8275320" y="1005840"/>
            <a:ext cx="3520440" cy="3886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Rounded Rectangle 17414"/>
          <p:cNvSpPr/>
          <p:nvPr/>
        </p:nvSpPr>
        <p:spPr>
          <a:xfrm>
            <a:off x="8229600" y="960120"/>
            <a:ext cx="3520440" cy="3886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8366760" y="1051560"/>
            <a:ext cx="3246120" cy="3703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Times New Roman"/>
              </a:rPr>
              <a:t>Execution Flow</a:t>
            </a:r>
          </a:p>
          <a:p>
            <a:pPr>
              <a:spcBef>
                <a:spcPts val="50"/>
              </a:spcBef>
            </a:pPr>
            <a:r>
              <a:rPr sz="950" b="1">
                <a:solidFill>
                  <a:srgbClr val="1E3A8A"/>
                </a:solidFill>
                <a:latin typeface="Times New Roman"/>
              </a:rPr>
              <a:t>Step 1: Signal Ingestion — </a:t>
            </a:r>
            <a:r>
              <a:rPr sz="950">
                <a:solidFill>
                  <a:srgbClr val="0F172A"/>
                </a:solidFill>
                <a:latin typeface="Times New Roman"/>
              </a:rPr>
              <a:t>Raw .IQ &amp; .wav files are ingested via FastAPI, buffering at 40MSPS for continuous streaming.</a:t>
            </a:r>
          </a:p>
          <a:p>
            <a:pPr>
              <a:spcBef>
                <a:spcPts val="50"/>
              </a:spcBef>
            </a:pPr>
            <a:r>
              <a:rPr sz="950" b="1">
                <a:solidFill>
                  <a:srgbClr val="1E3A8A"/>
                </a:solidFill>
                <a:latin typeface="Times New Roman"/>
              </a:rPr>
              <a:t>Step 2: Signal Conditioning — </a:t>
            </a:r>
            <a:r>
              <a:rPr sz="950">
                <a:solidFill>
                  <a:srgbClr val="0F172A"/>
                </a:solidFill>
                <a:latin typeface="Times New Roman"/>
              </a:rPr>
              <a:t>Pre-processing removes DC bias and applies phase/gain imbalance corrections autonomously.</a:t>
            </a:r>
          </a:p>
          <a:p>
            <a:pPr>
              <a:spcBef>
                <a:spcPts val="50"/>
              </a:spcBef>
            </a:pPr>
            <a:r>
              <a:rPr sz="950" b="1">
                <a:solidFill>
                  <a:srgbClr val="1E3A8A"/>
                </a:solidFill>
                <a:latin typeface="Times New Roman"/>
              </a:rPr>
              <a:t>Step 3: Neural AMC — </a:t>
            </a:r>
            <a:r>
              <a:rPr sz="950">
                <a:solidFill>
                  <a:srgbClr val="0F172A"/>
                </a:solidFill>
                <a:latin typeface="Times New Roman"/>
              </a:rPr>
              <a:t>Extracted cyclostationary features and C40/C63 cumulants feed a 1D-CNN + Bi-LSTM for 98% accurate modulation classification.</a:t>
            </a:r>
          </a:p>
          <a:p>
            <a:pPr>
              <a:spcBef>
                <a:spcPts val="50"/>
              </a:spcBef>
            </a:pPr>
            <a:r>
              <a:rPr sz="950" b="1">
                <a:solidFill>
                  <a:srgbClr val="1E3A8A"/>
                </a:solidFill>
                <a:latin typeface="Times New Roman"/>
              </a:rPr>
              <a:t>Step 4: Blind FEC Solving — </a:t>
            </a:r>
            <a:r>
              <a:rPr sz="950">
                <a:solidFill>
                  <a:srgbClr val="0F172A"/>
                </a:solidFill>
                <a:latin typeface="Times New Roman"/>
              </a:rPr>
              <a:t>Gardner TED &amp; Costas Loop acquire sync. Unstructured data is passed to a GF(2) matrix solver to determine interleaver depth.</a:t>
            </a:r>
          </a:p>
          <a:p>
            <a:pPr>
              <a:spcBef>
                <a:spcPts val="50"/>
              </a:spcBef>
            </a:pPr>
            <a:r>
              <a:rPr sz="950" b="1">
                <a:solidFill>
                  <a:srgbClr val="1E3A8A"/>
                </a:solidFill>
                <a:latin typeface="Times New Roman"/>
              </a:rPr>
              <a:t>Step 5: Decoding &amp; Audit — </a:t>
            </a:r>
            <a:r>
              <a:rPr sz="950">
                <a:solidFill>
                  <a:srgbClr val="0F172A"/>
                </a:solidFill>
                <a:latin typeface="Times New Roman"/>
              </a:rPr>
              <a:t>Viterbi and Reed-Solomon algorithms extract raw bits, finally secured via SHA-256 cryptographic hashing.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365759" y="4983480"/>
            <a:ext cx="3657600" cy="173736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Rounded Rectangle 17417"/>
          <p:cNvSpPr/>
          <p:nvPr/>
        </p:nvSpPr>
        <p:spPr>
          <a:xfrm>
            <a:off x="320040" y="4937760"/>
            <a:ext cx="3657600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457200" y="5029200"/>
            <a:ext cx="33832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Times New Roman"/>
              </a:rPr>
              <a:t>Technologies Used</a:t>
            </a:r>
          </a:p>
          <a:p>
            <a:pPr>
              <a:spcBef>
                <a:spcPts val="50"/>
              </a:spcBef>
            </a:pPr>
            <a:r>
              <a:rPr sz="950" b="1">
                <a:solidFill>
                  <a:srgbClr val="1E3A8A"/>
                </a:solidFill>
                <a:latin typeface="Times New Roman"/>
              </a:rPr>
              <a:t>• HTML5 &amp; WebGL 2.0 —</a:t>
            </a:r>
            <a:r>
              <a:rPr sz="950">
                <a:solidFill>
                  <a:srgbClr val="0F172A"/>
                </a:solidFill>
                <a:latin typeface="Times New Roman"/>
              </a:rPr>
              <a:t> Sub-16ms telemetry.</a:t>
            </a:r>
          </a:p>
          <a:p>
            <a:pPr>
              <a:spcBef>
                <a:spcPts val="50"/>
              </a:spcBef>
            </a:pPr>
            <a:r>
              <a:rPr sz="950" b="1">
                <a:solidFill>
                  <a:srgbClr val="1E3A8A"/>
                </a:solidFill>
                <a:latin typeface="Times New Roman"/>
              </a:rPr>
              <a:t>• Python &amp; FastAPI —</a:t>
            </a:r>
            <a:r>
              <a:rPr sz="950">
                <a:solidFill>
                  <a:srgbClr val="0F172A"/>
                </a:solidFill>
                <a:latin typeface="Times New Roman"/>
              </a:rPr>
              <a:t> High-throughput streaming.</a:t>
            </a:r>
          </a:p>
          <a:p>
            <a:pPr>
              <a:spcBef>
                <a:spcPts val="50"/>
              </a:spcBef>
            </a:pPr>
            <a:r>
              <a:rPr sz="950" b="1">
                <a:solidFill>
                  <a:srgbClr val="1E3A8A"/>
                </a:solidFill>
                <a:latin typeface="Times New Roman"/>
              </a:rPr>
              <a:t>• NumPy &amp; SciPy —</a:t>
            </a:r>
            <a:r>
              <a:rPr sz="950">
                <a:solidFill>
                  <a:srgbClr val="0F172A"/>
                </a:solidFill>
                <a:latin typeface="Times New Roman"/>
              </a:rPr>
              <a:t> Accelerated FFT &amp; PSD.</a:t>
            </a:r>
          </a:p>
          <a:p>
            <a:pPr>
              <a:spcBef>
                <a:spcPts val="50"/>
              </a:spcBef>
            </a:pPr>
            <a:r>
              <a:rPr sz="950" b="1">
                <a:solidFill>
                  <a:srgbClr val="1E3A8A"/>
                </a:solidFill>
                <a:latin typeface="Times New Roman"/>
              </a:rPr>
              <a:t>• 1D-CNN + Bi-LSTM —</a:t>
            </a:r>
            <a:r>
              <a:rPr sz="950">
                <a:solidFill>
                  <a:srgbClr val="0F172A"/>
                </a:solidFill>
                <a:latin typeface="Times New Roman"/>
              </a:rPr>
              <a:t> Neural AMC classification.</a:t>
            </a:r>
          </a:p>
          <a:p>
            <a:pPr>
              <a:spcBef>
                <a:spcPts val="50"/>
              </a:spcBef>
            </a:pPr>
            <a:r>
              <a:rPr sz="950" b="1">
                <a:solidFill>
                  <a:srgbClr val="1E3A8A"/>
                </a:solidFill>
                <a:latin typeface="Times New Roman"/>
              </a:rPr>
              <a:t>• GF(2) Matrix Solver —</a:t>
            </a:r>
            <a:r>
              <a:rPr sz="950">
                <a:solidFill>
                  <a:srgbClr val="0F172A"/>
                </a:solidFill>
                <a:latin typeface="Times New Roman"/>
              </a:rPr>
              <a:t> Fast rank solver.</a:t>
            </a:r>
          </a:p>
          <a:p>
            <a:pPr>
              <a:spcBef>
                <a:spcPts val="50"/>
              </a:spcBef>
            </a:pPr>
            <a:r>
              <a:rPr sz="950" b="1">
                <a:solidFill>
                  <a:srgbClr val="1E3A8A"/>
                </a:solidFill>
                <a:latin typeface="Times New Roman"/>
              </a:rPr>
              <a:t>• Viterbi/Reed-Solomon —</a:t>
            </a:r>
            <a:r>
              <a:rPr sz="950">
                <a:solidFill>
                  <a:srgbClr val="0F172A"/>
                </a:solidFill>
                <a:latin typeface="Times New Roman"/>
              </a:rPr>
              <a:t> FEC channel decoders.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4251959" y="4983480"/>
            <a:ext cx="3657600" cy="173736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Rounded Rectangle 17420"/>
          <p:cNvSpPr/>
          <p:nvPr/>
        </p:nvSpPr>
        <p:spPr>
          <a:xfrm>
            <a:off x="4206240" y="4937760"/>
            <a:ext cx="3657600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4343400" y="5029200"/>
            <a:ext cx="33832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Times New Roman"/>
              </a:rPr>
              <a:t>Prototype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0F172A"/>
                </a:solidFill>
                <a:latin typeface="Times New Roman"/>
              </a:rPr>
              <a:t>Real-Time Tactical Spectrum &amp; Telemetry GUI (FastAPI + WebGL)</a:t>
            </a:r>
          </a:p>
        </p:txBody>
      </p:sp>
      <p:pic>
        <p:nvPicPr>
          <p:cNvPr id="17423" name="Picture 17422" descr="crop_module1_telemet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5303520"/>
            <a:ext cx="3474720" cy="1280160"/>
          </a:xfrm>
          <a:prstGeom prst="rect">
            <a:avLst/>
          </a:prstGeom>
        </p:spPr>
      </p:pic>
      <p:sp>
        <p:nvSpPr>
          <p:cNvPr id="17424" name="Rounded Rectangle 17423"/>
          <p:cNvSpPr/>
          <p:nvPr/>
        </p:nvSpPr>
        <p:spPr>
          <a:xfrm>
            <a:off x="8138160" y="4983480"/>
            <a:ext cx="3657600" cy="173736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Rounded Rectangle 17424"/>
          <p:cNvSpPr/>
          <p:nvPr/>
        </p:nvSpPr>
        <p:spPr>
          <a:xfrm>
            <a:off x="8092440" y="4937760"/>
            <a:ext cx="3657600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8229600" y="5029200"/>
            <a:ext cx="33832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Times New Roman"/>
              </a:rPr>
              <a:t>Links &amp; Status</a:t>
            </a:r>
          </a:p>
          <a:p>
            <a:pPr>
              <a:spcBef>
                <a:spcPts val="150"/>
              </a:spcBef>
            </a:pPr>
            <a:r>
              <a:rPr sz="950" b="1">
                <a:solidFill>
                  <a:srgbClr val="1E3A8A"/>
                </a:solidFill>
                <a:latin typeface="Times New Roman"/>
              </a:rPr>
              <a:t>• GitHub: </a:t>
            </a:r>
            <a:r>
              <a:rPr sz="950">
                <a:solidFill>
                  <a:srgbClr val="0F172A"/>
                </a:solidFill>
                <a:latin typeface="Times New Roman"/>
              </a:rPr>
              <a:t>github.com/harikesh2709-creator/FUTURISTICS </a:t>
            </a:r>
          </a:p>
          <a:p>
            <a:pPr>
              <a:spcBef>
                <a:spcPts val="150"/>
              </a:spcBef>
            </a:pPr>
            <a:r>
              <a:rPr sz="950" b="1">
                <a:solidFill>
                  <a:srgbClr val="1E3A8A"/>
                </a:solidFill>
                <a:latin typeface="Times New Roman"/>
              </a:rPr>
              <a:t>• YouTube: </a:t>
            </a:r>
            <a:r>
              <a:rPr sz="950">
                <a:solidFill>
                  <a:srgbClr val="0F172A"/>
                </a:solidFill>
                <a:latin typeface="Times New Roman"/>
              </a:rPr>
              <a:t>youtu.be/FUTURISTICS-SPECTRA </a:t>
            </a:r>
          </a:p>
          <a:p>
            <a:r>
              <a:rPr sz="850">
                <a:solidFill>
                  <a:srgbClr val="475569"/>
                </a:solidFill>
                <a:latin typeface="Times New Roman"/>
              </a:rPr>
              <a:t>  (5-Min Demo Walkthrough)</a:t>
            </a:r>
          </a:p>
          <a:p>
            <a:pPr>
              <a:spcBef>
                <a:spcPts val="150"/>
              </a:spcBef>
            </a:pPr>
            <a:r>
              <a:rPr sz="950" b="1">
                <a:solidFill>
                  <a:srgbClr val="1E3A8A"/>
                </a:solidFill>
                <a:latin typeface="Times New Roman"/>
              </a:rPr>
              <a:t>• Status: </a:t>
            </a:r>
            <a:r>
              <a:rPr sz="950">
                <a:solidFill>
                  <a:srgbClr val="0F172A"/>
                </a:solidFill>
                <a:latin typeface="Times New Roman"/>
              </a:rPr>
              <a:t>Phase-1 Functional Prototype </a:t>
            </a:r>
          </a:p>
          <a:p>
            <a:r>
              <a:rPr sz="850">
                <a:solidFill>
                  <a:srgbClr val="475569"/>
                </a:solidFill>
                <a:latin typeface="Times New Roman"/>
              </a:rPr>
              <a:t>  (Air-gapped DSP + Neural AMC)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103120" y="182880"/>
            <a:ext cx="7589520" cy="640080"/>
          </a:xfrm>
        </p:spPr>
        <p:txBody>
          <a:bodyPr/>
          <a:lstStyle/>
          <a:p>
            <a:pPr eaLnBrk="1" hangingPunct="1" algn="ctr"/>
            <a:r>
              <a:rPr sz="2400" b="1">
                <a:solidFill>
                  <a:srgbClr val="0F172A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41280" y="6382512"/>
            <a:ext cx="1371600" cy="365760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000" b="1">
                <a:solidFill>
                  <a:srgbClr val="FFFFFF"/>
                </a:solidFill>
                <a:latin typeface="Times New Roman"/>
              </a:rPr>
              <a:t>4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560320" y="6382512"/>
            <a:ext cx="7040880" cy="365760"/>
          </a:xfrm>
        </p:spPr>
        <p:txBody>
          <a:bodyPr wrap="none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1">
                <a:solidFill>
                  <a:srgbClr val="FFFFFF"/>
                </a:solidFill>
                <a:latin typeface="Times New Roman"/>
              </a:rPr>
              <a:t>@SIH 2026 IDEA SUBMISSION-TEAM FUTURISTICS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184" y="219456"/>
            <a:ext cx="2011680" cy="6949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1E3A8A"/>
                </a:solidFill>
                <a:latin typeface="Times New Roman"/>
              </a:rPr>
              <a:t>FUTURISTICS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640080" y="1280160"/>
            <a:ext cx="5349240" cy="2331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ounded Rectangle 17410"/>
          <p:cNvSpPr/>
          <p:nvPr/>
        </p:nvSpPr>
        <p:spPr>
          <a:xfrm>
            <a:off x="594360" y="1234440"/>
            <a:ext cx="534924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731520" y="1325880"/>
            <a:ext cx="5074920" cy="2148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Times New Roman"/>
              </a:rPr>
              <a:t>Technical Feasibility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Proven Mathematics: The core DSP engine utilizes deterministic, globally verified stochastic formulas (Gardner TED, Costas Loop) and CCSDS standards.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Blistering Edge Efficiency: High-performance C-compiled SciPy/NumPy vectorization enables the complete pipeline to run on commercial Core i5 laptops under 35ms.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Massively Scalable APIs: A non-blocking FastAPI backend asynchronously streams high-bandwidth IQ data via WebSockets for seamless multi-terminal deployment.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Plug-and-Play Integration: Emits standard JSON threat intelligence and decoded payloads for instantaneous integration with command-and-control (C2) centers.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309359" y="1280160"/>
            <a:ext cx="5349240" cy="2331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Rounded Rectangle 17413"/>
          <p:cNvSpPr/>
          <p:nvPr/>
        </p:nvSpPr>
        <p:spPr>
          <a:xfrm>
            <a:off x="6263640" y="1234440"/>
            <a:ext cx="534924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6400800" y="1325880"/>
            <a:ext cx="5074920" cy="2148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Times New Roman"/>
              </a:rPr>
              <a:t>Social / Economic / Operational Feasibility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Zero-Friction Operations: Executable via a browser-based tactical UI, eliminating the need for dongles, complex software installations, or cloud servers.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Drastic Economic Savings: Eradicates the massive annual recurring licensing costs associated with foreign proprietary RF software suites like Keysight or R&amp;S.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Low Cognitive Load: A dark-mode, automated-alerting dashboard prevents operator fatigue, democratizing SIGINT capabilities to less specialized frontline forces.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True Self-Reliance (Atmanirbhar Bharat): 100% indigenous software ensures India’s vital defense infrastructure is immune to foreign kill-switches.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40080" y="3794759"/>
            <a:ext cx="5349240" cy="2331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594360" y="3749039"/>
            <a:ext cx="534924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731520" y="3840479"/>
            <a:ext cx="5074920" cy="2148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Times New Roman"/>
              </a:rPr>
              <a:t>Challenges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[Challenge 1] Low SNR &amp; Heavy Multipath Fading: Severe Gaussian noise and electronic jamming submerge carrier and baud spectral peaks below the noise floor.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[Challenge 2] Blind Non-Standard Interleaving: Hostile transmissions utilize arbitrary matrix permutation depths (2 &lt;= D &lt;= 2048) to obscure frame synchronization.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[Challenge 3] Dynamic Carrier Doppler Shift: High relative orbital velocity in satellite downlinks causes significant carrier frequency offset and constellation rotation.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[Challenge 4] Strict Air-Gapped Defense Security: Military operational protocol strictly forbids external cloud APIs, cloud compute servers, or third-party online telemetry.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6309359" y="3794759"/>
            <a:ext cx="5349240" cy="2331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Rounded Rectangle 17419"/>
          <p:cNvSpPr/>
          <p:nvPr/>
        </p:nvSpPr>
        <p:spPr>
          <a:xfrm>
            <a:off x="6263640" y="3749039"/>
            <a:ext cx="534924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6400800" y="3840479"/>
            <a:ext cx="5074920" cy="2148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Times New Roman"/>
              </a:rPr>
              <a:t>Strategies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[Strategy 1] Cyclostationary Spectral Correlation: Computes Sx^α(f) cyclic autocorrelation, isolating hidden periodicity even at -4 dB SNR below noise floor.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[Strategy 2] Automated GF(2) Matrix Rank Solver: Employs binary linear algebraic rank tests scanning candidate depths 2 &lt;= D &lt;= 2048 in &lt;1.2s without prior frame metadata.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[Strategy 3] Costas Phase-Locked Loop (PLL): Tracks residual phase error via M-th power feedback, continuously nulling dynamic Doppler shifts for stable constellation lock.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[Strategy 4] 100% On-Premise Execution: All DSP and AI models execute strictly on localhost with SHA-256 signed evidence dossiers ensuring zero data leakage.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103120" y="182880"/>
            <a:ext cx="7589520" cy="640080"/>
          </a:xfrm>
        </p:spPr>
        <p:txBody>
          <a:bodyPr/>
          <a:lstStyle/>
          <a:p>
            <a:pPr eaLnBrk="1" hangingPunct="1" algn="ctr"/>
            <a:r>
              <a:rPr sz="2400" b="1">
                <a:solidFill>
                  <a:srgbClr val="0F172A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41280" y="6382512"/>
            <a:ext cx="1371600" cy="365760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000" b="1">
                <a:solidFill>
                  <a:srgbClr val="FFFFFF"/>
                </a:solidFill>
                <a:latin typeface="Times New Roman"/>
              </a:rPr>
              <a:t>5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560320" y="6382512"/>
            <a:ext cx="7040880" cy="365760"/>
          </a:xfrm>
        </p:spPr>
        <p:txBody>
          <a:bodyPr wrap="none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1">
                <a:solidFill>
                  <a:srgbClr val="FFFFFF"/>
                </a:solidFill>
                <a:latin typeface="Times New Roman"/>
              </a:rPr>
              <a:t>@SIH 2026 IDEA SUBMISSION-TEAM FUTURISTICS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184" y="219456"/>
            <a:ext cx="2011680" cy="6949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1E3A8A"/>
                </a:solidFill>
                <a:latin typeface="Times New Roman"/>
              </a:rPr>
              <a:t>FUTURISTICS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937760" y="1280160"/>
            <a:ext cx="2395728" cy="48463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ounded Rectangle 17410"/>
          <p:cNvSpPr/>
          <p:nvPr/>
        </p:nvSpPr>
        <p:spPr>
          <a:xfrm>
            <a:off x="4892040" y="1234440"/>
            <a:ext cx="2395728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4937760" y="1298448"/>
            <a:ext cx="23042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E3A8A"/>
                </a:solidFill>
                <a:latin typeface="Times New Roman"/>
              </a:rPr>
              <a:t>SDG GOALS</a:t>
            </a:r>
          </a:p>
        </p:txBody>
      </p:sp>
      <p:pic>
        <p:nvPicPr>
          <p:cNvPr id="17413" name="Picture 17412" descr="sdg_9_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2664" y="1664208"/>
            <a:ext cx="1554480" cy="1554480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4937760" y="3246120"/>
            <a:ext cx="230428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0F172A"/>
                </a:solidFill>
                <a:latin typeface="Times New Roman"/>
              </a:rPr>
              <a:t>Goal 9: Industry, Innovation
&amp; Infrastructure</a:t>
            </a:r>
          </a:p>
        </p:txBody>
      </p:sp>
      <p:pic>
        <p:nvPicPr>
          <p:cNvPr id="17415" name="Picture 17414" descr="sdg_16_logo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2664" y="3611880"/>
            <a:ext cx="1554480" cy="1554480"/>
          </a:xfrm>
          <a:prstGeom prst="rect">
            <a:avLst/>
          </a:prstGeom>
        </p:spPr>
      </p:pic>
      <p:sp>
        <p:nvSpPr>
          <p:cNvPr id="17416" name="TextBox 17415"/>
          <p:cNvSpPr txBox="1"/>
          <p:nvPr/>
        </p:nvSpPr>
        <p:spPr>
          <a:xfrm>
            <a:off x="4937760" y="5193792"/>
            <a:ext cx="230428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0F172A"/>
                </a:solidFill>
                <a:latin typeface="Times New Roman"/>
              </a:rPr>
              <a:t>Goal 16: Peace, Justice
&amp; Strong Institutions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4937760" y="5532120"/>
            <a:ext cx="230428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i="1">
                <a:solidFill>
                  <a:srgbClr val="475569"/>
                </a:solidFill>
                <a:latin typeface="Times New Roman"/>
              </a:rPr>
              <a:t>Relevance: Sovereign Deep-Tech &amp;
National Defense Infrastructure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640080" y="1280160"/>
            <a:ext cx="4206240" cy="2331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594360" y="1234440"/>
            <a:ext cx="420624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731520" y="1325880"/>
            <a:ext cx="3931920" cy="2148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Times New Roman"/>
              </a:rPr>
              <a:t>Direct Targeted Users</a:t>
            </a:r>
          </a:p>
          <a:p>
            <a:pPr>
              <a:spcBef>
                <a:spcPts val="250"/>
              </a:spcBef>
            </a:pPr>
            <a:r>
              <a:rPr sz="1050" b="1">
                <a:solidFill>
                  <a:srgbClr val="1E3A8A"/>
                </a:solidFill>
                <a:latin typeface="Times New Roman"/>
              </a:rPr>
              <a:t>• Primary Core: </a:t>
            </a:r>
            <a:r>
              <a:rPr sz="1050">
                <a:solidFill>
                  <a:srgbClr val="0F172A"/>
                </a:solidFill>
                <a:latin typeface="Times New Roman"/>
              </a:rPr>
              <a:t>NTRO signal intelligence analysts requiring automated, real-time RF triage capabilities.</a:t>
            </a:r>
          </a:p>
          <a:p>
            <a:pPr>
              <a:spcBef>
                <a:spcPts val="250"/>
              </a:spcBef>
            </a:pPr>
            <a:r>
              <a:rPr sz="1050" b="1">
                <a:solidFill>
                  <a:srgbClr val="1E3A8A"/>
                </a:solidFill>
                <a:latin typeface="Times New Roman"/>
              </a:rPr>
              <a:t>• Tactical Forces: </a:t>
            </a:r>
            <a:r>
              <a:rPr sz="1050">
                <a:solidFill>
                  <a:srgbClr val="0F172A"/>
                </a:solidFill>
                <a:latin typeface="Times New Roman"/>
              </a:rPr>
              <a:t>Frontline Tri-Services Electronic Warfare (EW) battalions across the Indian Army, Navy, and Air Force.</a:t>
            </a:r>
          </a:p>
          <a:p>
            <a:pPr>
              <a:spcBef>
                <a:spcPts val="250"/>
              </a:spcBef>
            </a:pPr>
            <a:r>
              <a:rPr sz="1050" b="1">
                <a:solidFill>
                  <a:srgbClr val="1E3A8A"/>
                </a:solidFill>
                <a:latin typeface="Times New Roman"/>
              </a:rPr>
              <a:t>• Strategic Agencies: </a:t>
            </a:r>
            <a:r>
              <a:rPr sz="1050">
                <a:solidFill>
                  <a:srgbClr val="0F172A"/>
                </a:solidFill>
                <a:latin typeface="Times New Roman"/>
              </a:rPr>
              <a:t>Indian Coast Guard for coastal SIGINT, and ISRO Space Operations for satellite telemetry analysis.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7434072" y="1280160"/>
            <a:ext cx="4206240" cy="2331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Rounded Rectangle 17421"/>
          <p:cNvSpPr/>
          <p:nvPr/>
        </p:nvSpPr>
        <p:spPr>
          <a:xfrm>
            <a:off x="7388352" y="1234440"/>
            <a:ext cx="420624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7525512" y="1325880"/>
            <a:ext cx="3931920" cy="2148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Times New Roman"/>
              </a:rPr>
              <a:t>Strategic Benefits</a:t>
            </a:r>
          </a:p>
          <a:p>
            <a:pPr>
              <a:spcBef>
                <a:spcPts val="250"/>
              </a:spcBef>
            </a:pPr>
            <a:r>
              <a:rPr sz="1050" b="1">
                <a:solidFill>
                  <a:srgbClr val="1E3A8A"/>
                </a:solidFill>
                <a:latin typeface="Times New Roman"/>
              </a:rPr>
              <a:t>• Total Autonomy: </a:t>
            </a:r>
            <a:r>
              <a:rPr sz="1050">
                <a:solidFill>
                  <a:srgbClr val="0F172A"/>
                </a:solidFill>
                <a:latin typeface="Times New Roman"/>
              </a:rPr>
              <a:t>Complete sovereign control of vital electronic intelligence software without foreign dependencies.</a:t>
            </a:r>
          </a:p>
          <a:p>
            <a:pPr>
              <a:spcBef>
                <a:spcPts val="250"/>
              </a:spcBef>
            </a:pPr>
            <a:r>
              <a:rPr sz="1050" b="1">
                <a:solidFill>
                  <a:srgbClr val="1E3A8A"/>
                </a:solidFill>
                <a:latin typeface="Times New Roman"/>
              </a:rPr>
              <a:t>• Zero-Day Triage: </a:t>
            </a:r>
            <a:r>
              <a:rPr sz="1050">
                <a:solidFill>
                  <a:srgbClr val="0F172A"/>
                </a:solidFill>
                <a:latin typeface="Times New Roman"/>
              </a:rPr>
              <a:t>Instantly identifies lethal frequency-hopping jammers and covert hostile waveforms in under 100 milliseconds.</a:t>
            </a:r>
          </a:p>
          <a:p>
            <a:pPr>
              <a:spcBef>
                <a:spcPts val="250"/>
              </a:spcBef>
            </a:pPr>
            <a:r>
              <a:rPr sz="1050" b="1">
                <a:solidFill>
                  <a:srgbClr val="1E3A8A"/>
                </a:solidFill>
                <a:latin typeface="Times New Roman"/>
              </a:rPr>
              <a:t>• Economic Dominance: </a:t>
            </a:r>
            <a:r>
              <a:rPr sz="1050">
                <a:solidFill>
                  <a:srgbClr val="0F172A"/>
                </a:solidFill>
                <a:latin typeface="Times New Roman"/>
              </a:rPr>
              <a:t>Projected massive annual savings of ₹18+ Crores by terminating expensive Western proprietary toolchain licenses.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640080" y="3794759"/>
            <a:ext cx="4206240" cy="2331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Rounded Rectangle 17424"/>
          <p:cNvSpPr/>
          <p:nvPr/>
        </p:nvSpPr>
        <p:spPr>
          <a:xfrm>
            <a:off x="594360" y="3749039"/>
            <a:ext cx="420624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731520" y="3840479"/>
            <a:ext cx="3931920" cy="2148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Times New Roman"/>
              </a:rPr>
              <a:t>Strategic Impacts</a:t>
            </a:r>
          </a:p>
          <a:p>
            <a:pPr>
              <a:spcBef>
                <a:spcPts val="250"/>
              </a:spcBef>
            </a:pPr>
            <a:r>
              <a:rPr sz="1050" b="1">
                <a:solidFill>
                  <a:srgbClr val="1E3A8A"/>
                </a:solidFill>
                <a:latin typeface="Times New Roman"/>
              </a:rPr>
              <a:t>• 100x Efficiency Surge: </a:t>
            </a:r>
            <a:r>
              <a:rPr sz="1050">
                <a:solidFill>
                  <a:srgbClr val="0F172A"/>
                </a:solidFill>
                <a:latin typeface="Times New Roman"/>
              </a:rPr>
              <a:t>Accelerates human signal triage operations by orders of magnitude, turning 45-minute chores into 1.2-second scans.</a:t>
            </a:r>
          </a:p>
          <a:p>
            <a:pPr>
              <a:spcBef>
                <a:spcPts val="250"/>
              </a:spcBef>
            </a:pPr>
            <a:r>
              <a:rPr sz="1050" b="1">
                <a:solidFill>
                  <a:srgbClr val="1E3A8A"/>
                </a:solidFill>
                <a:latin typeface="Times New Roman"/>
              </a:rPr>
              <a:t>• Cognitive Relief: </a:t>
            </a:r>
            <a:r>
              <a:rPr sz="1050">
                <a:solidFill>
                  <a:srgbClr val="0F172A"/>
                </a:solidFill>
                <a:latin typeface="Times New Roman"/>
              </a:rPr>
              <a:t>Slashes 94% of manual waterfall parameter hunting, allowing analysts to focus on high-level adversarial threat tactics.</a:t>
            </a:r>
          </a:p>
          <a:p>
            <a:pPr>
              <a:spcBef>
                <a:spcPts val="250"/>
              </a:spcBef>
            </a:pPr>
            <a:r>
              <a:rPr sz="1050" b="1">
                <a:solidFill>
                  <a:srgbClr val="1E3A8A"/>
                </a:solidFill>
                <a:latin typeface="Times New Roman"/>
              </a:rPr>
              <a:t>• Forensic Ledger: </a:t>
            </a:r>
            <a:r>
              <a:rPr sz="1050">
                <a:solidFill>
                  <a:srgbClr val="0F172A"/>
                </a:solidFill>
                <a:latin typeface="Times New Roman"/>
              </a:rPr>
              <a:t>Yields cryptographically signed SHA-256 evidence dossiers, solidifying strategic defense intelligence records.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7434072" y="3794759"/>
            <a:ext cx="4206240" cy="2331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Rounded Rectangle 17427"/>
          <p:cNvSpPr/>
          <p:nvPr/>
        </p:nvSpPr>
        <p:spPr>
          <a:xfrm>
            <a:off x="7388352" y="3749039"/>
            <a:ext cx="420624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TextBox 17428"/>
          <p:cNvSpPr txBox="1"/>
          <p:nvPr/>
        </p:nvSpPr>
        <p:spPr>
          <a:xfrm>
            <a:off x="7525512" y="3840479"/>
            <a:ext cx="3931920" cy="2148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Times New Roman"/>
              </a:rPr>
              <a:t>Social and Economic Benefits</a:t>
            </a:r>
          </a:p>
          <a:p>
            <a:pPr>
              <a:spcBef>
                <a:spcPts val="250"/>
              </a:spcBef>
            </a:pPr>
            <a:r>
              <a:rPr sz="1050" b="1">
                <a:solidFill>
                  <a:srgbClr val="1E3A8A"/>
                </a:solidFill>
                <a:latin typeface="Times New Roman"/>
              </a:rPr>
              <a:t>• Impenetrable Security: </a:t>
            </a:r>
            <a:r>
              <a:rPr sz="1050">
                <a:solidFill>
                  <a:srgbClr val="0F172A"/>
                </a:solidFill>
                <a:latin typeface="Times New Roman"/>
              </a:rPr>
              <a:t>Fortifies the nation's borders and communication lifelines against catastrophic foreign cyber and electronic warfare.</a:t>
            </a:r>
          </a:p>
          <a:p>
            <a:pPr>
              <a:spcBef>
                <a:spcPts val="250"/>
              </a:spcBef>
            </a:pPr>
            <a:r>
              <a:rPr sz="1050" b="1">
                <a:solidFill>
                  <a:srgbClr val="1E3A8A"/>
                </a:solidFill>
                <a:latin typeface="Times New Roman"/>
              </a:rPr>
              <a:t>• Financial Efficiency: </a:t>
            </a:r>
            <a:r>
              <a:rPr sz="1050">
                <a:solidFill>
                  <a:srgbClr val="0F172A"/>
                </a:solidFill>
                <a:latin typeface="Times New Roman"/>
              </a:rPr>
              <a:t>The open-architecture platform amortizes development deployment costs in less than 30 days due to zero licensing fees.</a:t>
            </a:r>
          </a:p>
          <a:p>
            <a:pPr>
              <a:spcBef>
                <a:spcPts val="250"/>
              </a:spcBef>
            </a:pPr>
            <a:r>
              <a:rPr sz="1050" b="1">
                <a:solidFill>
                  <a:srgbClr val="1E3A8A"/>
                </a:solidFill>
                <a:latin typeface="Times New Roman"/>
              </a:rPr>
              <a:t>• Edge Deployment: </a:t>
            </a:r>
            <a:r>
              <a:rPr sz="1050">
                <a:solidFill>
                  <a:srgbClr val="0F172A"/>
                </a:solidFill>
                <a:latin typeface="Times New Roman"/>
              </a:rPr>
              <a:t>Ultra-efficient algorithms run natively on field-deployed laptops, averting the need for massive, power-hungry server farms.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103120" y="182880"/>
            <a:ext cx="7589520" cy="640080"/>
          </a:xfrm>
        </p:spPr>
        <p:txBody>
          <a:bodyPr/>
          <a:lstStyle/>
          <a:p>
            <a:pPr eaLnBrk="1" hangingPunct="1" algn="ctr"/>
            <a:r>
              <a:rPr sz="2400" b="1">
                <a:solidFill>
                  <a:srgbClr val="0F172A"/>
                </a:solidFill>
                <a:latin typeface="Times New Roman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41280" y="6382512"/>
            <a:ext cx="1371600" cy="365760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000" b="1">
                <a:solidFill>
                  <a:srgbClr val="FFFFFF"/>
                </a:solidFill>
                <a:latin typeface="Times New Roman"/>
              </a:rPr>
              <a:t>6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560320" y="6382512"/>
            <a:ext cx="7040880" cy="365760"/>
          </a:xfrm>
        </p:spPr>
        <p:txBody>
          <a:bodyPr wrap="none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1">
                <a:solidFill>
                  <a:srgbClr val="FFFFFF"/>
                </a:solidFill>
                <a:latin typeface="Times New Roman"/>
              </a:rPr>
              <a:t>@SIH 2026 IDEA SUBMISSION-TEAM FUTURISTICS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184" y="219456"/>
            <a:ext cx="2011680" cy="6949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1E3A8A"/>
                </a:solidFill>
                <a:latin typeface="Times New Roman"/>
              </a:rPr>
              <a:t>FUTURISTICS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640080" y="1280160"/>
            <a:ext cx="5349240" cy="1600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ounded Rectangle 17410"/>
          <p:cNvSpPr/>
          <p:nvPr/>
        </p:nvSpPr>
        <p:spPr>
          <a:xfrm>
            <a:off x="594360" y="1234440"/>
            <a:ext cx="5349240" cy="1600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731520" y="1325880"/>
            <a:ext cx="507492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Times New Roman"/>
              </a:rPr>
              <a:t>Gap &amp; Problem Identification:</a:t>
            </a:r>
          </a:p>
          <a:p>
            <a:pPr>
              <a:spcBef>
                <a:spcPts val="150"/>
              </a:spcBef>
            </a:pPr>
            <a:r>
              <a:rPr sz="1000">
                <a:solidFill>
                  <a:srgbClr val="0F172A"/>
                </a:solidFill>
                <a:latin typeface="Times New Roman"/>
              </a:rPr>
              <a:t>• Manual Triage Bottleneck: Traditional waterfall inspection takes 30-45 mins per intercept, failing entirely below 0 dB SNR. [IEEE MILCOM '23]</a:t>
            </a:r>
          </a:p>
          <a:p>
            <a:pPr>
              <a:spcBef>
                <a:spcPts val="150"/>
              </a:spcBef>
            </a:pPr>
            <a:r>
              <a:rPr sz="1000">
                <a:solidFill>
                  <a:srgbClr val="0F172A"/>
                </a:solidFill>
                <a:latin typeface="Times New Roman"/>
              </a:rPr>
              <a:t>• Baseband Data Deluge: Modern SDRs capture &gt;10 GB/hr; human analysts can process &lt;5% of intercepted files. [DRDO EW Tech Report]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309359" y="1280160"/>
            <a:ext cx="5349240" cy="1600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Rounded Rectangle 17413"/>
          <p:cNvSpPr/>
          <p:nvPr/>
        </p:nvSpPr>
        <p:spPr>
          <a:xfrm>
            <a:off x="6263640" y="1234440"/>
            <a:ext cx="5349240" cy="1600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6400800" y="1325880"/>
            <a:ext cx="507492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Times New Roman"/>
              </a:rPr>
              <a:t>Economic &amp; Strategic Landscape:</a:t>
            </a:r>
          </a:p>
          <a:p>
            <a:pPr>
              <a:spcBef>
                <a:spcPts val="150"/>
              </a:spcBef>
            </a:pPr>
            <a:r>
              <a:rPr sz="1000">
                <a:solidFill>
                  <a:srgbClr val="0F172A"/>
                </a:solidFill>
                <a:latin typeface="Times New Roman"/>
              </a:rPr>
              <a:t>• Market Expansion: Global COMINT/SIGINT market is reaching $22.4B by 2028; Indian procurement prioritized under iDEX and Make-II schemes.</a:t>
            </a:r>
          </a:p>
          <a:p>
            <a:pPr>
              <a:spcBef>
                <a:spcPts val="150"/>
              </a:spcBef>
            </a:pPr>
            <a:r>
              <a:rPr sz="1000">
                <a:solidFill>
                  <a:srgbClr val="0F172A"/>
                </a:solidFill>
                <a:latin typeface="Times New Roman"/>
              </a:rPr>
              <a:t>• Cost Advantage: Commercial suites (Keysight/R&amp;S) cost $65,000+ per license; SPECTRA delivers zero licensing cost for national defense.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40080" y="3017520"/>
            <a:ext cx="5349240" cy="1600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594360" y="2971800"/>
            <a:ext cx="5349240" cy="1600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731520" y="3063240"/>
            <a:ext cx="507492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Times New Roman"/>
              </a:rPr>
              <a:t>Literature Survey &amp; Competitive Analysis:</a:t>
            </a:r>
          </a:p>
          <a:p>
            <a:pPr>
              <a:spcBef>
                <a:spcPts val="150"/>
              </a:spcBef>
            </a:pPr>
            <a:r>
              <a:rPr sz="1000">
                <a:solidFill>
                  <a:srgbClr val="0F172A"/>
                </a:solidFill>
                <a:latin typeface="Times New Roman"/>
              </a:rPr>
              <a:t>• Blind Modulation Classification: Swami &amp; Sadler proved 4th/6th order cumulants optimally separate M-PSK/M-QAM without CSI. [IEEE Trans. Sig. Proc]</a:t>
            </a:r>
          </a:p>
          <a:p>
            <a:pPr>
              <a:spcBef>
                <a:spcPts val="150"/>
              </a:spcBef>
            </a:pPr>
            <a:r>
              <a:rPr sz="1000">
                <a:solidFill>
                  <a:srgbClr val="0F172A"/>
                </a:solidFill>
                <a:latin typeface="Times New Roman"/>
              </a:rPr>
              <a:t>• Deep Learning in Low SNR: O'Shea et al. verified 1D-ResNet architectures vastly outperform traditional thresholding in multipath. [IEEE Cog. Comm '18]</a:t>
            </a:r>
          </a:p>
          <a:p>
            <a:pPr>
              <a:spcBef>
                <a:spcPts val="150"/>
              </a:spcBef>
            </a:pPr>
            <a:r>
              <a:rPr sz="1000">
                <a:solidFill>
                  <a:srgbClr val="0F172A"/>
                </a:solidFill>
                <a:latin typeface="Times New Roman"/>
              </a:rPr>
              <a:t>• Interleaver Cryptanalysis: Recent 2024 studies demonstrate GF(2) rank extraction is the most viable method for fully blind FEC decryption.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6309359" y="3017520"/>
            <a:ext cx="5349240" cy="1600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Rounded Rectangle 17419"/>
          <p:cNvSpPr/>
          <p:nvPr/>
        </p:nvSpPr>
        <p:spPr>
          <a:xfrm>
            <a:off x="6263640" y="2971800"/>
            <a:ext cx="5349240" cy="1600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6400800" y="3063240"/>
            <a:ext cx="507492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Times New Roman"/>
              </a:rPr>
              <a:t>Simulation Results:</a:t>
            </a:r>
          </a:p>
          <a:p>
            <a:pPr>
              <a:spcBef>
                <a:spcPts val="150"/>
              </a:spcBef>
            </a:pPr>
            <a:r>
              <a:rPr sz="1000">
                <a:solidFill>
                  <a:srgbClr val="0F172A"/>
                </a:solidFill>
                <a:latin typeface="Times New Roman"/>
              </a:rPr>
              <a:t>• Extensive Dataset Validation: Evaluated across 5,000+ synthetic .IQ files and real HackRF/RTL-SDR captures with carrier drift up to ±50 kHz.</a:t>
            </a:r>
          </a:p>
          <a:p>
            <a:pPr>
              <a:spcBef>
                <a:spcPts val="150"/>
              </a:spcBef>
            </a:pPr>
            <a:r>
              <a:rPr sz="1000">
                <a:solidFill>
                  <a:srgbClr val="0F172A"/>
                </a:solidFill>
                <a:latin typeface="Times New Roman"/>
              </a:rPr>
              <a:t>• Resilience Testing: Demonstrated robust Viterbi decoding even with 15% bit error rates (BER) induced by simulated AWGN and fading.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640080" y="4754880"/>
            <a:ext cx="5349240" cy="1600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Rounded Rectangle 17422"/>
          <p:cNvSpPr/>
          <p:nvPr/>
        </p:nvSpPr>
        <p:spPr>
          <a:xfrm>
            <a:off x="594360" y="4709160"/>
            <a:ext cx="5349240" cy="1600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TextBox 17423"/>
          <p:cNvSpPr txBox="1"/>
          <p:nvPr/>
        </p:nvSpPr>
        <p:spPr>
          <a:xfrm>
            <a:off x="731520" y="4800600"/>
            <a:ext cx="507492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Times New Roman"/>
              </a:rPr>
              <a:t>Technology Benchmarking:</a:t>
            </a:r>
          </a:p>
          <a:p>
            <a:pPr>
              <a:spcBef>
                <a:spcPts val="150"/>
              </a:spcBef>
            </a:pPr>
            <a:r>
              <a:rPr sz="1000">
                <a:solidFill>
                  <a:srgbClr val="0F172A"/>
                </a:solidFill>
                <a:latin typeface="Times New Roman"/>
              </a:rPr>
              <a:t>• Execution Speedup: SPECTRA extracts parameters from a 10s 20 MSPS .IQ capture in 1.18 seconds vs. 38 mins manual inspection (&gt;1900x triage speedup).</a:t>
            </a:r>
          </a:p>
          <a:p>
            <a:pPr>
              <a:spcBef>
                <a:spcPts val="150"/>
              </a:spcBef>
            </a:pPr>
            <a:r>
              <a:rPr sz="1000">
                <a:solidFill>
                  <a:srgbClr val="0F172A"/>
                </a:solidFill>
                <a:latin typeface="Times New Roman"/>
              </a:rPr>
              <a:t>• Modulation Accuracy: Achieves 98.4% accuracy across 11 modulation schemes (BPSK, QPSK, 8PSK, 16QAM, 64QAM, FSK, MSK, OFDM) down to -4 dB SNR.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6309359" y="4754880"/>
            <a:ext cx="5349240" cy="1600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Rounded Rectangle 17425"/>
          <p:cNvSpPr/>
          <p:nvPr/>
        </p:nvSpPr>
        <p:spPr>
          <a:xfrm>
            <a:off x="6263640" y="4709160"/>
            <a:ext cx="5349240" cy="1600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TextBox 17426"/>
          <p:cNvSpPr txBox="1"/>
          <p:nvPr/>
        </p:nvSpPr>
        <p:spPr>
          <a:xfrm>
            <a:off x="6400800" y="4800600"/>
            <a:ext cx="507492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Times New Roman"/>
              </a:rPr>
              <a:t>Policy &amp; Ecosystem Analysis:</a:t>
            </a:r>
          </a:p>
          <a:p>
            <a:pPr>
              <a:spcBef>
                <a:spcPts val="150"/>
              </a:spcBef>
            </a:pPr>
            <a:r>
              <a:rPr sz="1000">
                <a:solidFill>
                  <a:srgbClr val="0F172A"/>
                </a:solidFill>
                <a:latin typeface="Times New Roman"/>
              </a:rPr>
              <a:t>• Defense Acquisition Procedure (DAP 2020): Mandates Buy (Indian-IDDM) priority for electronic intelligence and defense communications software.</a:t>
            </a:r>
          </a:p>
          <a:p>
            <a:pPr>
              <a:spcBef>
                <a:spcPts val="150"/>
              </a:spcBef>
            </a:pPr>
            <a:r>
              <a:rPr sz="1000">
                <a:solidFill>
                  <a:srgbClr val="0F172A"/>
                </a:solidFill>
                <a:latin typeface="Times New Roman"/>
              </a:rPr>
              <a:t>• Sovereign Security: Strictly adheres to air-gapped guidelines, preventing classified intercepted basebands from exposure to external cloud APIs.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