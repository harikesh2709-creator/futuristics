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5760" y="411480"/>
            <a:ext cx="960120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858000" cy="333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Problem Statement ID –</a:t>
            </a:r>
            <a:r>
              <a:rPr sz="1800" b="0" dirty="0">
                <a:solidFill>
                  <a:srgbClr val="0F172A"/>
                </a:solidFill>
                <a:latin typeface="Times New Roman"/>
              </a:rPr>
              <a:t> SIH26006</a:t>
            </a:r>
            <a:endParaRPr lang="en-US" dirty="0"/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Problem Statement Title-</a:t>
            </a:r>
            <a:r>
              <a:rPr sz="1800" b="0" dirty="0">
                <a:solidFill>
                  <a:srgbClr val="0F172A"/>
                </a:solidFill>
                <a:latin typeface="Times New Roman"/>
              </a:rPr>
              <a:t> </a:t>
            </a:r>
            <a:r>
              <a:rPr lang="en-IN" dirty="0"/>
              <a:t>Development of an Intelligent Freight Forecasting Model for Optimized Vessel Chartering and Bulk Cargo Procurement from overseas to East Coast of India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Theme-</a:t>
            </a:r>
            <a:r>
              <a:rPr sz="1800" b="0" dirty="0">
                <a:solidFill>
                  <a:srgbClr val="0F172A"/>
                </a:solidFill>
                <a:latin typeface="Times New Roman"/>
              </a:rPr>
              <a:t> Smart Logistics / Maritime &amp; Port Supply Chain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PS Category-</a:t>
            </a:r>
            <a:r>
              <a:rPr sz="1800" b="0" dirty="0">
                <a:solidFill>
                  <a:srgbClr val="0F172A"/>
                </a:solidFill>
                <a:latin typeface="Times New Roman"/>
              </a:rPr>
              <a:t> Software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Team ID-</a:t>
            </a:r>
            <a:r>
              <a:rPr sz="1800" b="0" dirty="0">
                <a:solidFill>
                  <a:srgbClr val="0F172A"/>
                </a:solidFill>
                <a:latin typeface="Times New Roman"/>
              </a:rPr>
              <a:t> [As Registered on SIH Portal]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Team Name:-</a:t>
            </a:r>
            <a:r>
              <a:rPr sz="1800" b="0" dirty="0">
                <a:solidFill>
                  <a:srgbClr val="0F172A"/>
                </a:solidFill>
                <a:latin typeface="Times New Roman"/>
              </a:rPr>
              <a:t> 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01168"/>
            <a:ext cx="164592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11480" y="1005840"/>
            <a:ext cx="56235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Arial"/>
              </a:rPr>
              <a:t>Proposed Solution :-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A Smart Maritime Logistics Ecosystem powered by AI + Hydrodynamics + Cloud with Centralized Berth &amp; Draught Optimization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Centralized AI Freight Forecasting Hub:-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90-day predictive rates across 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Capesize</a:t>
            </a:r>
            <a:r>
              <a:rPr sz="1200" dirty="0">
                <a:solidFill>
                  <a:srgbClr val="0F172A"/>
                </a:solidFill>
                <a:latin typeface="Arial"/>
              </a:rPr>
              <a:t> (BCI), Panamax (BPI), and 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Supramax</a:t>
            </a:r>
            <a:r>
              <a:rPr sz="1200" dirty="0">
                <a:solidFill>
                  <a:srgbClr val="0F172A"/>
                </a:solidFill>
                <a:latin typeface="Arial"/>
              </a:rPr>
              <a:t> (BSI) using Holt-Winters seasonal decomposition with 1.7% MAPE.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Dynamic Under-Keel Clearance (UKC) Engine:-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Hydrodynamic draught safety solver validating UKC ≥ 1.5m against astronomical tides and siltation records at Haldia, Paradip, and Vizag.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Multi-Corridor Landed Cost ($/MT) Optimizer:-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Real-time linear program optimizing charter hire, bunker fuel (VLSFO), port dues, and canal surcharges (Suez vs Cape).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Strategic Charterparty Hedging Advisor:-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Automated spot market vs forward Contract of Affreightment (COA) recommendation engine, locking bottom-cycle freight rates.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Satellite AIS &amp; Port Congestion Monitor:-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High-frequency spatial AIS tracking vessel anchorage wait times, berth queues, and turnaround delays across Indian major ports.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Automated Demurrage Shield:-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Early alert notification system flagging laytime risks to prevent punitive $15,000–$30,000/day shipowner demurrage claims.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5440680"/>
            <a:ext cx="562356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E3A8A"/>
                </a:solidFill>
                <a:latin typeface="Arial"/>
              </a:rPr>
              <a:t>Core Mathematical Formulation &amp; Optimization Objectives:
</a:t>
            </a:r>
            <a:r>
              <a:rPr sz="1100" b="0" dirty="0">
                <a:solidFill>
                  <a:srgbClr val="0F172A"/>
                </a:solidFill>
                <a:latin typeface="Arial"/>
              </a:rPr>
              <a:t>Forecast: Y(</a:t>
            </a:r>
            <a:r>
              <a:rPr sz="1100" b="0" dirty="0" err="1">
                <a:solidFill>
                  <a:srgbClr val="0F172A"/>
                </a:solidFill>
                <a:latin typeface="Arial"/>
              </a:rPr>
              <a:t>t+h</a:t>
            </a:r>
            <a:r>
              <a:rPr sz="1100" b="0" dirty="0">
                <a:solidFill>
                  <a:srgbClr val="0F172A"/>
                </a:solidFill>
                <a:latin typeface="Arial"/>
              </a:rPr>
              <a:t>) = [ℓ(t) + </a:t>
            </a:r>
            <a:r>
              <a:rPr sz="1100" b="0" dirty="0" err="1">
                <a:solidFill>
                  <a:srgbClr val="0F172A"/>
                </a:solidFill>
                <a:latin typeface="Arial"/>
              </a:rPr>
              <a:t>h·b</a:t>
            </a:r>
            <a:r>
              <a:rPr sz="1100" b="0" dirty="0">
                <a:solidFill>
                  <a:srgbClr val="0F172A"/>
                </a:solidFill>
                <a:latin typeface="Arial"/>
              </a:rPr>
              <a:t>(t)] × s(</a:t>
            </a:r>
            <a:r>
              <a:rPr sz="1100" b="0" dirty="0" err="1">
                <a:solidFill>
                  <a:srgbClr val="0F172A"/>
                </a:solidFill>
                <a:latin typeface="Arial"/>
              </a:rPr>
              <a:t>t+h-m</a:t>
            </a:r>
            <a:r>
              <a:rPr sz="1100" b="0" dirty="0">
                <a:solidFill>
                  <a:srgbClr val="0F172A"/>
                </a:solidFill>
                <a:latin typeface="Arial"/>
              </a:rPr>
              <a:t>)  |  UKC = (Chart Depth + Tide) - Arrival Draft ≥ 1.5m</a:t>
            </a:r>
            <a:endParaRPr lang="en-GB" sz="1100" b="0" dirty="0">
              <a:solidFill>
                <a:srgbClr val="0F172A"/>
              </a:solidFill>
              <a:latin typeface="Arial"/>
            </a:endParaRPr>
          </a:p>
          <a:p>
            <a:pPr algn="ctr"/>
            <a:r>
              <a:rPr sz="1100" b="0" dirty="0">
                <a:solidFill>
                  <a:srgbClr val="0F172A"/>
                </a:solidFill>
                <a:latin typeface="Arial"/>
              </a:rPr>
              <a:t>Objective: Min $/MT = [(Hire × Days) + Bunker Fuel + Port Dues] ÷ Cargo Intake MT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263640" y="960120"/>
            <a:ext cx="562356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TextBox 15365"/>
          <p:cNvSpPr txBox="1"/>
          <p:nvPr/>
        </p:nvSpPr>
        <p:spPr>
          <a:xfrm>
            <a:off x="6355080" y="1005840"/>
            <a:ext cx="544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Arial"/>
              </a:rPr>
              <a:t>FreightForecast Pro – System Architecture &amp; Live UI Prototype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355080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Steel Mills (SAIL)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7726679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Power PSUs (NTPC)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9098280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Port Trusts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10469880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Chartering Desks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355080" y="1719072"/>
            <a:ext cx="5440680" cy="310896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713F12"/>
                </a:solidFill>
                <a:latin typeface="Arial"/>
              </a:rPr>
              <a:t>UI Presentation Layer: React 19 + Tailwind CSS + Interactive Leaflet GIS Map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6355080" y="2084831"/>
            <a:ext cx="5440680" cy="310896"/>
          </a:xfrm>
          <a:prstGeom prst="roundRect">
            <a:avLst/>
          </a:prstGeom>
          <a:solidFill>
            <a:srgbClr val="E0E7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12E81"/>
                </a:solidFill>
                <a:latin typeface="Arial"/>
              </a:rPr>
              <a:t>Backend &amp; AI: FastAPI Async API (sub-35ms) ➔ Redis Cache ➔ Holt-Winters 90D Engine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6355080" y="2487168"/>
            <a:ext cx="5440680" cy="2743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[LIVE PROTOTYPE] Module 1: AI Rate Forecasting &amp; 90-Day Volatility Curves (MAPE 1.7%)</a:t>
            </a:r>
          </a:p>
        </p:txBody>
      </p:sp>
      <p:pic>
        <p:nvPicPr>
          <p:cNvPr id="15374" name="Picture 15373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779776"/>
            <a:ext cx="5440680" cy="32004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E179143-A467-F049-6F41-0DEB5748E6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3438" y="182563"/>
            <a:ext cx="7589837" cy="639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E41"/>
                </a:solidFill>
                <a:latin typeface="Arial"/>
              </a:rPr>
              <a:t>FreightForecast</a:t>
            </a:r>
            <a:r>
              <a:rPr sz="2000" b="1" dirty="0">
                <a:solidFill>
                  <a:srgbClr val="0F1E41"/>
                </a:solidFill>
                <a:latin typeface="Arial"/>
              </a:rPr>
              <a:t> Pro: Predictive Chartering &amp; Route Optimizer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600" b="1">
                <a:solidFill>
                  <a:srgbClr val="0F172A"/>
                </a:solidFill>
                <a:latin typeface="Arial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01168"/>
            <a:ext cx="164592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1005840"/>
            <a:ext cx="5440680" cy="24776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Arial"/>
              </a:rPr>
              <a:t>Technologies to be Used:-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Frontend:-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React 19 + Next.js, 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TailwindCSS</a:t>
            </a:r>
            <a:r>
              <a:rPr sz="1200" dirty="0">
                <a:solidFill>
                  <a:srgbClr val="0F172A"/>
                </a:solidFill>
                <a:latin typeface="Arial"/>
              </a:rPr>
              <a:t>, Chart.js, Leaflet.js GIS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Backend:-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Python 3.11+, 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FastAPI</a:t>
            </a:r>
            <a:r>
              <a:rPr sz="1200" dirty="0">
                <a:solidFill>
                  <a:srgbClr val="0F172A"/>
                </a:solidFill>
                <a:latin typeface="Arial"/>
              </a:rPr>
              <a:t> async microservices, 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Uvicorn</a:t>
            </a:r>
            <a:r>
              <a:rPr sz="1200" dirty="0">
                <a:solidFill>
                  <a:srgbClr val="0F172A"/>
                </a:solidFill>
                <a:latin typeface="Arial"/>
              </a:rPr>
              <a:t> ASGI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Databases:-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PostgreSQL relational fixtures, 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PostGIS</a:t>
            </a:r>
            <a:r>
              <a:rPr sz="1200" dirty="0">
                <a:solidFill>
                  <a:srgbClr val="0F172A"/>
                </a:solidFill>
                <a:latin typeface="Arial"/>
              </a:rPr>
              <a:t> spatial, Redis cache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AI / ML &amp; Math:-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Statsmodels</a:t>
            </a:r>
            <a:r>
              <a:rPr sz="1200" dirty="0">
                <a:solidFill>
                  <a:srgbClr val="0F172A"/>
                </a:solidFill>
                <a:latin typeface="Arial"/>
              </a:rPr>
              <a:t> (Holt-Winters), 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Scipy</a:t>
            </a:r>
            <a:r>
              <a:rPr sz="1200" dirty="0">
                <a:solidFill>
                  <a:srgbClr val="0F172A"/>
                </a:solidFill>
                <a:latin typeface="Arial"/>
              </a:rPr>
              <a:t>/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Numpy</a:t>
            </a:r>
            <a:r>
              <a:rPr sz="1200" dirty="0">
                <a:solidFill>
                  <a:srgbClr val="0F172A"/>
                </a:solidFill>
                <a:latin typeface="Arial"/>
              </a:rPr>
              <a:t> (linear solver, MC 10K)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Cloud / Infra:-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AWS / GCP Cloud Run, Docker containers, GitHub Actions CI/CD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1E3A8A"/>
                </a:solidFill>
                <a:latin typeface="Arial"/>
              </a:rPr>
              <a:t>Integrations:-</a:t>
            </a:r>
            <a:r>
              <a:rPr sz="1200" dirty="0">
                <a:solidFill>
                  <a:srgbClr val="0F172A"/>
                </a:solidFill>
                <a:latin typeface="Arial"/>
              </a:rPr>
              <a:t> Baltic API, Copernicus Marine Weather, Port Circulars, Spire AIS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 dirty="0">
                <a:solidFill>
                  <a:srgbClr val="1E3A8A"/>
                </a:solidFill>
                <a:latin typeface="Arial"/>
              </a:rPr>
              <a:t>• Process Flow :-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3566160"/>
            <a:ext cx="804672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1. Ingest
Baltic/AIS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216152" y="3621024"/>
            <a:ext cx="91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307592" y="3566160"/>
            <a:ext cx="804672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2. AI Model
Holt-Winters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112264" y="3621024"/>
            <a:ext cx="91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03704" y="3566160"/>
            <a:ext cx="804672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3. UKC Check
Tide/Draft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008376" y="3621024"/>
            <a:ext cx="91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099816" y="3566160"/>
            <a:ext cx="804672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4. Cost Solv
Min $/MT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904488" y="3621024"/>
            <a:ext cx="91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995928" y="3566160"/>
            <a:ext cx="804672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5. Hedging
Spot/COA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800600" y="3621024"/>
            <a:ext cx="91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892040" y="3566160"/>
            <a:ext cx="804672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6. Deploy
API &amp; ERP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11480" y="4160520"/>
            <a:ext cx="544068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502920" y="4206240"/>
            <a:ext cx="52578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Arial"/>
              </a:rPr>
              <a:t>• Project Links Demo:-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• Github: </a:t>
            </a:r>
            <a:r>
              <a:rPr sz="1200" b="0">
                <a:solidFill>
                  <a:srgbClr val="2563EB"/>
                </a:solidFill>
                <a:latin typeface="Arial"/>
              </a:rPr>
              <a:t>https://github.com/harikesh2709-creator/freight-forecast-pro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• Demo Live Prototype : </a:t>
            </a:r>
            <a:r>
              <a:rPr sz="1200" b="0">
                <a:solidFill>
                  <a:srgbClr val="2563EB"/>
                </a:solidFill>
                <a:latin typeface="Arial"/>
              </a:rPr>
              <a:t>http://localhost:5173  (React 19 + FastAPI)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• Prototype Video Link: </a:t>
            </a:r>
            <a:r>
              <a:rPr sz="1200" b="0">
                <a:solidFill>
                  <a:srgbClr val="2563EB"/>
                </a:solidFill>
                <a:latin typeface="Arial"/>
              </a:rPr>
              <a:t>YouTube Demo Video (2–3 mins Walkthrough)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• Product Status: </a:t>
            </a:r>
            <a:r>
              <a:rPr sz="1200" b="1">
                <a:solidFill>
                  <a:srgbClr val="10B981"/>
                </a:solidFill>
                <a:latin typeface="Arial"/>
              </a:rPr>
              <a:t>40% Completed (Core Engine, Live GIS, Forecasting Active)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939606" y="960120"/>
            <a:ext cx="5947594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8337314" y="941832"/>
            <a:ext cx="113653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Arial"/>
              </a:rPr>
              <a:t>FRONTEND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72200" y="1207008"/>
            <a:ext cx="8686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React 19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114032" y="1207008"/>
            <a:ext cx="82296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Next.js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010144" y="1207008"/>
            <a:ext cx="105156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TailwindCSS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134856" y="1207008"/>
            <a:ext cx="96012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Leaflet.js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10168128" y="1207008"/>
            <a:ext cx="8686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Chart.js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172200" y="1536192"/>
            <a:ext cx="13716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BACKEND / DB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172200" y="1737360"/>
            <a:ext cx="114300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Python 3.11+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388352" y="1737360"/>
            <a:ext cx="118872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FastAPI Async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650224" y="1737360"/>
            <a:ext cx="105156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PostgreSQL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9774936" y="1737360"/>
            <a:ext cx="114300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Redis Cache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172200" y="2066543"/>
            <a:ext cx="13716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AI / CLOUD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172200" y="2267711"/>
            <a:ext cx="10058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Statsmodels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251192" y="2267711"/>
            <a:ext cx="105156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Holt-Winters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375904" y="2267711"/>
            <a:ext cx="12344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Monte Carlo 10K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9683496" y="2267711"/>
            <a:ext cx="7772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Docker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10533888" y="2267711"/>
            <a:ext cx="10058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Arial"/>
              </a:rPr>
              <a:t>AWS / GCP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6172200" y="2633472"/>
            <a:ext cx="5623560" cy="2743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[LIVE GIS PROTOTYPE] Module 2: Satellite AIS Fleet Telematics &amp; Port Congestion Monitor</a:t>
            </a:r>
          </a:p>
        </p:txBody>
      </p:sp>
      <p:pic>
        <p:nvPicPr>
          <p:cNvPr id="17444" name="Picture 17443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926080"/>
            <a:ext cx="562356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600" b="1">
                <a:solidFill>
                  <a:srgbClr val="0F172A"/>
                </a:solidFill>
                <a:latin typeface="Arial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01168"/>
            <a:ext cx="164592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70624" y="1006036"/>
            <a:ext cx="5991848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396240" y="1276255"/>
            <a:ext cx="5574792" cy="48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Arial"/>
              </a:rPr>
              <a:t>Feasibility :-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Technical: </a:t>
            </a:r>
            <a:r>
              <a:rPr sz="1200" dirty="0">
                <a:solidFill>
                  <a:srgbClr val="0F172A"/>
                </a:solidFill>
                <a:latin typeface="Arial"/>
              </a:rPr>
              <a:t>Proven AI/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FastAPI</a:t>
            </a:r>
            <a:r>
              <a:rPr sz="1200" dirty="0">
                <a:solidFill>
                  <a:srgbClr val="0F172A"/>
                </a:solidFill>
                <a:latin typeface="Arial"/>
              </a:rPr>
              <a:t>/Redis stack → sub-35ms query latency; zero on-vessel sensors.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Economic: </a:t>
            </a:r>
            <a:r>
              <a:rPr sz="1200" dirty="0">
                <a:solidFill>
                  <a:srgbClr val="0F172A"/>
                </a:solidFill>
                <a:latin typeface="Arial"/>
              </a:rPr>
              <a:t>Open-source cloud architecture → low cost, rapid payback in under 22 days.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Operational: </a:t>
            </a:r>
            <a:r>
              <a:rPr sz="1200" dirty="0">
                <a:solidFill>
                  <a:srgbClr val="0F172A"/>
                </a:solidFill>
                <a:latin typeface="Arial"/>
              </a:rPr>
              <a:t>100% compliant with BIMCO charterparties; direct REST API for SAP/Oracle ERP.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• Social: </a:t>
            </a:r>
            <a:r>
              <a:rPr sz="1200" dirty="0">
                <a:solidFill>
                  <a:srgbClr val="0F172A"/>
                </a:solidFill>
                <a:latin typeface="Arial"/>
              </a:rPr>
              <a:t>Shields Indian power &amp; steel from global freight inflation, securing energy lines.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1E3A8A"/>
                </a:solidFill>
                <a:latin typeface="Arial"/>
              </a:rPr>
              <a:t>Potential Challenges:-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Geopolitical chokepoint blockades (Red Sea Cape diversions)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Riverine siltation &amp; shifting sandbars at ports like Haldia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Freight broker quote latency &amp; information asymmetry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Cyclone weather delays across Bay of Bengal trade routes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1E3A8A"/>
                </a:solidFill>
                <a:latin typeface="Arial"/>
              </a:rPr>
              <a:t>Mitigation Strategies:-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10,000-run Monte Carlo simulations insulate against Black Swan shock bounds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Official Major Port gazettes + astronomical tide solver guarantee UKC ≥ 1.5m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Redis in-memory caching with fallback to 5-year seasonal baseline datasets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Copernicus ocean weather curves adjust vessel speeds and fuel consumption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1E3A8A"/>
                </a:solidFill>
                <a:latin typeface="Arial"/>
              </a:rPr>
              <a:t>Viability &amp; Business Potential:-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PSU Bulk Procurement: Saves ₹18.4 Cr annually on 10 MT imported bulk coal.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Demurrage Elimination: Eliminates ₹6.2 Cr in annual berth waiting penalties.</a:t>
            </a: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Arial"/>
              </a:rPr>
              <a:t>• Tiered B2B SaaS Subscriptions for steel mills, power PSUs &amp; shipping agencies.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960120"/>
            <a:ext cx="57607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400800" y="1200679"/>
            <a:ext cx="5577840" cy="12618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1E3A8A"/>
                </a:solidFill>
                <a:latin typeface="Arial"/>
              </a:rPr>
              <a:t>Use Cases:-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Long-Term Charter Hedging: </a:t>
            </a:r>
            <a:r>
              <a:rPr sz="1100" dirty="0">
                <a:solidFill>
                  <a:srgbClr val="0F172A"/>
                </a:solidFill>
                <a:latin typeface="Arial"/>
              </a:rPr>
              <a:t>Quantifies spot exposure vs forward COA commitments, locking bottom rates.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Draught Parcel Sizing: </a:t>
            </a:r>
            <a:r>
              <a:rPr sz="1100" dirty="0">
                <a:solidFill>
                  <a:srgbClr val="0F172A"/>
                </a:solidFill>
                <a:latin typeface="Arial"/>
              </a:rPr>
              <a:t>Calculates safe cargo intake without grounding or dead-freight at Haldia/Paradip.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Demurrage Mitigation: </a:t>
            </a:r>
            <a:r>
              <a:rPr sz="1100" dirty="0">
                <a:solidFill>
                  <a:srgbClr val="0F172A"/>
                </a:solidFill>
                <a:latin typeface="Arial"/>
              </a:rPr>
              <a:t>Simulates vessel queue wait times and recommends alternative discharge berths.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217920" y="2148840"/>
            <a:ext cx="5577840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[LIVE RISK CONSOLE] Real-Time Surcharge &amp; Weather Risk Detection in Action</a:t>
            </a:r>
          </a:p>
        </p:txBody>
      </p:sp>
      <p:pic>
        <p:nvPicPr>
          <p:cNvPr id="17415" name="Picture 17414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404872"/>
            <a:ext cx="5577840" cy="1691640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6217920" y="4160520"/>
            <a:ext cx="5577840" cy="199798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6291072" y="4206240"/>
            <a:ext cx="5568696" cy="1997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92400E"/>
                </a:solidFill>
                <a:latin typeface="Arial"/>
              </a:rPr>
              <a:t>SUPPORTING FACTS FOR FEASIBILITY AND VIABILITY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92400E"/>
                </a:solidFill>
                <a:latin typeface="Arial"/>
              </a:rPr>
              <a:t>• 14.2% – 18.5% Net Freight Savings: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Backtested</a:t>
            </a:r>
            <a:r>
              <a:rPr sz="1050" dirty="0">
                <a:solidFill>
                  <a:srgbClr val="0F172A"/>
                </a:solidFill>
                <a:latin typeface="Arial"/>
              </a:rPr>
              <a:t> across 5-year Baltic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Capesize</a:t>
            </a:r>
            <a:r>
              <a:rPr sz="1050" dirty="0">
                <a:solidFill>
                  <a:srgbClr val="0F172A"/>
                </a:solidFill>
                <a:latin typeface="Arial"/>
              </a:rPr>
              <a:t> fixtures for Indian coal (saves ₹18.4 Cr per 10 MT cargo).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92400E"/>
                </a:solidFill>
                <a:latin typeface="Arial"/>
              </a:rPr>
              <a:t>• $15,000 – $30,000 Daily Demurrage Avoided: </a:t>
            </a:r>
            <a:r>
              <a:rPr sz="1050" dirty="0">
                <a:solidFill>
                  <a:srgbClr val="0F172A"/>
                </a:solidFill>
                <a:latin typeface="Arial"/>
              </a:rPr>
              <a:t>Berth congestion forecasting eliminates idle vessel anchorage wait charges ($22.5K/day).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92400E"/>
                </a:solidFill>
                <a:latin typeface="Arial"/>
              </a:rPr>
              <a:t>• Sub-35ms Edge Query Latency: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FastAPI</a:t>
            </a:r>
            <a:r>
              <a:rPr sz="1050" dirty="0">
                <a:solidFill>
                  <a:srgbClr val="0F172A"/>
                </a:solidFill>
                <a:latin typeface="Arial"/>
              </a:rPr>
              <a:t> async engine + Redis in-memory cache computes multi-corridor landed cost in real time.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92400E"/>
                </a:solidFill>
                <a:latin typeface="Arial"/>
              </a:rPr>
              <a:t>• Zero Grounding &amp; Dead-Freight Guarantee: </a:t>
            </a:r>
            <a:r>
              <a:rPr sz="1050" dirty="0">
                <a:solidFill>
                  <a:srgbClr val="0F172A"/>
                </a:solidFill>
                <a:latin typeface="Arial"/>
              </a:rPr>
              <a:t>Astronomical tidal hydrodynamics engine enforces UKC ≥ 1.5m against official Port gazettes.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92400E"/>
                </a:solidFill>
                <a:latin typeface="Arial"/>
              </a:rPr>
              <a:t>• Rapid 22-Day Payback Period: </a:t>
            </a:r>
            <a:r>
              <a:rPr sz="1050" dirty="0">
                <a:solidFill>
                  <a:srgbClr val="0F172A"/>
                </a:solidFill>
                <a:latin typeface="Arial"/>
              </a:rPr>
              <a:t>Enterprise deployment costs are amortized within the first 3 chartered bulk shipments.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600" b="1" dirty="0">
                <a:solidFill>
                  <a:srgbClr val="0F172A"/>
                </a:solidFill>
                <a:latin typeface="Arial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01168"/>
            <a:ext cx="164592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960120"/>
            <a:ext cx="3977639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497344" y="1106424"/>
            <a:ext cx="3794760" cy="2669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1E3A8A"/>
                </a:solidFill>
                <a:latin typeface="Arial"/>
              </a:rPr>
              <a:t>Potential impact on audience:-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• Steel &amp; Power PSUs (SAIL, NTPC): </a:t>
            </a:r>
            <a:r>
              <a:rPr sz="1050" dirty="0">
                <a:solidFill>
                  <a:srgbClr val="0F172A"/>
                </a:solidFill>
                <a:latin typeface="Arial"/>
              </a:rPr>
              <a:t>Saves ₹15–₹50+ Cr annually by securing bottom-cycle rates.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• Major Port Trusts (Paradip, Haldia): </a:t>
            </a:r>
            <a:r>
              <a:rPr sz="1050" dirty="0">
                <a:solidFill>
                  <a:srgbClr val="0F172A"/>
                </a:solidFill>
                <a:latin typeface="Arial"/>
              </a:rPr>
              <a:t>Eliminates berth congestion and optimizes turnarounds.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• Chartering &amp; Procurement Desks: </a:t>
            </a:r>
            <a:r>
              <a:rPr sz="1050" dirty="0">
                <a:solidFill>
                  <a:srgbClr val="0F172A"/>
                </a:solidFill>
                <a:latin typeface="Arial"/>
              </a:rPr>
              <a:t>Replaces manual Excel sheets with automated decision models.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• National Maritime Economy: </a:t>
            </a:r>
            <a:r>
              <a:rPr sz="1050" dirty="0">
                <a:solidFill>
                  <a:srgbClr val="0F172A"/>
                </a:solidFill>
                <a:latin typeface="Arial"/>
              </a:rPr>
              <a:t>Secures vital coking coal and raw material industrial supply chains.</a:t>
            </a:r>
          </a:p>
          <a:p>
            <a:pPr>
              <a:spcBef>
                <a:spcPts val="400"/>
              </a:spcBef>
            </a:pPr>
            <a:r>
              <a:rPr sz="1050" b="1" dirty="0">
                <a:solidFill>
                  <a:srgbClr val="1E3A8A"/>
                </a:solidFill>
                <a:latin typeface="Arial"/>
              </a:rPr>
              <a:t>• Key Maritime Logistics Insights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• Freight represents up to 35% of landed cost for imported coal.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• Demurrage drains over ₹6,000 Cr annually across Indian bulk ports.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• 85%+ of domestic chartering decisions rely on static spreadsheets.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97679" y="960120"/>
            <a:ext cx="4023361" cy="3011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4526280" y="1005840"/>
            <a:ext cx="370332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1100" b="1" dirty="0">
                <a:solidFill>
                  <a:srgbClr val="1E3A8A"/>
                </a:solidFill>
                <a:latin typeface="Arial"/>
              </a:rPr>
              <a:t>     </a:t>
            </a:r>
            <a:r>
              <a:rPr sz="1400" b="1" dirty="0">
                <a:solidFill>
                  <a:srgbClr val="1E3A8A"/>
                </a:solidFill>
                <a:latin typeface="Arial"/>
              </a:rPr>
              <a:t>Unique Outcomes from Solution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Freight Cost Reduction: </a:t>
            </a:r>
            <a:r>
              <a:rPr sz="1100" dirty="0">
                <a:solidFill>
                  <a:srgbClr val="0F172A"/>
                </a:solidFill>
                <a:latin typeface="Arial"/>
              </a:rPr>
              <a:t>14.2% to 18.5% net freight cut via predictive charter timing and forward COA recommendations.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Demurrage Elimination: </a:t>
            </a:r>
            <a:r>
              <a:rPr sz="1100" dirty="0">
                <a:solidFill>
                  <a:srgbClr val="0F172A"/>
                </a:solidFill>
                <a:latin typeface="Arial"/>
              </a:rPr>
              <a:t>Saves up to 92% of idle berth wait penalties ($15K–$30K/day avoided) through tidal synchronization.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100% Seaworthiness: </a:t>
            </a:r>
            <a:r>
              <a:rPr sz="1100" dirty="0">
                <a:solidFill>
                  <a:srgbClr val="0F172A"/>
                </a:solidFill>
                <a:latin typeface="Arial"/>
              </a:rPr>
              <a:t>Zero grounding guarantee via dynamic UKC ≥ 1.5m verification against official Port gazettes.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Decarbonization (IMO 2030): </a:t>
            </a:r>
            <a:r>
              <a:rPr sz="1100" dirty="0">
                <a:solidFill>
                  <a:srgbClr val="0F172A"/>
                </a:solidFill>
                <a:latin typeface="Arial"/>
              </a:rPr>
              <a:t>11.8% reduction in voyage fuel burn and GHG emissions through weather-optimized routing.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Real-Time Simulation: </a:t>
            </a:r>
            <a:r>
              <a:rPr sz="1100" dirty="0">
                <a:solidFill>
                  <a:srgbClr val="0F172A"/>
                </a:solidFill>
                <a:latin typeface="Arial"/>
              </a:rPr>
              <a:t>Computes 10,000 Monte Carlo route scenarios in under 2 seconds for rapid executive decisions.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458200" y="96012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8503920" y="1005840"/>
            <a:ext cx="3337560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[ROI SIMULATOR] ₹24.8 Cr Forward Hedge Saving</a:t>
            </a:r>
          </a:p>
        </p:txBody>
      </p:sp>
      <p:pic>
        <p:nvPicPr>
          <p:cNvPr id="17416" name="Picture 17415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298448"/>
            <a:ext cx="3337560" cy="256032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320040" y="4005072"/>
            <a:ext cx="1156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Arial"/>
              </a:rPr>
              <a:t>• Benefits of the Solution (Social, Economic, Environmental)</a:t>
            </a:r>
          </a:p>
        </p:txBody>
      </p:sp>
      <p:graphicFrame>
        <p:nvGraphicFramePr>
          <p:cNvPr id="17418" name="Table 174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894823"/>
              </p:ext>
            </p:extLst>
          </p:nvPr>
        </p:nvGraphicFramePr>
        <p:xfrm>
          <a:off x="320040" y="4297680"/>
          <a:ext cx="11567160" cy="245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/>
                      <a:endParaRPr sz="1000" b="1" dirty="0">
                        <a:solidFill>
                          <a:srgbClr val="1E3A8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00" b="1">
                        <a:solidFill>
                          <a:srgbClr val="1E3A8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00" b="1" dirty="0">
                        <a:solidFill>
                          <a:srgbClr val="1E3A8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9435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E3A8A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3A8A"/>
                          </a:solidFill>
                          <a:latin typeface="Arial"/>
                        </a:rPr>
                        <a:t>Benefit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3A8A"/>
                          </a:solidFill>
                          <a:latin typeface="Arial"/>
                        </a:rPr>
                        <a:t>Supporting Example / Measurable Metric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Arial"/>
                        </a:rPr>
                        <a:t>Social &amp; Strategic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National Supply Chain Security &amp; Energy Price Stability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Arial"/>
                        </a:rPr>
                        <a:t>Shields Indian power tariffs and infrastructure steel from global shipping volatility; guarantees uninterrupted coking coal inflows.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Arial"/>
                        </a:rPr>
                        <a:t>Economic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₹28.4 Cr Annual Cost Savings per 10 MT Imported Cargo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Arial"/>
                        </a:rPr>
                        <a:t>Saves ₹18.4 Cr via predictive freight timing (14.2% cut), ₹6.2 Cr via demurrage elimination, and ₹3.8 Cr through bunker fuel speed curves.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Arial"/>
                        </a:rPr>
                        <a:t>Environmental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F172A"/>
                          </a:solidFill>
                          <a:latin typeface="Arial"/>
                        </a:rPr>
                        <a:t>11.8% Maritime Carbon Intensity Reduction (IMO 2030)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F172A"/>
                          </a:solidFill>
                          <a:latin typeface="Arial"/>
                        </a:rPr>
                        <a:t>Hydrodynamic route &amp; parcel optimization reduces VLSFO bunker fuel burn; aligns with IMO Carbon Intensity Indicator (CII) targets.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600" b="1">
                <a:solidFill>
                  <a:srgbClr val="0F172A"/>
                </a:solidFill>
                <a:latin typeface="Arial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01168"/>
            <a:ext cx="164592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94488" y="960120"/>
            <a:ext cx="402031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434340" y="1112085"/>
            <a:ext cx="3611880" cy="2828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Arial"/>
              </a:rPr>
              <a:t>Research Papers:-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a. Stopford, M., </a:t>
            </a:r>
            <a:r>
              <a:rPr sz="1100" dirty="0">
                <a:solidFill>
                  <a:srgbClr val="0F172A"/>
                </a:solidFill>
                <a:latin typeface="Arial"/>
              </a:rPr>
              <a:t>“Maritime Economics (3rd Ed),” Routledge. Shipping freight cycles, market balance &amp; ton-mile elasticity.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b. Hyndman, R.J., </a:t>
            </a:r>
            <a:r>
              <a:rPr sz="1100" dirty="0">
                <a:solidFill>
                  <a:srgbClr val="0F172A"/>
                </a:solidFill>
                <a:latin typeface="Arial"/>
              </a:rPr>
              <a:t>“Forecasting: Principles &amp; Practice,”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OTexts</a:t>
            </a:r>
            <a:r>
              <a:rPr sz="1100" dirty="0">
                <a:solidFill>
                  <a:srgbClr val="0F172A"/>
                </a:solidFill>
                <a:latin typeface="Arial"/>
              </a:rPr>
              <a:t>. Multi-seasonal Holt-Winters on freight indices.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c. Alizadeh, A.H., </a:t>
            </a:r>
            <a:r>
              <a:rPr sz="1100" dirty="0">
                <a:solidFill>
                  <a:srgbClr val="0F172A"/>
                </a:solidFill>
                <a:latin typeface="Arial"/>
              </a:rPr>
              <a:t>“Investment Strategies in Shipping,” Palgrave. FFA &amp; spot hedging models.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1E3A8A"/>
                </a:solidFill>
                <a:latin typeface="Arial"/>
              </a:rPr>
              <a:t>Maritime Standards &amp; Circulars:-</a:t>
            </a:r>
          </a:p>
          <a:p>
            <a:pPr>
              <a:spcBef>
                <a:spcPts val="1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a. BIMCO Standard Contracts: </a:t>
            </a:r>
            <a:r>
              <a:rPr sz="1100" dirty="0">
                <a:solidFill>
                  <a:srgbClr val="0F172A"/>
                </a:solidFill>
                <a:latin typeface="Arial"/>
              </a:rPr>
              <a:t>GENCON 1994 (Voyage) &amp; NYPE 2015.</a:t>
            </a:r>
          </a:p>
          <a:p>
            <a:pPr>
              <a:spcBef>
                <a:spcPts val="1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b. Ministry of Shipping: </a:t>
            </a:r>
            <a:r>
              <a:rPr sz="1100" dirty="0">
                <a:solidFill>
                  <a:srgbClr val="0F172A"/>
                </a:solidFill>
                <a:latin typeface="Arial"/>
              </a:rPr>
              <a:t>Maritime India Vision 2030 Policy Framework.</a:t>
            </a:r>
          </a:p>
          <a:p>
            <a:pPr>
              <a:spcBef>
                <a:spcPts val="1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c. Indian Port Authorities: </a:t>
            </a:r>
            <a:r>
              <a:rPr sz="1100" dirty="0">
                <a:solidFill>
                  <a:srgbClr val="0F172A"/>
                </a:solidFill>
                <a:latin typeface="Arial"/>
              </a:rPr>
              <a:t>Draft Circulars (Paradip, Haldia, Vizag).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11480" y="3977639"/>
            <a:ext cx="36118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475488" y="4005072"/>
            <a:ext cx="3474720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Arial"/>
              </a:rPr>
              <a:t>• Project Links Demo:-</a:t>
            </a:r>
          </a:p>
          <a:p>
            <a:pPr>
              <a:spcBef>
                <a:spcPts val="1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• Github: </a:t>
            </a:r>
            <a:r>
              <a:rPr sz="1400">
                <a:solidFill>
                  <a:srgbClr val="2563EB"/>
                </a:solidFill>
                <a:latin typeface="Arial"/>
              </a:rPr>
              <a:t>https://github.com/.../freight-forecast-pro</a:t>
            </a:r>
          </a:p>
          <a:p>
            <a:pPr>
              <a:spcBef>
                <a:spcPts val="1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• Demo Prototype: </a:t>
            </a:r>
            <a:r>
              <a:rPr sz="1400">
                <a:solidFill>
                  <a:srgbClr val="2563EB"/>
                </a:solidFill>
                <a:latin typeface="Arial"/>
              </a:rPr>
              <a:t>http://localhost:5173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46079"/>
              </p:ext>
            </p:extLst>
          </p:nvPr>
        </p:nvGraphicFramePr>
        <p:xfrm>
          <a:off x="4206240" y="960120"/>
          <a:ext cx="47091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Arial"/>
                        </a:rPr>
                        <a:t>Manual Excel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Arial"/>
                        </a:rPr>
                        <a:t>S&amp;P Platts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Arial"/>
                        </a:rPr>
                        <a:t>FreightForecast
Pro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1. 90-Day Predictive Rate Forecast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59669"/>
                          </a:solidFill>
                          <a:latin typeface="Arial"/>
                        </a:rPr>
                        <a:t>[✔]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2. Dynamic Tidal UKC Hydrodynamics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59669"/>
                          </a:solidFill>
                          <a:latin typeface="Arial"/>
                        </a:rPr>
                        <a:t>[✔]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3. Landed Cost ($/MT) Multi-Corridor Solver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59669"/>
                          </a:solidFill>
                          <a:latin typeface="Arial"/>
                        </a:rPr>
                        <a:t>[✔]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4. Spot vs COA Contract Hedging Advisor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59669"/>
                          </a:solidFill>
                          <a:latin typeface="Arial"/>
                        </a:rPr>
                        <a:t>[✔]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5. Real-Time Satellite AIS Vessel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59669"/>
                          </a:solidFill>
                          <a:latin typeface="Arial"/>
                        </a:rPr>
                        <a:t>[✔]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59669"/>
                          </a:solidFill>
                          <a:latin typeface="Arial"/>
                        </a:rPr>
                        <a:t>[✔]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6. Demurrage Risk &amp; Laytime Calculator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59669"/>
                          </a:solidFill>
                          <a:latin typeface="Arial"/>
                        </a:rPr>
                        <a:t>[✔]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7. Indian Major Port Gazette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59669"/>
                          </a:solidFill>
                          <a:latin typeface="Arial"/>
                        </a:rPr>
                        <a:t>[✔]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F172A"/>
                          </a:solidFill>
                          <a:latin typeface="Arial"/>
                        </a:rPr>
                        <a:t>8. Enterprise ERP Integration (SAP/Oracle)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C2626"/>
                          </a:solidFill>
                          <a:latin typeface="Arial"/>
                        </a:rPr>
                        <a:t>[✖]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059669"/>
                          </a:solidFill>
                          <a:latin typeface="Arial"/>
                        </a:rPr>
                        <a:t>[✔]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415" name="Rounded Rectangle 17414"/>
          <p:cNvSpPr/>
          <p:nvPr/>
        </p:nvSpPr>
        <p:spPr>
          <a:xfrm>
            <a:off x="9006840" y="960120"/>
            <a:ext cx="2880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 17415"/>
          <p:cNvSpPr/>
          <p:nvPr/>
        </p:nvSpPr>
        <p:spPr>
          <a:xfrm>
            <a:off x="9052560" y="1005840"/>
            <a:ext cx="2788920" cy="32918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[GROUND-TRUTH] Port Circulars
Haldia, Paradip &amp; Vizag Drafts</a:t>
            </a:r>
          </a:p>
        </p:txBody>
      </p:sp>
      <p:pic>
        <p:nvPicPr>
          <p:cNvPr id="17417" name="Picture 17416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371600"/>
            <a:ext cx="3090672" cy="388620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320040" y="5193792"/>
            <a:ext cx="11567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3A8A"/>
                </a:solidFill>
                <a:latin typeface="Arial"/>
              </a:rPr>
              <a:t>• Research Flow :-</a:t>
            </a:r>
          </a:p>
        </p:txBody>
      </p:sp>
      <p:sp>
        <p:nvSpPr>
          <p:cNvPr id="17419" name="Chevron 17418"/>
          <p:cNvSpPr/>
          <p:nvPr/>
        </p:nvSpPr>
        <p:spPr>
          <a:xfrm>
            <a:off x="320040" y="5449824"/>
            <a:ext cx="1389888" cy="502920"/>
          </a:xfrm>
          <a:prstGeom prst="chevron">
            <a:avLst/>
          </a:prstGeom>
          <a:solidFill>
            <a:srgbClr val="1E3A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Problem
Identification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1755648" y="5468112"/>
            <a:ext cx="1389888" cy="5029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Literature &amp;
Market Study</a:t>
            </a:r>
          </a:p>
        </p:txBody>
      </p:sp>
      <p:sp>
        <p:nvSpPr>
          <p:cNvPr id="17421" name="Chevron 17420"/>
          <p:cNvSpPr/>
          <p:nvPr/>
        </p:nvSpPr>
        <p:spPr>
          <a:xfrm>
            <a:off x="3191256" y="5468112"/>
            <a:ext cx="1389888" cy="5029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Gap
Analysis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4626864" y="5468112"/>
            <a:ext cx="1389888" cy="5029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Technology
Exploration</a:t>
            </a:r>
          </a:p>
        </p:txBody>
      </p:sp>
      <p:sp>
        <p:nvSpPr>
          <p:cNvPr id="17423" name="Chevron 17422"/>
          <p:cNvSpPr/>
          <p:nvPr/>
        </p:nvSpPr>
        <p:spPr>
          <a:xfrm>
            <a:off x="6062472" y="5468112"/>
            <a:ext cx="1517904" cy="5029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Hydrodynamic
Modeling</a:t>
            </a:r>
          </a:p>
        </p:txBody>
      </p:sp>
      <p:sp>
        <p:nvSpPr>
          <p:cNvPr id="17424" name="Chevron 17423"/>
          <p:cNvSpPr/>
          <p:nvPr/>
        </p:nvSpPr>
        <p:spPr>
          <a:xfrm>
            <a:off x="7498080" y="5468112"/>
            <a:ext cx="1389888" cy="5029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Validation &amp;
Feasibility</a:t>
            </a:r>
          </a:p>
        </p:txBody>
      </p:sp>
      <p:sp>
        <p:nvSpPr>
          <p:cNvPr id="17425" name="Chevron 17424"/>
          <p:cNvSpPr/>
          <p:nvPr/>
        </p:nvSpPr>
        <p:spPr>
          <a:xfrm>
            <a:off x="8933688" y="5468112"/>
            <a:ext cx="1389888" cy="502920"/>
          </a:xfrm>
          <a:prstGeom prst="chevron">
            <a:avLst/>
          </a:prstGeom>
          <a:solidFill>
            <a:srgbClr val="1E3A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Proposed
Solution Design</a:t>
            </a:r>
          </a:p>
        </p:txBody>
      </p:sp>
      <p:sp>
        <p:nvSpPr>
          <p:cNvPr id="17426" name="Chevron 17425"/>
          <p:cNvSpPr/>
          <p:nvPr/>
        </p:nvSpPr>
        <p:spPr>
          <a:xfrm>
            <a:off x="10369296" y="5468112"/>
            <a:ext cx="1389888" cy="502920"/>
          </a:xfrm>
          <a:prstGeom prst="chevron">
            <a:avLst/>
          </a:prstGeom>
          <a:solidFill>
            <a:srgbClr val="1E3A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FreightForecast
Ecosystem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7518</TotalTime>
  <Words>1829</Words>
  <Application>Microsoft Office PowerPoint</Application>
  <PresentationFormat>Widescreen</PresentationFormat>
  <Paragraphs>208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FreightForecast Pro: Predictive Chartering &amp; Route Optimizer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Futuristic gxt</cp:lastModifiedBy>
  <cp:revision>154</cp:revision>
  <dcterms:created xsi:type="dcterms:W3CDTF">2013-12-12T18:46:50Z</dcterms:created>
  <dcterms:modified xsi:type="dcterms:W3CDTF">2026-09-21T12:42:59Z</dcterms:modified>
  <cp:category/>
</cp:coreProperties>
</file>