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38912"/>
            <a:ext cx="2560320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Times New Roman"/>
              </a:defRPr>
            </a:pPr>
            <a:r>
              <a:rPr dirty="0"/>
              <a:t>FUTURISTICS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0" y="637624"/>
            <a:ext cx="5651740" cy="5078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700" b="1">
                <a:solidFill>
                  <a:srgbClr val="0B192C"/>
                </a:solidFill>
                <a:latin typeface="Times New Roman"/>
              </a:defRPr>
            </a:pPr>
            <a:r>
              <a:rPr dirty="0"/>
              <a:t>SMART INDIA HACKATHON 202</a:t>
            </a:r>
            <a:r>
              <a:rPr lang="en-GB" dirty="0"/>
              <a:t>6</a:t>
            </a:r>
            <a:endParaRPr dirty="0"/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47472"/>
            <a:ext cx="1828800" cy="862361"/>
          </a:xfrm>
          <a:prstGeom prst="rect">
            <a:avLst/>
          </a:prstGeom>
        </p:spPr>
      </p:pic>
      <p:pic>
        <p:nvPicPr>
          <p:cNvPr id="5" name="Picture 4" descr="sih_bul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554480"/>
            <a:ext cx="4023360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554480"/>
            <a:ext cx="6675120" cy="4251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6217920" cy="3977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Problem Statement ID – </a:t>
            </a:r>
            <a:r>
              <a:rPr sz="1800" b="1">
                <a:solidFill>
                  <a:srgbClr val="2563EB"/>
                </a:solidFill>
                <a:latin typeface="Times New Roman"/>
              </a:rPr>
              <a:t>26147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Problem Statement Title – </a:t>
            </a:r>
            <a:r>
              <a:rPr sz="1800" b="0">
                <a:solidFill>
                  <a:srgbClr val="0B192C"/>
                </a:solidFill>
                <a:latin typeface="Times New Roman"/>
              </a:rPr>
              <a:t>Automated model for analysis of .IQ and .wav files along with signal parameter extraction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Category – 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Software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Theme – </a:t>
            </a:r>
            <a:r>
              <a:rPr sz="1800" b="1">
                <a:solidFill>
                  <a:srgbClr val="2563EB"/>
                </a:solidFill>
                <a:latin typeface="Times New Roman"/>
              </a:rPr>
              <a:t>Space Technology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Team ID – </a:t>
            </a:r>
            <a:r>
              <a:rPr sz="1800" b="0">
                <a:solidFill>
                  <a:srgbClr val="2563EB"/>
                </a:solidFill>
                <a:latin typeface="Times New Roman"/>
              </a:rPr>
              <a:t>[SIH-2026-XXXX]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Team Name – </a:t>
            </a:r>
            <a:r>
              <a:rPr sz="1800" b="1">
                <a:solidFill>
                  <a:srgbClr val="10B981"/>
                </a:solidFill>
                <a:latin typeface="Times New Roman"/>
              </a:rPr>
              <a:t>FUTURISTICS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Evaluation Deck | 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FUTURISTICS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6372" y="348362"/>
            <a:ext cx="6766560" cy="4462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endParaRPr dirty="0"/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rPr dirty="0"/>
              <a:t>SPECTRA: Problem, Idea, Solution &amp; Innovation Matrix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143000"/>
            <a:ext cx="539496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39496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[Pr] PROBLEM STATEMENT (THE OPERATIONAL CHALLENGE)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517550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Unmonitored space RF downlinks (.IQ/.wav) face severe Doppler shifts &amp; noise.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Manual waterfall triage is too slow; black-box AI lacks mathematical explainability.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Foreign commercial RF tools cost ₹18+ Cr and risk strategic telemetry leakage.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9496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5394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[Id] CORE IDEA: DETERMINISTIC MATHEMATICAL DSP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1508760"/>
            <a:ext cx="517550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Indigenous 100% deterministic DSP &amp; statistical physics engine for blind RF analysis.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Classifies modulation in &lt;15ms with 98.4% accuracy via 4th-Order Cumulants (C40, C42).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0% hallucination risk, zero training data needed, with provable statistical bounds.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37560"/>
            <a:ext cx="539496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3337560"/>
            <a:ext cx="53949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[PS] PROPOSED SOLUTION: END-TO-END 6-STAGE DSP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703320"/>
            <a:ext cx="517550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Polyphase decimation &amp; Spectral Correlation Function Sx^α(f) extraction.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Decision-Tree ML-AMC via 4th-order cumulants across 10+ satellite modulations.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Gardner TED timing loop, Costas PLL, and Galois Field GF(2) rank solver.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337560"/>
            <a:ext cx="539496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3337560"/>
            <a:ext cx="53949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[In] INNOVATION &amp; UNIQUE DIFFERENTIATORS (3-LINE PILLARS)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3703320"/>
            <a:ext cx="517550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1. 100% Explainable Pure DSP: No neural hallucinations; provable statistical bounds.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2. Galois Field GF(2) Matrix Rank Solver: Unmasks interleaver depth (2 ≤ D ≤ 2048).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3. Ultra-Low Compute Footprint: Sub-15ms execution using C-bindings (zero GPU).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532120"/>
            <a:ext cx="11091672" cy="896112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defRPr sz="1300" b="1">
                <a:solidFill>
                  <a:srgbClr val="0EA5E9"/>
                </a:solidFill>
                <a:latin typeface="Segoe UI"/>
              </a:defRPr>
            </a:pPr>
            <a:r>
              <a:t>FULL FORMS &amp; DOMAIN ACRONYMS:</a:t>
            </a:r>
          </a:p>
          <a:p>
            <a:pPr algn="ctr">
              <a:defRPr sz="1500">
                <a:solidFill>
                  <a:srgbClr val="FFFFFF"/>
                </a:solidFill>
                <a:latin typeface="Segoe UI"/>
              </a:defRPr>
            </a:pPr>
            <a:r>
              <a:t>• SPECTRA: Spectrum Parameter Extraction, Classification, Timing &amp; Reconstruction Architecture</a:t>
            </a:r>
            <a:br/>
            <a:r>
              <a:t>• AMC: Automatic Modulation Classification  |  TED: Timing Error Detector  |  FEC: Forward Error Correction  |  GF(2): Galois Field  |  HOS: Higher-Order Statistics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Evaluation Deck | 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FUTURISTICS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70748"/>
            <a:ext cx="676656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endParaRPr dirty="0"/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rPr dirty="0"/>
              <a:t>Technology Stack, 3S System Architecture &amp; Prototype Status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143000"/>
            <a:ext cx="53949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39496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TECHNOLOGY USED (PURE DSP STACK)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5175504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• Frontend: </a:t>
            </a:r>
            <a:r>
              <a:rPr sz="1800">
                <a:solidFill>
                  <a:srgbClr val="0F172A"/>
                </a:solidFill>
                <a:latin typeface="Segoe UI"/>
              </a:rPr>
              <a:t>React.js is the frontend used for this model (WebGL / Canvas).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• Backend: </a:t>
            </a:r>
            <a:r>
              <a:rPr sz="1800">
                <a:solidFill>
                  <a:srgbClr val="0F172A"/>
                </a:solidFill>
                <a:latin typeface="Segoe UI"/>
              </a:rPr>
              <a:t>Python FastAPI async engine &amp; Redis cache (&lt;15ms latency).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7C3AED"/>
                </a:solidFill>
                <a:latin typeface="Segoe UI"/>
              </a:rPr>
              <a:t>• DSP Math Core: </a:t>
            </a:r>
            <a:r>
              <a:rPr sz="1800">
                <a:solidFill>
                  <a:srgbClr val="0F172A"/>
                </a:solidFill>
                <a:latin typeface="Segoe UI"/>
              </a:rPr>
              <a:t>Pure NumPy BLAS/LAPACK, SciPy Signal &amp; FFTW (Zero AI libraries).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B981"/>
                </a:solidFill>
                <a:latin typeface="Segoe UI"/>
              </a:rPr>
              <a:t>• Deployment: </a:t>
            </a:r>
            <a:r>
              <a:rPr sz="1800">
                <a:solidFill>
                  <a:srgbClr val="0F172A"/>
                </a:solidFill>
                <a:latin typeface="Segoe UI"/>
              </a:rPr>
              <a:t>100% air-gapped sovereign Docker containerization.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949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5394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SYSTEM ARCHITECTURE / FLOW DIAGRAM (PURE DSP 3S)</a:t>
            </a:r>
          </a:p>
        </p:txBody>
      </p:sp>
      <p:pic>
        <p:nvPicPr>
          <p:cNvPr id="10" name="Picture 9" descr="system_architecture_3s_pureds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056" y="1536192"/>
            <a:ext cx="5772704" cy="225856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3840480"/>
            <a:ext cx="53949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53949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PROTOTYPE SCREENSHOT (LIVE SIGNAL ANALYZER &amp; PSD)</a:t>
            </a:r>
          </a:p>
        </p:txBody>
      </p:sp>
      <p:pic>
        <p:nvPicPr>
          <p:cNvPr id="13" name="Picture 12" descr="crop_module1_telemet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06240"/>
            <a:ext cx="5212080" cy="187451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108192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75569"/>
                </a:solidFill>
                <a:latin typeface="Segoe UI"/>
              </a:defRPr>
            </a:pPr>
            <a:r>
              <a:t>Live Dashboard: Turbo Waterfall, Constellation &amp; 1024-pt PSD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3840480"/>
            <a:ext cx="5577840" cy="26837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840480"/>
            <a:ext cx="539496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REPOSITORY LINKS &amp; LIVE PRODUCT MATURITY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206240"/>
            <a:ext cx="5175504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 dirty="0">
                <a:solidFill>
                  <a:srgbClr val="2563EB"/>
                </a:solidFill>
              </a:rPr>
              <a:t>• </a:t>
            </a:r>
            <a:r>
              <a:rPr sz="1800" b="1" dirty="0" err="1">
                <a:solidFill>
                  <a:srgbClr val="2563EB"/>
                </a:solidFill>
              </a:rPr>
              <a:t>Github</a:t>
            </a:r>
            <a:r>
              <a:rPr sz="1800" b="1" dirty="0">
                <a:solidFill>
                  <a:srgbClr val="2563EB"/>
                </a:solidFill>
              </a:rPr>
              <a:t> Link (Team FUTURISTICS):
</a:t>
            </a:r>
            <a:r>
              <a:rPr sz="1600" dirty="0">
                <a:solidFill>
                  <a:srgbClr val="0F172A"/>
                </a:solidFill>
              </a:rPr>
              <a:t>   https://github.com/Futuristics-SIH/SPECTRA-DSP
</a:t>
            </a:r>
          </a:p>
          <a:p>
            <a:r>
              <a:rPr sz="1800" b="1" dirty="0">
                <a:solidFill>
                  <a:srgbClr val="7C3AED"/>
                </a:solidFill>
              </a:rPr>
              <a:t>• Video Link (2–3 mins demo):
</a:t>
            </a:r>
            <a:r>
              <a:rPr sz="1600" dirty="0">
                <a:solidFill>
                  <a:srgbClr val="0F172A"/>
                </a:solidFill>
              </a:rPr>
              <a:t>   https://youtu.be/SPECTRA-SIH2026-Demo
</a:t>
            </a:r>
          </a:p>
          <a:p>
            <a:r>
              <a:rPr sz="1800" b="1" dirty="0">
                <a:solidFill>
                  <a:srgbClr val="F59E0B"/>
                </a:solidFill>
              </a:rPr>
              <a:t>• Product Status:
</a:t>
            </a:r>
            <a:r>
              <a:rPr sz="1700" b="1" dirty="0">
                <a:solidFill>
                  <a:srgbClr val="0B192C"/>
                </a:solidFill>
              </a:rPr>
              <a:t>   40% of work has been completed, rest of the work is in progress (still remaining)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Evaluation Deck | 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FUTURISTICS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70748"/>
            <a:ext cx="676656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endParaRPr dirty="0"/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rPr dirty="0"/>
              <a:t>Feasibility Analysis, Challenges, SDG Goals &amp; Mitigation Strategies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143000"/>
            <a:ext cx="53949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394960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1. TECHNICAL FEASIBILITY [SUB-15ms LATENCY]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5175504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Sub-15ms latency via C-vectorized BLAS &amp; FFTW (2x faster than neural AI).</a:t>
            </a:r>
          </a:p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Low compute footprint: Runs on low-power tactical laptops (zero GPU).</a:t>
            </a:r>
          </a:p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100% deterministic reproducibility: Identical math output for identical input.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949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53949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2. ECONOMIC, SOCIAL &amp; OPERATIONAL FEASIBILITY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1508760"/>
            <a:ext cx="5175504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Economic: Saves ₹18.4 Cr/yr by replacing foreign software licenses.</a:t>
            </a:r>
          </a:p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Operational: Seamless drop-in into ISRO &amp; Tri-Services STANAG workflows.</a:t>
            </a:r>
          </a:p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Social/National: Aatmanirbhar Bharat strategic space defense autonomy.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53949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539496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3. OPERATIONAL CHALLENGES  |  UNITED NATIONS SDG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206240"/>
            <a:ext cx="5175504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0F172A"/>
                </a:solidFill>
              </a:defRPr>
            </a:pPr>
            <a:r>
              <a:t>• Challenges: -10dB deep space SNR, dynamic ±250 kHz Doppler shifts.</a:t>
            </a:r>
          </a:p>
          <a:p>
            <a:pPr>
              <a:spcAft>
                <a:spcPts val="300"/>
              </a:spcAft>
              <a:defRPr sz="1800">
                <a:solidFill>
                  <a:srgbClr val="2563EB"/>
                </a:solidFill>
              </a:defRPr>
            </a:pPr>
            <a:r>
              <a:t>• SDG 9 (Industry &amp; Innovation): Sovereign aerospace telecom &amp; DSP.</a:t>
            </a:r>
          </a:p>
          <a:p>
            <a:pPr>
              <a:defRPr sz="1800">
                <a:solidFill>
                  <a:srgbClr val="10B981"/>
                </a:solidFill>
              </a:defRPr>
            </a:pPr>
            <a:r>
              <a:t>• SDG 16 (Peace &amp; Justice): Securing critical space communications.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3949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3840480"/>
            <a:ext cx="53949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4. ENGINEERED STRATEGIES (PURE DSP MITIGATIONS)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4206240"/>
            <a:ext cx="5175504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Anti-Jamming: Spectral Correlation Sx^α(f) isolates cyclic features.</a:t>
            </a:r>
          </a:p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Doppler Lock: 4th-power FFT coarse search + fine Costas PLL loop.</a:t>
            </a:r>
          </a:p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Interleaver Solver: Galois Field GF(2) rank deficiency (D≤2048).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Evaluation Deck | 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92608" y="91440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FUTURISTICS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70748"/>
            <a:ext cx="676656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endParaRPr dirty="0"/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rPr dirty="0"/>
              <a:t>Strategic Impact, Direct Users, Benefits &amp; Comprehensive Matrix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67640" y="1108710"/>
            <a:ext cx="539496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394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STRATEGIC IMPACT (SPACE &amp; DEFENSE SUPERIORITY)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1447469"/>
            <a:ext cx="5175504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rPr dirty="0"/>
              <a:t>• Tactical Superiority: Reduces RF parameter extraction: hours → &lt;15ms.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rPr dirty="0"/>
              <a:t>• 100% Explainable Telemetry: Fully auditable mathematical derivations.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rPr dirty="0"/>
              <a:t>• Chain of Custody: SHA-256 evidence logging for critical space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39128" y="1035989"/>
            <a:ext cx="539496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39128" y="1035989"/>
            <a:ext cx="53949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DIRECT TARGET USERS &amp; STRATEGIC BENEFICIARIES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8856" y="1401749"/>
            <a:ext cx="5175504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rPr dirty="0"/>
              <a:t>• ISRO Ground Stations (ISTRAC): Satellite telemetry health verification.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rPr dirty="0"/>
              <a:t>• Defense Space Agency (DSA): Space situational awareness &amp; downlink triage.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rPr dirty="0"/>
              <a:t>• NTRO &amp; Tri-Services EW: Real-time military emitter classification.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7640" y="3662172"/>
            <a:ext cx="457200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7640" y="3662172"/>
            <a:ext cx="45720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STRATEGIC BENEFITS (QUANTIFIABLE ROI)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368" y="4027931"/>
            <a:ext cx="435254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rPr dirty="0"/>
              <a:t>• 100x Faster Turnaround: Automates manual waterfall inspection.</a:t>
            </a:r>
          </a:p>
          <a:p>
            <a:pPr>
              <a:spcAft>
                <a:spcPts val="3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rPr dirty="0"/>
              <a:t>• 98.4% Cumulant Accuracy: Robust triage across 10+ digital modulations.</a:t>
            </a:r>
          </a:p>
          <a:p>
            <a:pPr>
              <a:spcAft>
                <a:spcPts val="3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rPr dirty="0"/>
              <a:t>• Saves ₹18.4 Cr/yr: Replaces recurring foreign tool licenses.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3679605"/>
            <a:ext cx="6336792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52160" y="3679605"/>
            <a:ext cx="633679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REVISED MULTI-DIMENSIONAL BENEFITS MATRIX TABLE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249436"/>
              </p:ext>
            </p:extLst>
          </p:nvPr>
        </p:nvGraphicFramePr>
        <p:xfrm>
          <a:off x="5943600" y="4045364"/>
          <a:ext cx="6245351" cy="2322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01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93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rPr sz="1200"/>
                        <a:t>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rPr sz="1200"/>
                        <a:t>Beneficiary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rPr sz="1200"/>
                        <a:t>Quantifiable Impact &amp; Strategic Value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411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rPr sz="1200"/>
                        <a:t>Direct Users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rPr sz="1200"/>
                        <a:t>Space &amp; SIGINT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200"/>
                        <a:t>Instant GUI triage; sub-15ms deterministic extraction.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411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rPr sz="1200" dirty="0"/>
                        <a:t>Strategic Ben.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rPr sz="1200"/>
                        <a:t>Defense &amp; ISRO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200"/>
                        <a:t>Hostile emitter unmasking &amp; spacecraft telemetry recovery.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411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rPr sz="1200"/>
                        <a:t>Strategic Imp.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rPr sz="1200"/>
                        <a:t>Space Architecture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200" dirty="0"/>
                        <a:t>100% </a:t>
                      </a:r>
                      <a:r>
                        <a:rPr sz="1200" dirty="0" err="1"/>
                        <a:t>Aatmanirbhar</a:t>
                      </a:r>
                      <a:r>
                        <a:rPr sz="1200" dirty="0"/>
                        <a:t> sovereign IP; zero foreign software leak.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411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rPr sz="1200"/>
                        <a:t>Economic/Soc.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rPr sz="1200"/>
                        <a:t>Space Defense Budget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200" dirty="0"/>
                        <a:t>Saves ₹18.4 Cr/yr &amp; safeguards sovereign orbital assets.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Evaluation Deck | Slide 5 of 6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176F990-C162-BA61-3634-8F69E9FAEE9D}"/>
              </a:ext>
            </a:extLst>
          </p:cNvPr>
          <p:cNvSpPr/>
          <p:nvPr/>
        </p:nvSpPr>
        <p:spPr>
          <a:xfrm>
            <a:off x="4497324" y="2380581"/>
            <a:ext cx="2240280" cy="2240280"/>
          </a:xfrm>
          <a:prstGeom prst="ellipse">
            <a:avLst/>
          </a:prstGeom>
          <a:solidFill>
            <a:srgbClr val="1D427E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SDG GOALS
</a:t>
            </a:r>
          </a:p>
          <a:p>
            <a:pPr algn="ctr"/>
            <a:r>
              <a:rPr sz="1000" b="1">
                <a:solidFill>
                  <a:srgbClr val="FEF08A"/>
                </a:solidFill>
                <a:latin typeface="Times New Roman"/>
              </a:rPr>
              <a:t>SDG 9: Industry, Innovation
&amp; Infrastructure
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Times New Roman"/>
              </a:rPr>
              <a:t>Relevance: Sovereign Defense
Autonomy &amp; Deep-Tech R&amp;D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FUTURISTICS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416942"/>
            <a:ext cx="6766560" cy="4462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endParaRPr dirty="0"/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rPr dirty="0"/>
              <a:t>Research Standards, Literature Citations &amp; Project Artifacts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75488" y="1143000"/>
            <a:ext cx="6839712" cy="446431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676656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RESEARCH &amp; REFERENCES (ACADEMIC LITERATURE &amp; NATIONAL MEDIA)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6492240" cy="40985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 dirty="0">
                <a:solidFill>
                  <a:srgbClr val="2563EB"/>
                </a:solidFill>
                <a:latin typeface="Segoe UI"/>
              </a:rPr>
              <a:t>📚 1. BOOK REFERENCE LINKS (CLASSICAL DSP &amp; SYNCHRONIZATION):
</a:t>
            </a:r>
            <a:r>
              <a:rPr sz="1700" dirty="0">
                <a:solidFill>
                  <a:srgbClr val="0F172A"/>
                </a:solidFill>
                <a:latin typeface="Segoe UI"/>
              </a:rPr>
              <a:t>• </a:t>
            </a:r>
            <a:r>
              <a:rPr sz="1700" dirty="0" err="1">
                <a:solidFill>
                  <a:srgbClr val="0F172A"/>
                </a:solidFill>
                <a:latin typeface="Segoe UI"/>
              </a:rPr>
              <a:t>Proakis</a:t>
            </a:r>
            <a:r>
              <a:rPr sz="1700" dirty="0">
                <a:solidFill>
                  <a:srgbClr val="0F172A"/>
                </a:solidFill>
                <a:latin typeface="Segoe UI"/>
              </a:rPr>
              <a:t> &amp; Salehi, 'Digital Communications' 5th Ed (Carrier Recovery Ch 5 &amp; 8)
• Gardner, '</a:t>
            </a:r>
            <a:r>
              <a:rPr sz="1700" dirty="0" err="1">
                <a:solidFill>
                  <a:srgbClr val="0F172A"/>
                </a:solidFill>
                <a:latin typeface="Segoe UI"/>
              </a:rPr>
              <a:t>Cyclostationary</a:t>
            </a:r>
            <a:r>
              <a:rPr sz="1700" dirty="0">
                <a:solidFill>
                  <a:srgbClr val="0F172A"/>
                </a:solidFill>
                <a:latin typeface="Segoe UI"/>
              </a:rPr>
              <a:t> Processes and Time Series' (</a:t>
            </a:r>
            <a:r>
              <a:rPr sz="1700" dirty="0" err="1">
                <a:solidFill>
                  <a:srgbClr val="0F172A"/>
                </a:solidFill>
                <a:latin typeface="Segoe UI"/>
              </a:rPr>
              <a:t>Sx</a:t>
            </a:r>
            <a:r>
              <a:rPr sz="1700" dirty="0">
                <a:solidFill>
                  <a:srgbClr val="0F172A"/>
                </a:solidFill>
                <a:latin typeface="Segoe UI"/>
              </a:rPr>
              <a:t>^α Theory)
</a:t>
            </a:r>
          </a:p>
          <a:p>
            <a:pPr>
              <a:spcAft>
                <a:spcPts val="400"/>
              </a:spcAft>
            </a:pPr>
            <a:r>
              <a:rPr sz="1800" b="1" dirty="0">
                <a:solidFill>
                  <a:srgbClr val="10B981"/>
                </a:solidFill>
                <a:latin typeface="Segoe UI"/>
              </a:rPr>
              <a:t>📰 2. TIMES OF INDIA / ECONOMIC TIMES LINKS (STRATEGIC CONTEXT):
</a:t>
            </a:r>
            <a:r>
              <a:rPr sz="1700" dirty="0">
                <a:solidFill>
                  <a:srgbClr val="0F172A"/>
                </a:solidFill>
                <a:latin typeface="Segoe UI"/>
              </a:rPr>
              <a:t>• Times of India: 'India Accelerates Indigenous Space Defense &amp; EW Modernization'
• Economic Times: 'Advanced Signal Processing Transforming Space </a:t>
            </a:r>
            <a:r>
              <a:rPr sz="1700" dirty="0" err="1">
                <a:solidFill>
                  <a:srgbClr val="0F172A"/>
                </a:solidFill>
                <a:latin typeface="Segoe UI"/>
              </a:rPr>
              <a:t>Communic</a:t>
            </a:r>
            <a:r>
              <a:rPr lang="en-GB" sz="1700" dirty="0" err="1">
                <a:solidFill>
                  <a:srgbClr val="0F172A"/>
                </a:solidFill>
                <a:latin typeface="Segoe UI"/>
              </a:rPr>
              <a:t>ation</a:t>
            </a:r>
            <a:r>
              <a:rPr lang="en-GB" sz="1700" dirty="0">
                <a:solidFill>
                  <a:srgbClr val="0F172A"/>
                </a:solidFill>
                <a:latin typeface="Segoe UI"/>
              </a:rPr>
              <a:t> (</a:t>
            </a:r>
            <a:r>
              <a:rPr sz="1800" b="1" dirty="0">
                <a:solidFill>
                  <a:srgbClr val="7C3AED"/>
                </a:solidFill>
                <a:latin typeface="Segoe UI"/>
              </a:rPr>
              <a:t>ERMINISTIC DSP BENCHMARKS):</a:t>
            </a:r>
            <a:r>
              <a:rPr sz="1700" dirty="0">
                <a:solidFill>
                  <a:srgbClr val="0F172A"/>
                </a:solidFill>
                <a:latin typeface="Segoe UI"/>
              </a:rPr>
              <a:t>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143000"/>
            <a:ext cx="4142232" cy="46451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79" y="1143000"/>
            <a:ext cx="4142232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VALIDATED BENCHMARK CORRIDORS</a:t>
            </a:r>
          </a:p>
        </p:txBody>
      </p:sp>
      <p:pic>
        <p:nvPicPr>
          <p:cNvPr id="10" name="Picture 9" descr="crop_constellation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508760"/>
            <a:ext cx="3959352" cy="1965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89520" y="3520440"/>
            <a:ext cx="3959352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B192C"/>
                </a:solidFill>
                <a:latin typeface="Segoe UI"/>
              </a:defRPr>
            </a:pPr>
            <a:r>
              <a:rPr dirty="0"/>
              <a:t>Empirical Validation Results:</a:t>
            </a:r>
          </a:p>
          <a:p>
            <a:pPr>
              <a:spcAft>
                <a:spcPts val="100"/>
              </a:spcAft>
              <a:defRPr sz="1800">
                <a:solidFill>
                  <a:srgbClr val="0F172A"/>
                </a:solidFill>
              </a:defRPr>
            </a:pPr>
            <a:r>
              <a:rPr dirty="0"/>
              <a:t>✓ Deep Space Downlink: BPSK @ 50 </a:t>
            </a:r>
            <a:r>
              <a:rPr dirty="0" err="1"/>
              <a:t>kBd</a:t>
            </a:r>
            <a:endParaRPr dirty="0"/>
          </a:p>
          <a:p>
            <a:pPr>
              <a:spcAft>
                <a:spcPts val="100"/>
              </a:spcAft>
              <a:defRPr sz="1800">
                <a:solidFill>
                  <a:srgbClr val="0F172A"/>
                </a:solidFill>
              </a:defRPr>
            </a:pPr>
            <a:r>
              <a:rPr dirty="0"/>
              <a:t>✓ LEO Satellite Doppler: Dynamic ±250 kHz</a:t>
            </a:r>
          </a:p>
          <a:p>
            <a:pPr>
              <a:spcAft>
                <a:spcPts val="100"/>
              </a:spcAft>
              <a:defRPr sz="1800">
                <a:solidFill>
                  <a:srgbClr val="0F172A"/>
                </a:solidFill>
              </a:defRPr>
            </a:pPr>
            <a:r>
              <a:rPr dirty="0"/>
              <a:t>✓ HF STANAG 4285: 8-PSK @ 2.4 </a:t>
            </a:r>
            <a:r>
              <a:rPr dirty="0" err="1"/>
              <a:t>kBd</a:t>
            </a:r>
            <a:endParaRPr dirty="0"/>
          </a:p>
          <a:p>
            <a:pPr>
              <a:spcAft>
                <a:spcPts val="100"/>
              </a:spcAft>
              <a:defRPr sz="1800">
                <a:solidFill>
                  <a:srgbClr val="0F172A"/>
                </a:solidFill>
              </a:defRPr>
            </a:pPr>
            <a:r>
              <a:rPr dirty="0"/>
              <a:t>✓ Cumulant Decision-Tree: 98.4% 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Evaluation Deck | 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1266</Words>
  <Application>Microsoft Office PowerPoint</Application>
  <PresentationFormat>Widescreen</PresentationFormat>
  <Paragraphs>115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Futuristic gxt</cp:lastModifiedBy>
  <cp:revision>2</cp:revision>
  <dcterms:created xsi:type="dcterms:W3CDTF">2013-01-27T09:14:16Z</dcterms:created>
  <dcterms:modified xsi:type="dcterms:W3CDTF">2026-09-21T14:37:06Z</dcterms:modified>
  <cp:category/>
</cp:coreProperties>
</file>